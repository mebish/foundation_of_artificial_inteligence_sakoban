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1698" y="250901"/>
            <a:ext cx="8388603" cy="10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44" y="1774316"/>
            <a:ext cx="10274300" cy="3751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9344" y="6466738"/>
            <a:ext cx="390334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Home | Rajalakshmi Engineering College (REC)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9057" y="554106"/>
            <a:ext cx="3422771" cy="10501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82544" y="1593860"/>
            <a:ext cx="6163310" cy="139827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75285" marR="5080" indent="-363220">
              <a:lnSpc>
                <a:spcPct val="112599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</a:rPr>
              <a:t>Department</a:t>
            </a:r>
            <a:r>
              <a:rPr dirty="0" sz="4000" spc="-40">
                <a:solidFill>
                  <a:srgbClr val="000000"/>
                </a:solidFill>
              </a:rPr>
              <a:t> </a:t>
            </a:r>
            <a:r>
              <a:rPr dirty="0" sz="4000">
                <a:solidFill>
                  <a:srgbClr val="000000"/>
                </a:solidFill>
              </a:rPr>
              <a:t>of</a:t>
            </a:r>
            <a:r>
              <a:rPr dirty="0" sz="4000" spc="-50">
                <a:solidFill>
                  <a:srgbClr val="000000"/>
                </a:solidFill>
              </a:rPr>
              <a:t> </a:t>
            </a:r>
            <a:r>
              <a:rPr dirty="0" sz="4000">
                <a:solidFill>
                  <a:srgbClr val="000000"/>
                </a:solidFill>
              </a:rPr>
              <a:t>Cyber</a:t>
            </a:r>
            <a:r>
              <a:rPr dirty="0" sz="4000" spc="-35">
                <a:solidFill>
                  <a:srgbClr val="000000"/>
                </a:solidFill>
              </a:rPr>
              <a:t> </a:t>
            </a:r>
            <a:r>
              <a:rPr dirty="0" sz="4000" spc="-10">
                <a:solidFill>
                  <a:srgbClr val="000000"/>
                </a:solidFill>
              </a:rPr>
              <a:t>Security </a:t>
            </a:r>
            <a:r>
              <a:rPr dirty="0" sz="4000">
                <a:solidFill>
                  <a:srgbClr val="000000"/>
                </a:solidFill>
              </a:rPr>
              <a:t>2026-2027-</a:t>
            </a:r>
            <a:r>
              <a:rPr dirty="0" sz="4000" spc="-80">
                <a:solidFill>
                  <a:srgbClr val="000000"/>
                </a:solidFill>
              </a:rPr>
              <a:t> </a:t>
            </a:r>
            <a:r>
              <a:rPr dirty="0" sz="4000">
                <a:solidFill>
                  <a:srgbClr val="000000"/>
                </a:solidFill>
              </a:rPr>
              <a:t>Odd</a:t>
            </a:r>
            <a:r>
              <a:rPr dirty="0" sz="4000" spc="-30">
                <a:solidFill>
                  <a:srgbClr val="000000"/>
                </a:solidFill>
              </a:rPr>
              <a:t> </a:t>
            </a:r>
            <a:r>
              <a:rPr dirty="0" sz="4000" spc="-10">
                <a:solidFill>
                  <a:srgbClr val="000000"/>
                </a:solidFill>
              </a:rPr>
              <a:t>Semester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2607055" y="2938603"/>
            <a:ext cx="7894320" cy="192849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algn="ctr" marL="571500">
              <a:lnSpc>
                <a:spcPct val="100000"/>
              </a:lnSpc>
              <a:spcBef>
                <a:spcPts val="915"/>
              </a:spcBef>
            </a:pPr>
            <a:r>
              <a:rPr dirty="0" sz="4000">
                <a:latin typeface="Times New Roman"/>
                <a:cs typeface="Times New Roman"/>
              </a:rPr>
              <a:t>III</a:t>
            </a:r>
            <a:r>
              <a:rPr dirty="0" sz="4000" spc="-235">
                <a:latin typeface="Times New Roman"/>
                <a:cs typeface="Times New Roman"/>
              </a:rPr>
              <a:t> </a:t>
            </a:r>
            <a:r>
              <a:rPr dirty="0" sz="4000" spc="-60">
                <a:latin typeface="Times New Roman"/>
                <a:cs typeface="Times New Roman"/>
              </a:rPr>
              <a:t>Year</a:t>
            </a:r>
            <a:r>
              <a:rPr dirty="0" sz="4000" spc="-90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/V</a:t>
            </a:r>
            <a:r>
              <a:rPr dirty="0" sz="4000" spc="-165">
                <a:latin typeface="Times New Roman"/>
                <a:cs typeface="Times New Roman"/>
              </a:rPr>
              <a:t> </a:t>
            </a:r>
            <a:r>
              <a:rPr dirty="0" sz="4000" spc="-25">
                <a:latin typeface="Times New Roman"/>
                <a:cs typeface="Times New Roman"/>
              </a:rPr>
              <a:t>Sem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800" spc="-25" b="1">
                <a:latin typeface="Calibri"/>
                <a:cs typeface="Calibri"/>
              </a:rPr>
              <a:t>CS23533-FOUNDATIONS </a:t>
            </a:r>
            <a:r>
              <a:rPr dirty="0" sz="2800" b="1">
                <a:latin typeface="Calibri"/>
                <a:cs typeface="Calibri"/>
              </a:rPr>
              <a:t>OF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ARTIFICIAL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INTELLIGENCE</a:t>
            </a:r>
            <a:endParaRPr sz="2800">
              <a:latin typeface="Calibri"/>
              <a:cs typeface="Calibri"/>
            </a:endParaRPr>
          </a:p>
          <a:p>
            <a:pPr algn="ctr" marR="94615">
              <a:lnSpc>
                <a:spcPct val="100000"/>
              </a:lnSpc>
              <a:spcBef>
                <a:spcPts val="625"/>
              </a:spcBef>
            </a:pPr>
            <a:r>
              <a:rPr dirty="0" sz="4000">
                <a:latin typeface="Times New Roman"/>
                <a:cs typeface="Times New Roman"/>
              </a:rPr>
              <a:t>Zeroth</a:t>
            </a:r>
            <a:r>
              <a:rPr dirty="0" sz="4000" spc="-8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Review</a:t>
            </a:r>
            <a:r>
              <a:rPr dirty="0" sz="4000" spc="-5">
                <a:latin typeface="Times New Roman"/>
                <a:cs typeface="Times New Roman"/>
              </a:rPr>
              <a:t> </a:t>
            </a:r>
            <a:r>
              <a:rPr dirty="0" sz="4000">
                <a:latin typeface="Times New Roman"/>
                <a:cs typeface="Times New Roman"/>
              </a:rPr>
              <a:t>–</a:t>
            </a:r>
            <a:r>
              <a:rPr dirty="0" sz="4000" spc="-10">
                <a:latin typeface="Times New Roman"/>
                <a:cs typeface="Times New Roman"/>
              </a:rPr>
              <a:t> 29.07.2026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Home | Rajalakshmi Engineering College (REC)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7725" y="554106"/>
            <a:ext cx="4644356" cy="10501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88922" y="2227325"/>
            <a:ext cx="8842375" cy="88328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45179" marR="5080" indent="-3332479">
              <a:lnSpc>
                <a:spcPct val="100699"/>
              </a:lnSpc>
              <a:spcBef>
                <a:spcPts val="85"/>
              </a:spcBef>
            </a:pPr>
            <a:r>
              <a:rPr dirty="0" sz="2800" b="1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z="2800" spc="-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0000"/>
                </a:solidFill>
                <a:latin typeface="Calibri"/>
                <a:cs typeface="Calibri"/>
              </a:rPr>
              <a:t>Heuristic</a:t>
            </a:r>
            <a:r>
              <a:rPr dirty="0" sz="2800" spc="-11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2800" spc="-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0000"/>
                </a:solidFill>
                <a:latin typeface="Calibri"/>
                <a:cs typeface="Calibri"/>
              </a:rPr>
              <a:t>Deadlock-</a:t>
            </a:r>
            <a:r>
              <a:rPr dirty="0" sz="2800" b="1">
                <a:solidFill>
                  <a:srgbClr val="000000"/>
                </a:solidFill>
                <a:latin typeface="Calibri"/>
                <a:cs typeface="Calibri"/>
              </a:rPr>
              <a:t>Aware</a:t>
            </a:r>
            <a:r>
              <a:rPr dirty="0" sz="2800" spc="-9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dirty="0" sz="2800" spc="-3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0000"/>
                </a:solidFill>
                <a:latin typeface="Calibri"/>
                <a:cs typeface="Calibri"/>
              </a:rPr>
              <a:t>System</a:t>
            </a:r>
            <a:r>
              <a:rPr dirty="0" sz="2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z="2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0000"/>
                </a:solidFill>
                <a:latin typeface="Calibri"/>
                <a:cs typeface="Calibri"/>
              </a:rPr>
              <a:t>Sokoban </a:t>
            </a:r>
            <a:r>
              <a:rPr dirty="0" sz="2800" b="1">
                <a:solidFill>
                  <a:srgbClr val="000000"/>
                </a:solidFill>
                <a:latin typeface="Calibri"/>
                <a:cs typeface="Calibri"/>
              </a:rPr>
              <a:t>Puzzle</a:t>
            </a:r>
            <a:r>
              <a:rPr dirty="0" sz="2800" spc="-7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0000"/>
                </a:solidFill>
                <a:latin typeface="Calibri"/>
                <a:cs typeface="Calibri"/>
              </a:rPr>
              <a:t>Solving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7260" y="3589906"/>
            <a:ext cx="4555490" cy="109664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000" b="1">
                <a:latin typeface="Times New Roman"/>
                <a:cs typeface="Times New Roman"/>
              </a:rPr>
              <a:t>Batch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Members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264160" algn="l"/>
              </a:tabLst>
            </a:pPr>
            <a:r>
              <a:rPr dirty="0" sz="2000" b="1">
                <a:latin typeface="Times New Roman"/>
                <a:cs typeface="Times New Roman"/>
              </a:rPr>
              <a:t>Mettu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Mani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Chandhan Sai -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241901054</a:t>
            </a:r>
            <a:endParaRPr sz="200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264795" algn="l"/>
              </a:tabLst>
            </a:pPr>
            <a:r>
              <a:rPr dirty="0" sz="2000" b="1">
                <a:latin typeface="Times New Roman"/>
                <a:cs typeface="Times New Roman"/>
              </a:rPr>
              <a:t>Mebish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</a:t>
            </a:r>
            <a:r>
              <a:rPr dirty="0" sz="2000" spc="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-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241901053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7330" y="3496943"/>
            <a:ext cx="1757045" cy="121602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2000" spc="-10" b="1">
                <a:latin typeface="Times New Roman"/>
                <a:cs typeface="Times New Roman"/>
              </a:rPr>
              <a:t>Supervisor: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2000" spc="-45" b="1">
                <a:latin typeface="Times New Roman"/>
                <a:cs typeface="Times New Roman"/>
              </a:rPr>
              <a:t>Dr.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S.Bhuvana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350" spc="-10" b="1">
                <a:latin typeface="Times New Roman"/>
                <a:cs typeface="Times New Roman"/>
              </a:rPr>
              <a:t>Assistant</a:t>
            </a:r>
            <a:r>
              <a:rPr dirty="0" sz="1350" spc="-20" b="1">
                <a:latin typeface="Times New Roman"/>
                <a:cs typeface="Times New Roman"/>
              </a:rPr>
              <a:t> </a:t>
            </a:r>
            <a:r>
              <a:rPr dirty="0" sz="1350" spc="-10" b="1">
                <a:latin typeface="Times New Roman"/>
                <a:cs typeface="Times New Roman"/>
              </a:rPr>
              <a:t>Professor[SG]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7316" rIns="0" bIns="0" rtlCol="0" vert="horz">
            <a:spAutoFit/>
          </a:bodyPr>
          <a:lstStyle/>
          <a:p>
            <a:pPr marL="2909570">
              <a:lnSpc>
                <a:spcPct val="100000"/>
              </a:lnSpc>
              <a:spcBef>
                <a:spcPts val="95"/>
              </a:spcBef>
            </a:pPr>
            <a:r>
              <a:rPr dirty="0" spc="-10" b="1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016" y="1851100"/>
            <a:ext cx="4088765" cy="41287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 spc="-10">
                <a:latin typeface="Times New Roman"/>
                <a:cs typeface="Times New Roman"/>
              </a:rPr>
              <a:t>Abstract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 spc="-10">
                <a:latin typeface="Times New Roman"/>
                <a:cs typeface="Times New Roman"/>
              </a:rPr>
              <a:t>Objective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8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Literature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Survey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Summary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Literature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Proposed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&amp;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Novelty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8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>
                <a:latin typeface="Times New Roman"/>
                <a:cs typeface="Times New Roman"/>
              </a:rPr>
              <a:t>Block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Diagram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 spc="-10">
                <a:latin typeface="Times New Roman"/>
                <a:cs typeface="Times New Roman"/>
              </a:rPr>
              <a:t>Hardware/Software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requirements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2200" spc="-10">
                <a:latin typeface="Times New Roman"/>
                <a:cs typeface="Times New Roman"/>
              </a:rPr>
              <a:t>References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9988" y="390855"/>
            <a:ext cx="231394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>
                <a:latin typeface="Calibri Light"/>
                <a:cs typeface="Calibri Light"/>
              </a:rPr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3840" y="1404061"/>
            <a:ext cx="9968865" cy="4720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9395" indent="-226695">
              <a:lnSpc>
                <a:spcPts val="2039"/>
              </a:lnSpc>
              <a:spcBef>
                <a:spcPts val="9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alibri"/>
                <a:cs typeface="Calibri"/>
              </a:rPr>
              <a:t>Sokoban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fully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observable,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deterministic,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single-</a:t>
            </a:r>
            <a:r>
              <a:rPr dirty="0" sz="2000">
                <a:latin typeface="Calibri"/>
                <a:cs typeface="Calibri"/>
              </a:rPr>
              <a:t>agent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space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rather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241300" marR="12065">
              <a:lnSpc>
                <a:spcPct val="70000"/>
              </a:lnSpc>
              <a:spcBef>
                <a:spcPts val="360"/>
              </a:spcBef>
            </a:pPr>
            <a:r>
              <a:rPr dirty="0" sz="2000">
                <a:latin typeface="Calibri"/>
                <a:cs typeface="Calibri"/>
              </a:rPr>
              <a:t>learned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problem,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solver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relies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entirely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classical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search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rather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than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machine learning.</a:t>
            </a:r>
            <a:endParaRPr sz="2000">
              <a:latin typeface="Calibri"/>
              <a:cs typeface="Calibri"/>
            </a:endParaRPr>
          </a:p>
          <a:p>
            <a:pPr marL="241300" marR="8890" indent="-229235">
              <a:lnSpc>
                <a:spcPct val="70000"/>
              </a:lnSpc>
              <a:spcBef>
                <a:spcPts val="985"/>
              </a:spcBef>
              <a:buChar char="•"/>
              <a:tabLst>
                <a:tab pos="241300" algn="l"/>
                <a:tab pos="299085" algn="l"/>
              </a:tabLst>
            </a:pPr>
            <a:r>
              <a:rPr dirty="0" sz="2000">
                <a:latin typeface="Arial"/>
                <a:cs typeface="Arial"/>
              </a:rPr>
              <a:t>	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goal-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intelligent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agent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defines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puzzle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states,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push-</a:t>
            </a:r>
            <a:r>
              <a:rPr dirty="0" sz="2000">
                <a:latin typeface="Calibri"/>
                <a:cs typeface="Calibri"/>
              </a:rPr>
              <a:t>actions,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transition </a:t>
            </a:r>
            <a:r>
              <a:rPr dirty="0" sz="2000">
                <a:latin typeface="Calibri"/>
                <a:cs typeface="Calibri"/>
              </a:rPr>
              <a:t>functions,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problem-</a:t>
            </a:r>
            <a:r>
              <a:rPr dirty="0" sz="2000">
                <a:latin typeface="Calibri"/>
                <a:cs typeface="Calibri"/>
              </a:rPr>
              <a:t>solving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foundation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039"/>
              </a:lnSpc>
              <a:spcBef>
                <a:spcPts val="29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knowledge-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deadlock-</a:t>
            </a:r>
            <a:r>
              <a:rPr dirty="0" sz="2000">
                <a:latin typeface="Calibri"/>
                <a:cs typeface="Calibri"/>
              </a:rPr>
              <a:t>inference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encodes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hand-</a:t>
            </a:r>
            <a:r>
              <a:rPr dirty="0" sz="2000">
                <a:latin typeface="Calibri"/>
                <a:cs typeface="Calibri"/>
              </a:rPr>
              <a:t>crafted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logical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rules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—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corner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ct val="70000"/>
              </a:lnSpc>
              <a:spcBef>
                <a:spcPts val="360"/>
              </a:spcBef>
            </a:pPr>
            <a:r>
              <a:rPr dirty="0" sz="2000">
                <a:latin typeface="Calibri"/>
                <a:cs typeface="Calibri"/>
              </a:rPr>
              <a:t>traps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wall-</a:t>
            </a:r>
            <a:r>
              <a:rPr dirty="0" sz="2000">
                <a:latin typeface="Calibri"/>
                <a:cs typeface="Calibri"/>
              </a:rPr>
              <a:t>line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traps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—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identify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discard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provably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unsolvable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before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are </a:t>
            </a:r>
            <a:r>
              <a:rPr dirty="0" sz="2000">
                <a:latin typeface="Calibri"/>
                <a:cs typeface="Calibri"/>
              </a:rPr>
              <a:t>ever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explored.</a:t>
            </a:r>
            <a:endParaRPr sz="2000">
              <a:latin typeface="Calibri"/>
              <a:cs typeface="Calibri"/>
            </a:endParaRPr>
          </a:p>
          <a:p>
            <a:pPr algn="just" marL="238760" marR="9525" indent="-226695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 spc="-20">
                <a:latin typeface="Calibri"/>
                <a:cs typeface="Calibri"/>
              </a:rPr>
              <a:t>Breadth-</a:t>
            </a:r>
            <a:r>
              <a:rPr dirty="0" sz="2000">
                <a:latin typeface="Calibri"/>
                <a:cs typeface="Calibri"/>
              </a:rPr>
              <a:t>First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Search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establishes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correctness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baseline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over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raw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space,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exploring 	exhaustively </a:t>
            </a:r>
            <a:r>
              <a:rPr dirty="0" sz="2000">
                <a:latin typeface="Calibri"/>
                <a:cs typeface="Calibri"/>
              </a:rPr>
              <a:t>without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toward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goal.</a:t>
            </a:r>
            <a:endParaRPr sz="2000">
              <a:latin typeface="Calibri"/>
              <a:cs typeface="Calibri"/>
            </a:endParaRPr>
          </a:p>
          <a:p>
            <a:pPr algn="just" marL="239395" indent="-226695">
              <a:lnSpc>
                <a:spcPts val="2039"/>
              </a:lnSpc>
              <a:spcBef>
                <a:spcPts val="26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Heuristic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A*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Search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extends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baseline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estimating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remaining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effort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completion,</a:t>
            </a:r>
            <a:endParaRPr sz="2000">
              <a:latin typeface="Calibri"/>
              <a:cs typeface="Calibri"/>
            </a:endParaRPr>
          </a:p>
          <a:p>
            <a:pPr algn="just" marL="241300">
              <a:lnSpc>
                <a:spcPts val="2039"/>
              </a:lnSpc>
            </a:pPr>
            <a:r>
              <a:rPr dirty="0" sz="2000">
                <a:latin typeface="Calibri"/>
                <a:cs typeface="Calibri"/>
              </a:rPr>
              <a:t>guiding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agent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promising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first.</a:t>
            </a:r>
            <a:endParaRPr sz="2000">
              <a:latin typeface="Calibri"/>
              <a:cs typeface="Calibri"/>
            </a:endParaRPr>
          </a:p>
          <a:p>
            <a:pPr algn="just" marL="238760" marR="10795" indent="-226695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A*</a:t>
            </a:r>
            <a:r>
              <a:rPr dirty="0" sz="2000" spc="1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combined</a:t>
            </a:r>
            <a:r>
              <a:rPr dirty="0" sz="2000" spc="1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1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deadlock</a:t>
            </a:r>
            <a:r>
              <a:rPr dirty="0" sz="2000" spc="1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pruning</a:t>
            </a:r>
            <a:r>
              <a:rPr dirty="0" sz="2000" spc="1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fuses</a:t>
            </a:r>
            <a:r>
              <a:rPr dirty="0" sz="2000" spc="18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heuristic</a:t>
            </a:r>
            <a:r>
              <a:rPr dirty="0" sz="2000" spc="204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guidance</a:t>
            </a:r>
            <a:r>
              <a:rPr dirty="0" sz="2000" spc="18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1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logical</a:t>
            </a:r>
            <a:r>
              <a:rPr dirty="0" sz="2000" spc="204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inference,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eliminating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doomed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branches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ahead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48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yielding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dramatic</a:t>
            </a:r>
            <a:r>
              <a:rPr dirty="0" sz="2000" spc="4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reductions</a:t>
            </a:r>
            <a:r>
              <a:rPr dirty="0" sz="2000" spc="4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nodes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expanded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solving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algn="just" marL="241300" marR="5080" indent="-229235">
              <a:lnSpc>
                <a:spcPct val="701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  <a:tab pos="295910" algn="l"/>
              </a:tabLst>
            </a:pPr>
            <a:r>
              <a:rPr dirty="0" sz="2000">
                <a:latin typeface="Calibri"/>
                <a:cs typeface="Calibri"/>
              </a:rPr>
              <a:t>	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outputs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optimal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push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sequence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along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expanded,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search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solution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length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—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demonstrating</a:t>
            </a:r>
            <a:r>
              <a:rPr dirty="0" sz="2000" spc="8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state-</a:t>
            </a:r>
            <a:r>
              <a:rPr dirty="0" sz="2000">
                <a:latin typeface="Calibri"/>
                <a:cs typeface="Calibri"/>
              </a:rPr>
              <a:t>space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optimization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real</a:t>
            </a:r>
            <a:r>
              <a:rPr dirty="0" sz="2000" spc="75">
                <a:latin typeface="Calibri"/>
                <a:cs typeface="Calibri"/>
              </a:rPr>
              <a:t>  </a:t>
            </a:r>
            <a:r>
              <a:rPr dirty="0" sz="2000" spc="-20">
                <a:latin typeface="Calibri"/>
                <a:cs typeface="Calibri"/>
              </a:rPr>
              <a:t>single-</a:t>
            </a:r>
            <a:r>
              <a:rPr dirty="0" sz="2000">
                <a:latin typeface="Calibri"/>
                <a:cs typeface="Calibri"/>
              </a:rPr>
              <a:t>agent</a:t>
            </a:r>
            <a:r>
              <a:rPr dirty="0" sz="2000" spc="7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puzzle environment.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49" rIns="0" bIns="0" rtlCol="0" vert="horz">
            <a:spAutoFit/>
          </a:bodyPr>
          <a:lstStyle/>
          <a:p>
            <a:pPr marL="2770505">
              <a:lnSpc>
                <a:spcPct val="100000"/>
              </a:lnSpc>
              <a:spcBef>
                <a:spcPts val="95"/>
              </a:spcBef>
            </a:pPr>
            <a:r>
              <a:rPr dirty="0" spc="-30">
                <a:latin typeface="Calibri Light"/>
                <a:cs typeface="Calibri Light"/>
              </a:rPr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31747"/>
            <a:ext cx="10360025" cy="441896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239395" marR="8255" indent="-226695">
              <a:lnSpc>
                <a:spcPct val="7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Sokoban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puzzle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fully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observable,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deterministic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space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states,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push-</a:t>
            </a:r>
            <a:r>
              <a:rPr dirty="0" sz="2000">
                <a:latin typeface="Calibri"/>
                <a:cs typeface="Calibri"/>
              </a:rPr>
              <a:t>actions,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transition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functions,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foundation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classical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search.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039"/>
              </a:lnSpc>
              <a:spcBef>
                <a:spcPts val="26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alibri"/>
                <a:cs typeface="Calibri"/>
              </a:rPr>
              <a:t>To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design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goal-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intelligent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agent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navigates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space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toward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goal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condition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dirty="0" sz="2000">
                <a:latin typeface="Calibri"/>
                <a:cs typeface="Calibri"/>
              </a:rPr>
              <a:t>without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relying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learning.</a:t>
            </a:r>
            <a:endParaRPr sz="2000">
              <a:latin typeface="Calibri"/>
              <a:cs typeface="Calibri"/>
            </a:endParaRPr>
          </a:p>
          <a:p>
            <a:pPr marL="239395" marR="5080" indent="-226695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implement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Breadth-</a:t>
            </a:r>
            <a:r>
              <a:rPr dirty="0" sz="2000">
                <a:latin typeface="Calibri"/>
                <a:cs typeface="Calibri"/>
              </a:rPr>
              <a:t>First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Search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uninformed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baseline,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establishing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correctness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 spc="-5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benchmark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comparison.</a:t>
            </a:r>
            <a:endParaRPr sz="2000">
              <a:latin typeface="Calibri"/>
              <a:cs typeface="Calibri"/>
            </a:endParaRPr>
          </a:p>
          <a:p>
            <a:pPr marL="239395" marR="8255" indent="-226695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implement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heuristic-</a:t>
            </a:r>
            <a:r>
              <a:rPr dirty="0" sz="2000">
                <a:latin typeface="Calibri"/>
                <a:cs typeface="Calibri"/>
              </a:rPr>
              <a:t>guided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A*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Search,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enabling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agent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explore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promising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states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first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instead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searching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blindly.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039"/>
              </a:lnSpc>
              <a:spcBef>
                <a:spcPts val="26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develop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knowledge-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deadlock-</a:t>
            </a:r>
            <a:r>
              <a:rPr dirty="0" sz="2000">
                <a:latin typeface="Calibri"/>
                <a:cs typeface="Calibri"/>
              </a:rPr>
              <a:t>inference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hand-</a:t>
            </a:r>
            <a:r>
              <a:rPr dirty="0" sz="2000">
                <a:latin typeface="Calibri"/>
                <a:cs typeface="Calibri"/>
              </a:rPr>
              <a:t>crafted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logical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rules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dirty="0" sz="2000">
                <a:latin typeface="Calibri"/>
                <a:cs typeface="Calibri"/>
              </a:rPr>
              <a:t>prune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provably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unsolvable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before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exploration.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039"/>
              </a:lnSpc>
              <a:spcBef>
                <a:spcPts val="28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combine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heuristic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search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deadlock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pruning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optimized</a:t>
            </a:r>
            <a:r>
              <a:rPr dirty="0" sz="2000" spc="4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algorithm,</a:t>
            </a:r>
            <a:r>
              <a:rPr dirty="0" sz="2000" spc="4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dirty="0" sz="2000" spc="-10">
                <a:latin typeface="Calibri"/>
                <a:cs typeface="Calibri"/>
              </a:rPr>
              <a:t>evaluate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three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strategies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expanded,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solving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solution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length.</a:t>
            </a:r>
            <a:endParaRPr sz="2000">
              <a:latin typeface="Calibri"/>
              <a:cs typeface="Calibri"/>
            </a:endParaRPr>
          </a:p>
          <a:p>
            <a:pPr marL="239395" marR="8890" indent="-226695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 spc="-6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build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interactive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Human-</a:t>
            </a:r>
            <a:r>
              <a:rPr dirty="0" sz="2000" spc="-20">
                <a:latin typeface="Calibri"/>
                <a:cs typeface="Calibri"/>
              </a:rPr>
              <a:t>vs-</a:t>
            </a:r>
            <a:r>
              <a:rPr dirty="0" sz="2000">
                <a:latin typeface="Calibri"/>
                <a:cs typeface="Calibri"/>
              </a:rPr>
              <a:t>AI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environment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solve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puzzles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manually,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AI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hints,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watch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fully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animated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solution.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039"/>
              </a:lnSpc>
              <a:spcBef>
                <a:spcPts val="265"/>
              </a:spcBef>
              <a:buFont typeface="Arial"/>
              <a:buChar char="•"/>
              <a:tabLst>
                <a:tab pos="239395" algn="l"/>
                <a:tab pos="667385" algn="l"/>
                <a:tab pos="2183130" algn="l"/>
                <a:tab pos="2801620" algn="l"/>
                <a:tab pos="3890645" algn="l"/>
                <a:tab pos="5402580" algn="l"/>
                <a:tab pos="5804535" algn="l"/>
                <a:tab pos="7134225" algn="l"/>
                <a:tab pos="8058150" algn="l"/>
                <a:tab pos="9140190" algn="l"/>
                <a:tab pos="9628505" algn="l"/>
              </a:tabLst>
            </a:pPr>
            <a:r>
              <a:rPr dirty="0" sz="2000" spc="-25">
                <a:latin typeface="Calibri"/>
                <a:cs typeface="Calibri"/>
              </a:rPr>
              <a:t>To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demonstrate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that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classical,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non-learning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AI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techniques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remain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effective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for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solving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dirty="0" sz="2000" spc="-10">
                <a:latin typeface="Calibri"/>
                <a:cs typeface="Calibri"/>
              </a:rPr>
              <a:t>computationally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hard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combinatorial problems.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29485">
              <a:lnSpc>
                <a:spcPct val="100000"/>
              </a:lnSpc>
              <a:spcBef>
                <a:spcPts val="95"/>
              </a:spcBef>
            </a:pPr>
            <a:r>
              <a:rPr dirty="0"/>
              <a:t>Literature</a:t>
            </a:r>
            <a:r>
              <a:rPr dirty="0" spc="-150"/>
              <a:t> </a:t>
            </a:r>
            <a:r>
              <a:rPr dirty="0" spc="-1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3524" y="1511427"/>
          <a:ext cx="11528425" cy="456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0040"/>
                <a:gridCol w="2860040"/>
                <a:gridCol w="2860039"/>
                <a:gridCol w="2860040"/>
              </a:tblGrid>
              <a:tr h="721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7880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TECHNIQUE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1737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 marR="2901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Formal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Basis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Heuristic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Determination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Minimum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Paths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72160">
                        <a:lnSpc>
                          <a:spcPct val="100000"/>
                        </a:lnSpc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1968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Peter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E.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Hart,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Nils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J.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Nilsson,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Bertram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Raphael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282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Introduced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A*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search,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proving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combining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path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admissible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heuristic</a:t>
                      </a:r>
                      <a:r>
                        <a:rPr dirty="0" sz="18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guarantees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optimal,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efficient pathfinding.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Sokoban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is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PSPACE-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complete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721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1997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Joseph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C.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Culberson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6438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Proved</a:t>
                      </a:r>
                      <a:r>
                        <a:rPr dirty="0" sz="18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Sokoban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is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computationally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hard,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justifying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need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heuristics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pruning.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Abstraction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for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Planning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Sokoban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26769">
                        <a:lnSpc>
                          <a:spcPct val="100000"/>
                        </a:lnSpc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2003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Adi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Botea,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Martin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Müller,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Jonathan</a:t>
                      </a:r>
                      <a:r>
                        <a:rPr dirty="0"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Schaeffer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Hierarchical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Abstraction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Planning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268" rIns="0" bIns="0" rtlCol="0" vert="horz">
            <a:spAutoFit/>
          </a:bodyPr>
          <a:lstStyle/>
          <a:p>
            <a:pPr marL="2251075">
              <a:lnSpc>
                <a:spcPct val="100000"/>
              </a:lnSpc>
              <a:spcBef>
                <a:spcPts val="95"/>
              </a:spcBef>
            </a:pPr>
            <a:r>
              <a:rPr dirty="0" spc="-40">
                <a:latin typeface="Calibri Light"/>
                <a:cs typeface="Calibri Light"/>
              </a:rPr>
              <a:t>EXISTING</a:t>
            </a:r>
            <a:r>
              <a:rPr dirty="0" spc="-180">
                <a:latin typeface="Calibri Light"/>
                <a:cs typeface="Calibri Light"/>
              </a:rPr>
              <a:t> </a:t>
            </a:r>
            <a:r>
              <a:rPr dirty="0" spc="-10">
                <a:latin typeface="Calibri Light"/>
                <a:cs typeface="Calibri Light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74316"/>
            <a:ext cx="10346055" cy="394398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41300" marR="135255" indent="-228600">
              <a:lnSpc>
                <a:spcPct val="70000"/>
              </a:lnSpc>
              <a:spcBef>
                <a:spcPts val="745"/>
              </a:spcBef>
              <a:buChar char="•"/>
              <a:tabLst>
                <a:tab pos="241300" algn="l"/>
                <a:tab pos="292735" algn="l"/>
              </a:tabLst>
            </a:pPr>
            <a:r>
              <a:rPr dirty="0" sz="1800">
                <a:latin typeface="Arial"/>
                <a:cs typeface="Arial"/>
              </a:rPr>
              <a:t>	</a:t>
            </a:r>
            <a:r>
              <a:rPr dirty="0" sz="1800">
                <a:latin typeface="Calibri"/>
                <a:cs typeface="Calibri"/>
              </a:rPr>
              <a:t>Rolling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Stone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(Junghanns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Schaeffer,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1998–</a:t>
            </a:r>
            <a:r>
              <a:rPr dirty="0" sz="1800">
                <a:latin typeface="Calibri"/>
                <a:cs typeface="Calibri"/>
              </a:rPr>
              <a:t>2001)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IDA*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deadlock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tables,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pattern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searches,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relevance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cuts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handle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large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Sokoban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spaces,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still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struggles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hardest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levels.</a:t>
            </a:r>
            <a:endParaRPr sz="1800">
              <a:latin typeface="Calibri"/>
              <a:cs typeface="Calibri"/>
            </a:endParaRPr>
          </a:p>
          <a:p>
            <a:pPr marL="292735" indent="-280035">
              <a:lnSpc>
                <a:spcPts val="1835"/>
              </a:lnSpc>
              <a:spcBef>
                <a:spcPts val="360"/>
              </a:spcBef>
              <a:buFont typeface="Arial"/>
              <a:buChar char="•"/>
              <a:tabLst>
                <a:tab pos="292735" algn="l"/>
              </a:tabLst>
            </a:pPr>
            <a:r>
              <a:rPr dirty="0" sz="1800">
                <a:latin typeface="Calibri"/>
                <a:cs typeface="Calibri"/>
              </a:rPr>
              <a:t>Deadlock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Table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Precomputation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known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unsolvable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box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configurations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advance,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allowing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solvers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dirty="0" sz="1800">
                <a:latin typeface="Calibri"/>
                <a:cs typeface="Calibri"/>
              </a:rPr>
              <a:t>quickly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identify and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reject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deadlocked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without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deeper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exploration.</a:t>
            </a:r>
            <a:endParaRPr sz="1800">
              <a:latin typeface="Calibri"/>
              <a:cs typeface="Calibri"/>
            </a:endParaRPr>
          </a:p>
          <a:p>
            <a:pPr marL="241300" marR="698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Hierarchical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Abstraction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Planning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(Botea,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Müller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Schaeffer,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2002–</a:t>
            </a:r>
            <a:r>
              <a:rPr dirty="0" sz="1800">
                <a:latin typeface="Calibri"/>
                <a:cs typeface="Calibri"/>
              </a:rPr>
              <a:t>2003)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divides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Sokoban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boards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rooms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tunnels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box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movement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higher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reducing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effective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space.</a:t>
            </a:r>
            <a:endParaRPr sz="1800">
              <a:latin typeface="Calibri"/>
              <a:cs typeface="Calibri"/>
            </a:endParaRPr>
          </a:p>
          <a:p>
            <a:pPr marL="241300" marR="49530" indent="-228600">
              <a:lnSpc>
                <a:spcPct val="700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Pattern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Solvers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(Pereira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al.,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2015)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precomputed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heuristic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simplified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sub-problems, </a:t>
            </a:r>
            <a:r>
              <a:rPr dirty="0" sz="1800">
                <a:latin typeface="Calibri"/>
                <a:cs typeface="Calibri"/>
              </a:rPr>
              <a:t>helping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solvers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optimal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minimum-</a:t>
            </a:r>
            <a:r>
              <a:rPr dirty="0" sz="1800">
                <a:latin typeface="Calibri"/>
                <a:cs typeface="Calibri"/>
              </a:rPr>
              <a:t>push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solutions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while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expanding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fewer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basic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heuristic search.</a:t>
            </a:r>
            <a:endParaRPr sz="1800">
              <a:latin typeface="Calibri"/>
              <a:cs typeface="Calibri"/>
            </a:endParaRPr>
          </a:p>
          <a:p>
            <a:pPr marL="241300" marR="376555" indent="-228600">
              <a:lnSpc>
                <a:spcPct val="701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Theoretical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Complexity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Studies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(Culberson,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1997;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Hearn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Demaine,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2005)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established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Sokoban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is </a:t>
            </a:r>
            <a:r>
              <a:rPr dirty="0" sz="1800" spc="-35">
                <a:latin typeface="Calibri"/>
                <a:cs typeface="Calibri"/>
              </a:rPr>
              <a:t>PSPACE-</a:t>
            </a:r>
            <a:r>
              <a:rPr dirty="0" sz="1800" spc="-10">
                <a:latin typeface="Calibri"/>
                <a:cs typeface="Calibri"/>
              </a:rPr>
              <a:t>complete,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showing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why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practical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solvers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require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heuristics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pruning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instead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relying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on brute-</a:t>
            </a:r>
            <a:r>
              <a:rPr dirty="0" sz="1800">
                <a:latin typeface="Calibri"/>
                <a:cs typeface="Calibri"/>
              </a:rPr>
              <a:t>force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exploration.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35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Commercial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Hobbyist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Sokoban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Games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provide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playable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puzzle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environments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generally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lack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built-</a:t>
            </a:r>
            <a:r>
              <a:rPr dirty="0" sz="1800" spc="-25">
                <a:latin typeface="Calibri"/>
                <a:cs typeface="Calibri"/>
              </a:rPr>
              <a:t>in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dirty="0" sz="1800">
                <a:latin typeface="Calibri"/>
                <a:cs typeface="Calibri"/>
              </a:rPr>
              <a:t>AI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solving,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hints,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visibility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how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solutions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generated,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leaving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players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independently.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35"/>
              </a:lnSpc>
              <a:spcBef>
                <a:spcPts val="34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Generic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Puzzle-</a:t>
            </a:r>
            <a:r>
              <a:rPr dirty="0" sz="1800">
                <a:latin typeface="Calibri"/>
                <a:cs typeface="Calibri"/>
              </a:rPr>
              <a:t>Solving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Libraries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Sokoban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standard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state-</a:t>
            </a:r>
            <a:r>
              <a:rPr dirty="0" sz="1800">
                <a:latin typeface="Calibri"/>
                <a:cs typeface="Calibri"/>
              </a:rPr>
              <a:t>space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planning problem,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without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dirty="0" sz="1800" spc="-25">
                <a:latin typeface="Calibri"/>
                <a:cs typeface="Calibri"/>
              </a:rPr>
              <a:t>Sokoban-</a:t>
            </a:r>
            <a:r>
              <a:rPr dirty="0" sz="1800">
                <a:latin typeface="Calibri"/>
                <a:cs typeface="Calibri"/>
              </a:rPr>
              <a:t>specific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deadlock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heuristics,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perform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poorly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complex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levels.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42079" y="613105"/>
            <a:ext cx="431800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>
                <a:latin typeface="Calibri Light"/>
                <a:cs typeface="Calibri Light"/>
              </a:rPr>
              <a:t>PROPOSED</a:t>
            </a:r>
            <a:r>
              <a:rPr dirty="0" spc="-185">
                <a:latin typeface="Calibri Light"/>
                <a:cs typeface="Calibri Light"/>
              </a:rPr>
              <a:t> </a:t>
            </a:r>
            <a:r>
              <a:rPr dirty="0" spc="-10">
                <a:latin typeface="Calibri Light"/>
                <a:cs typeface="Calibri Light"/>
              </a:rPr>
              <a:t>SYSTEM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241300" marR="142240" indent="-228600">
              <a:lnSpc>
                <a:spcPct val="70000"/>
              </a:lnSpc>
              <a:spcBef>
                <a:spcPts val="745"/>
              </a:spcBef>
              <a:buChar char="•"/>
              <a:tabLst>
                <a:tab pos="241300" algn="l"/>
                <a:tab pos="292735" algn="l"/>
              </a:tabLst>
            </a:pPr>
            <a:r>
              <a:rPr dirty="0" i="0">
                <a:latin typeface="Arial"/>
                <a:cs typeface="Arial"/>
              </a:rPr>
              <a:t>	</a:t>
            </a:r>
            <a:r>
              <a:rPr dirty="0" i="0">
                <a:latin typeface="Calibri"/>
                <a:cs typeface="Calibri"/>
              </a:rPr>
              <a:t>BFS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Baseline</a:t>
            </a:r>
            <a:r>
              <a:rPr dirty="0" spc="-2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Solver</a:t>
            </a:r>
            <a:r>
              <a:rPr dirty="0" spc="-2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—</a:t>
            </a:r>
            <a:r>
              <a:rPr dirty="0" spc="-7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Implements</a:t>
            </a:r>
            <a:r>
              <a:rPr dirty="0" spc="5" i="0">
                <a:latin typeface="Calibri"/>
                <a:cs typeface="Calibri"/>
              </a:rPr>
              <a:t> </a:t>
            </a:r>
            <a:r>
              <a:rPr dirty="0" spc="-20" i="0">
                <a:latin typeface="Calibri"/>
                <a:cs typeface="Calibri"/>
              </a:rPr>
              <a:t>Breadth-</a:t>
            </a:r>
            <a:r>
              <a:rPr dirty="0" i="0">
                <a:latin typeface="Calibri"/>
                <a:cs typeface="Calibri"/>
              </a:rPr>
              <a:t>First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Search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as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common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baseline,</a:t>
            </a:r>
            <a:r>
              <a:rPr dirty="0" spc="-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providing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clear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reference </a:t>
            </a:r>
            <a:r>
              <a:rPr dirty="0" i="0">
                <a:latin typeface="Calibri"/>
                <a:cs typeface="Calibri"/>
              </a:rPr>
              <a:t>for</a:t>
            </a:r>
            <a:r>
              <a:rPr dirty="0" spc="-8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comparing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how</a:t>
            </a:r>
            <a:r>
              <a:rPr dirty="0" spc="-9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heuristic</a:t>
            </a:r>
            <a:r>
              <a:rPr dirty="0" spc="-2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guidance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and</a:t>
            </a:r>
            <a:r>
              <a:rPr dirty="0" spc="-7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pruning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improve</a:t>
            </a:r>
            <a:r>
              <a:rPr dirty="0" spc="-7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search</a:t>
            </a:r>
            <a:r>
              <a:rPr dirty="0" spc="-7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efficiency.</a:t>
            </a:r>
          </a:p>
          <a:p>
            <a:pPr marL="292735" indent="-280035">
              <a:lnSpc>
                <a:spcPts val="1835"/>
              </a:lnSpc>
              <a:spcBef>
                <a:spcPts val="360"/>
              </a:spcBef>
              <a:buFont typeface="Arial"/>
              <a:buChar char="•"/>
              <a:tabLst>
                <a:tab pos="292735" algn="l"/>
              </a:tabLst>
            </a:pPr>
            <a:r>
              <a:rPr dirty="0" spc="-20" i="0">
                <a:latin typeface="Calibri"/>
                <a:cs typeface="Calibri"/>
              </a:rPr>
              <a:t>Heuristic-</a:t>
            </a:r>
            <a:r>
              <a:rPr dirty="0" i="0">
                <a:latin typeface="Calibri"/>
                <a:cs typeface="Calibri"/>
              </a:rPr>
              <a:t>Guided</a:t>
            </a:r>
            <a:r>
              <a:rPr dirty="0" spc="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Search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—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Introduces</a:t>
            </a:r>
            <a:r>
              <a:rPr dirty="0" spc="-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spc="-25" i="0">
                <a:latin typeface="Calibri"/>
                <a:cs typeface="Calibri"/>
              </a:rPr>
              <a:t>Manhattan-distance-</a:t>
            </a:r>
            <a:r>
              <a:rPr dirty="0" i="0">
                <a:latin typeface="Calibri"/>
                <a:cs typeface="Calibri"/>
              </a:rPr>
              <a:t>based</a:t>
            </a:r>
            <a:r>
              <a:rPr dirty="0" spc="8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heuristic</a:t>
            </a:r>
            <a:r>
              <a:rPr dirty="0" spc="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to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prioritize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states</a:t>
            </a:r>
            <a:r>
              <a:rPr dirty="0" spc="-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that</a:t>
            </a:r>
            <a:r>
              <a:rPr dirty="0" spc="-2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appear</a:t>
            </a:r>
          </a:p>
          <a:p>
            <a:pPr marL="241300">
              <a:lnSpc>
                <a:spcPts val="1835"/>
              </a:lnSpc>
            </a:pPr>
            <a:r>
              <a:rPr dirty="0" i="0">
                <a:latin typeface="Calibri"/>
                <a:cs typeface="Calibri"/>
              </a:rPr>
              <a:t>closer</a:t>
            </a:r>
            <a:r>
              <a:rPr dirty="0" spc="-8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to</a:t>
            </a:r>
            <a:r>
              <a:rPr dirty="0" spc="-7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completing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puzzle,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reducing</a:t>
            </a:r>
            <a:r>
              <a:rPr dirty="0" spc="-2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unnecessary</a:t>
            </a:r>
            <a:r>
              <a:rPr dirty="0" spc="-2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exploration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compared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with</a:t>
            </a:r>
            <a:r>
              <a:rPr dirty="0" spc="-9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uninformed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search.</a:t>
            </a:r>
          </a:p>
          <a:p>
            <a:pPr marL="241300" marR="54927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i="0">
                <a:latin typeface="Calibri"/>
                <a:cs typeface="Calibri"/>
              </a:rPr>
              <a:t>Deadlock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Detection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Rules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—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Adds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spc="-25" i="0">
                <a:latin typeface="Calibri"/>
                <a:cs typeface="Calibri"/>
              </a:rPr>
              <a:t>hand-</a:t>
            </a:r>
            <a:r>
              <a:rPr dirty="0" i="0">
                <a:latin typeface="Calibri"/>
                <a:cs typeface="Calibri"/>
              </a:rPr>
              <a:t>crafted</a:t>
            </a:r>
            <a:r>
              <a:rPr dirty="0" spc="-2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rules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for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identifying</a:t>
            </a:r>
            <a:r>
              <a:rPr dirty="0" spc="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corner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traps,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wall</a:t>
            </a:r>
            <a:r>
              <a:rPr dirty="0" spc="-7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traps,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and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other irreversible</a:t>
            </a:r>
            <a:r>
              <a:rPr dirty="0" spc="-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box</a:t>
            </a:r>
            <a:r>
              <a:rPr dirty="0" spc="-7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configurations,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allowing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solver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to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discard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unsolvable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states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early.</a:t>
            </a:r>
          </a:p>
          <a:p>
            <a:pPr marL="292735" indent="-280035">
              <a:lnSpc>
                <a:spcPts val="1835"/>
              </a:lnSpc>
              <a:spcBef>
                <a:spcPts val="340"/>
              </a:spcBef>
              <a:buFont typeface="Arial"/>
              <a:buChar char="•"/>
              <a:tabLst>
                <a:tab pos="292735" algn="l"/>
              </a:tabLst>
            </a:pPr>
            <a:r>
              <a:rPr dirty="0" i="0">
                <a:latin typeface="Calibri"/>
                <a:cs typeface="Calibri"/>
              </a:rPr>
              <a:t>Heuristic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+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Deadlock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Integration</a:t>
            </a:r>
            <a:r>
              <a:rPr dirty="0" spc="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—</a:t>
            </a:r>
            <a:r>
              <a:rPr dirty="0" spc="-8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Combines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heuristic guidance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with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deadlock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pruning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in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single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solver,</a:t>
            </a:r>
          </a:p>
          <a:p>
            <a:pPr marL="241300">
              <a:lnSpc>
                <a:spcPts val="1835"/>
              </a:lnSpc>
            </a:pPr>
            <a:r>
              <a:rPr dirty="0" spc="-10" i="0">
                <a:latin typeface="Calibri"/>
                <a:cs typeface="Calibri"/>
              </a:rPr>
              <a:t>improving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both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search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direction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and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spc="-25" i="0">
                <a:latin typeface="Calibri"/>
                <a:cs typeface="Calibri"/>
              </a:rPr>
              <a:t>state-</a:t>
            </a:r>
            <a:r>
              <a:rPr dirty="0" i="0">
                <a:latin typeface="Calibri"/>
                <a:cs typeface="Calibri"/>
              </a:rPr>
              <a:t>space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reduction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instead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of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relying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on</a:t>
            </a:r>
            <a:r>
              <a:rPr dirty="0" spc="-7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either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technique</a:t>
            </a:r>
            <a:r>
              <a:rPr dirty="0" spc="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alone.</a:t>
            </a:r>
          </a:p>
          <a:p>
            <a:pPr marL="241300" marR="14414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pc="-10" i="0">
                <a:latin typeface="Calibri"/>
                <a:cs typeface="Calibri"/>
              </a:rPr>
              <a:t>Progressive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Algorithm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Comparison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—</a:t>
            </a:r>
            <a:r>
              <a:rPr dirty="0" spc="-7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Evaluates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BFS,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heuristic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search,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and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heuristic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search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with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deadlock </a:t>
            </a:r>
            <a:r>
              <a:rPr dirty="0" i="0">
                <a:latin typeface="Calibri"/>
                <a:cs typeface="Calibri"/>
              </a:rPr>
              <a:t>pruning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under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same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puzzle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conditions,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making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improvement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from</a:t>
            </a:r>
            <a:r>
              <a:rPr dirty="0" spc="-8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each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technique</a:t>
            </a:r>
            <a:r>
              <a:rPr dirty="0" spc="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measurable </a:t>
            </a:r>
            <a:r>
              <a:rPr dirty="0" spc="-25" i="0">
                <a:latin typeface="Calibri"/>
                <a:cs typeface="Calibri"/>
              </a:rPr>
              <a:t>and </a:t>
            </a:r>
            <a:r>
              <a:rPr dirty="0" spc="-10" i="0">
                <a:latin typeface="Calibri"/>
                <a:cs typeface="Calibri"/>
              </a:rPr>
              <a:t>transparent.</a:t>
            </a:r>
          </a:p>
          <a:p>
            <a:pPr marL="241300" marR="9842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pc="-20" i="0">
                <a:latin typeface="Calibri"/>
                <a:cs typeface="Calibri"/>
              </a:rPr>
              <a:t>Human-</a:t>
            </a:r>
            <a:r>
              <a:rPr dirty="0" spc="-10" i="0">
                <a:latin typeface="Calibri"/>
                <a:cs typeface="Calibri"/>
              </a:rPr>
              <a:t>vs-</a:t>
            </a:r>
            <a:r>
              <a:rPr dirty="0" i="0">
                <a:latin typeface="Calibri"/>
                <a:cs typeface="Calibri"/>
              </a:rPr>
              <a:t>AI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Benchmarking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—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Allows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users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to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manually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solve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2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same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levels</a:t>
            </a:r>
            <a:r>
              <a:rPr dirty="0" spc="-2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and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compare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their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spc="-20" i="0">
                <a:latin typeface="Calibri"/>
                <a:cs typeface="Calibri"/>
              </a:rPr>
              <a:t>move </a:t>
            </a:r>
            <a:r>
              <a:rPr dirty="0" i="0">
                <a:latin typeface="Calibri"/>
                <a:cs typeface="Calibri"/>
              </a:rPr>
              <a:t>count,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push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count,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and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solving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time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against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AI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approaches,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adding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</a:t>
            </a:r>
            <a:r>
              <a:rPr dirty="0" spc="-7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practical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performance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perspective.</a:t>
            </a:r>
          </a:p>
          <a:p>
            <a:pPr marL="241300" marR="64769" indent="-228600">
              <a:lnSpc>
                <a:spcPct val="700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pc="-10" i="0">
                <a:latin typeface="Calibri"/>
                <a:cs typeface="Calibri"/>
              </a:rPr>
              <a:t>Interactive </a:t>
            </a:r>
            <a:r>
              <a:rPr dirty="0" i="0">
                <a:latin typeface="Calibri"/>
                <a:cs typeface="Calibri"/>
              </a:rPr>
              <a:t>AI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Hint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System</a:t>
            </a:r>
            <a:r>
              <a:rPr dirty="0" spc="-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—</a:t>
            </a:r>
            <a:r>
              <a:rPr dirty="0" spc="-8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Provides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user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with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an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AI-</a:t>
            </a:r>
            <a:r>
              <a:rPr dirty="0" spc="-10" i="0">
                <a:latin typeface="Calibri"/>
                <a:cs typeface="Calibri"/>
              </a:rPr>
              <a:t>suggested </a:t>
            </a:r>
            <a:r>
              <a:rPr dirty="0" i="0">
                <a:latin typeface="Calibri"/>
                <a:cs typeface="Calibri"/>
              </a:rPr>
              <a:t>next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move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during</a:t>
            </a:r>
            <a:r>
              <a:rPr dirty="0" spc="-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manual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solving, demonstrating</a:t>
            </a:r>
            <a:r>
              <a:rPr dirty="0" i="0">
                <a:latin typeface="Calibri"/>
                <a:cs typeface="Calibri"/>
              </a:rPr>
              <a:t> how</a:t>
            </a:r>
            <a:r>
              <a:rPr dirty="0" spc="-8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search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algorithm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can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assist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rather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than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simply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solve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entire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puzzle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automatically.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96616" y="387553"/>
            <a:ext cx="640080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Novelty</a:t>
            </a:r>
            <a:r>
              <a:rPr dirty="0" spc="-125"/>
              <a:t> </a:t>
            </a:r>
            <a:r>
              <a:rPr dirty="0"/>
              <a:t>in</a:t>
            </a:r>
            <a:r>
              <a:rPr dirty="0" spc="-95"/>
              <a:t> </a:t>
            </a:r>
            <a:r>
              <a:rPr dirty="0"/>
              <a:t>Proposed</a:t>
            </a:r>
            <a:r>
              <a:rPr dirty="0" spc="-145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282700"/>
            <a:ext cx="10320020" cy="4520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183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Progressive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Improvement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Instead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implementing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single</a:t>
            </a:r>
            <a:r>
              <a:rPr dirty="0" sz="1800" spc="-25">
                <a:latin typeface="Calibri"/>
                <a:cs typeface="Calibri"/>
              </a:rPr>
              <a:t> solver,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demonstrates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how</a:t>
            </a:r>
            <a:endParaRPr sz="1800">
              <a:latin typeface="Calibri"/>
              <a:cs typeface="Calibri"/>
            </a:endParaRPr>
          </a:p>
          <a:p>
            <a:pPr marL="241300" marR="172085">
              <a:lnSpc>
                <a:spcPct val="70000"/>
              </a:lnSpc>
              <a:spcBef>
                <a:spcPts val="320"/>
              </a:spcBef>
            </a:pPr>
            <a:r>
              <a:rPr dirty="0" sz="1800" spc="-10">
                <a:latin typeface="Calibri"/>
                <a:cs typeface="Calibri"/>
              </a:rPr>
              <a:t>Sokoban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improves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step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step,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starting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BFS,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moving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heuristic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finally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integrating </a:t>
            </a:r>
            <a:r>
              <a:rPr dirty="0" sz="1800">
                <a:latin typeface="Calibri"/>
                <a:cs typeface="Calibri"/>
              </a:rPr>
              <a:t>deadlock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detection.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35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Classical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Techniques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Framework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Combines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30">
                <a:latin typeface="Calibri"/>
                <a:cs typeface="Calibri"/>
              </a:rPr>
              <a:t>state-</a:t>
            </a:r>
            <a:r>
              <a:rPr dirty="0" sz="1800">
                <a:latin typeface="Calibri"/>
                <a:cs typeface="Calibri"/>
              </a:rPr>
              <a:t>space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heuristic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guidance,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515"/>
              </a:lnSpc>
            </a:pPr>
            <a:r>
              <a:rPr dirty="0" sz="1800" spc="-20">
                <a:latin typeface="Calibri"/>
                <a:cs typeface="Calibri"/>
              </a:rPr>
              <a:t>knowledge-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deadlock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rules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single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providing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clear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demonstration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how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different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AI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39"/>
              </a:lnSpc>
            </a:pPr>
            <a:r>
              <a:rPr dirty="0" sz="1800">
                <a:latin typeface="Calibri"/>
                <a:cs typeface="Calibri"/>
              </a:rPr>
              <a:t>concepts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work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together.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35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Early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Identification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Unsolvable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States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deadlock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layer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identifies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common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irreversible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configurations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515"/>
              </a:lnSpc>
            </a:pPr>
            <a:r>
              <a:rPr dirty="0" sz="1800" spc="-10">
                <a:latin typeface="Calibri"/>
                <a:cs typeface="Calibri"/>
              </a:rPr>
              <a:t>before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consume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further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effort,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allowing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solver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avoid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exploring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branches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cannot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lead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solution.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35"/>
              </a:lnSpc>
              <a:spcBef>
                <a:spcPts val="33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Direct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Algorithmic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Benchmarking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three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approaches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evaluated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same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measurable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515"/>
              </a:lnSpc>
            </a:pPr>
            <a:r>
              <a:rPr dirty="0" sz="1800" spc="-10">
                <a:latin typeface="Calibri"/>
                <a:cs typeface="Calibri"/>
              </a:rPr>
              <a:t>factors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nodes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expanded,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moves,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pushes,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making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impact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improvement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dirty="0" sz="1800" spc="-10">
                <a:latin typeface="Calibri"/>
                <a:cs typeface="Calibri"/>
              </a:rPr>
              <a:t>visible.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35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 spc="-20">
                <a:latin typeface="Calibri"/>
                <a:cs typeface="Calibri"/>
              </a:rPr>
              <a:t>Human-</a:t>
            </a:r>
            <a:r>
              <a:rPr dirty="0" sz="1800" spc="-10">
                <a:latin typeface="Calibri"/>
                <a:cs typeface="Calibri"/>
              </a:rPr>
              <a:t>vs-</a:t>
            </a:r>
            <a:r>
              <a:rPr dirty="0" sz="1800">
                <a:latin typeface="Calibri"/>
                <a:cs typeface="Calibri"/>
              </a:rPr>
              <a:t>AI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Comparison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extends beyond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automated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allowing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dirty="0" sz="1800">
                <a:latin typeface="Calibri"/>
                <a:cs typeface="Calibri"/>
              </a:rPr>
              <a:t>same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puzzle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manually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compare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their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performance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directly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AI.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35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Process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Made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Visible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animated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solution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allows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follow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AI's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actions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step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step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dirty="0" sz="1800">
                <a:latin typeface="Calibri"/>
                <a:cs typeface="Calibri"/>
              </a:rPr>
              <a:t>rather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receiving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final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solution,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making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underlying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behaviour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easier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understand.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35"/>
              </a:lnSpc>
              <a:spcBef>
                <a:spcPts val="34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Educational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Experimental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Focus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—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Sokoban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solver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but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also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510"/>
              </a:lnSpc>
            </a:pPr>
            <a:r>
              <a:rPr dirty="0" sz="1800" spc="-10">
                <a:latin typeface="Calibri"/>
                <a:cs typeface="Calibri"/>
              </a:rPr>
              <a:t>interactive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platform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understanding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how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heuristics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deadlock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pruning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affect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state-</a:t>
            </a:r>
            <a:r>
              <a:rPr dirty="0" sz="1800">
                <a:latin typeface="Calibri"/>
                <a:cs typeface="Calibri"/>
              </a:rPr>
              <a:t>space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dirty="0" sz="1800">
                <a:latin typeface="Calibri"/>
                <a:cs typeface="Calibri"/>
              </a:rPr>
              <a:t>practical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problem.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4268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dirty="0" spc="-25">
                <a:latin typeface="Calibri Light"/>
                <a:cs typeface="Calibri Light"/>
              </a:rPr>
              <a:t>BLOCK</a:t>
            </a:r>
            <a:r>
              <a:rPr dirty="0" spc="-170">
                <a:latin typeface="Calibri Light"/>
                <a:cs typeface="Calibri Light"/>
              </a:rPr>
              <a:t> </a:t>
            </a:r>
            <a:r>
              <a:rPr dirty="0" spc="-55">
                <a:latin typeface="Calibri Light"/>
                <a:cs typeface="Calibri Light"/>
              </a:rPr>
              <a:t>DIAGRAM(PROPOSED</a:t>
            </a:r>
            <a:r>
              <a:rPr dirty="0" spc="-185">
                <a:latin typeface="Calibri Light"/>
                <a:cs typeface="Calibri Light"/>
              </a:rPr>
              <a:t> </a:t>
            </a:r>
            <a:r>
              <a:rPr dirty="0" spc="-10">
                <a:latin typeface="Calibri Light"/>
                <a:cs typeface="Calibri Light"/>
              </a:rPr>
              <a:t>SYSTEM)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0436" y="1627232"/>
            <a:ext cx="5060814" cy="42535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668" rIns="0" bIns="0" rtlCol="0" vert="horz">
            <a:spAutoFit/>
          </a:bodyPr>
          <a:lstStyle/>
          <a:p>
            <a:pPr marL="436880">
              <a:lnSpc>
                <a:spcPct val="100000"/>
              </a:lnSpc>
              <a:spcBef>
                <a:spcPts val="95"/>
              </a:spcBef>
            </a:pPr>
            <a:r>
              <a:rPr dirty="0" spc="-65">
                <a:latin typeface="Calibri Light"/>
                <a:cs typeface="Calibri Light"/>
              </a:rPr>
              <a:t>Hardware/Software</a:t>
            </a:r>
            <a:r>
              <a:rPr dirty="0" spc="-165">
                <a:latin typeface="Calibri Light"/>
                <a:cs typeface="Calibri Light"/>
              </a:rPr>
              <a:t> </a:t>
            </a:r>
            <a:r>
              <a:rPr dirty="0" spc="-30">
                <a:latin typeface="Calibri Light"/>
                <a:cs typeface="Calibri Light"/>
              </a:rPr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23603"/>
            <a:ext cx="7420609" cy="417576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800" spc="-10">
                <a:latin typeface="Calibri"/>
                <a:cs typeface="Calibri"/>
              </a:rPr>
              <a:t>Hardware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Requirement: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Standard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PC/laptop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Intel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i3/Ryzen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3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processor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above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Minimum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4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GB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RAM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(8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GB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recommended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larger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Sokoban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levels)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least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500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MB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free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dependencies</a:t>
            </a:r>
            <a:endParaRPr sz="1800">
              <a:latin typeface="Calibri"/>
              <a:cs typeface="Calibri"/>
            </a:endParaRPr>
          </a:p>
          <a:p>
            <a:pPr marL="292735" indent="-28003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92735" algn="l"/>
              </a:tabLst>
            </a:pPr>
            <a:r>
              <a:rPr dirty="0" sz="1800">
                <a:latin typeface="Calibri"/>
                <a:cs typeface="Calibri"/>
              </a:rPr>
              <a:t>No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dedicated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GPU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required,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classical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algorithms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  <a:buFont typeface="Arial"/>
              <a:buChar char="•"/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Software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Requirement: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Python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3.x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implementing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algorithms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solver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HTML5,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CSS3,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JavaScript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(ES6+)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interactive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game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interface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Modern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web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browser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Chrome,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Edge, or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Firefox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Visual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Studio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Code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Python/JavaScript-</a:t>
            </a:r>
            <a:r>
              <a:rPr dirty="0" sz="1800">
                <a:latin typeface="Calibri"/>
                <a:cs typeface="Calibri"/>
              </a:rPr>
              <a:t>compatible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IDE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Git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GitHub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version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control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7316" rIns="0" bIns="0" rtlCol="0" vert="horz">
            <a:spAutoFit/>
          </a:bodyPr>
          <a:lstStyle/>
          <a:p>
            <a:pPr marL="295846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50825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dirty="0" i="0">
                <a:latin typeface="Calibri"/>
                <a:cs typeface="Calibri"/>
              </a:rPr>
              <a:t>Hart,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spc="-125" i="0">
                <a:latin typeface="Calibri"/>
                <a:cs typeface="Calibri"/>
              </a:rPr>
              <a:t>P.</a:t>
            </a:r>
            <a:r>
              <a:rPr dirty="0" spc="-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E.,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Nilsson,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N.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J.,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&amp;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Raphael,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B.</a:t>
            </a:r>
            <a:r>
              <a:rPr dirty="0" spc="-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(1968).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Formal</a:t>
            </a:r>
            <a:r>
              <a:rPr dirty="0" spc="-35"/>
              <a:t> </a:t>
            </a:r>
            <a:r>
              <a:rPr dirty="0"/>
              <a:t>Basis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Heuristic</a:t>
            </a:r>
            <a:r>
              <a:rPr dirty="0" spc="-35"/>
              <a:t> </a:t>
            </a:r>
            <a:r>
              <a:rPr dirty="0"/>
              <a:t>Determination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0"/>
              <a:t> Minimum</a:t>
            </a:r>
          </a:p>
          <a:p>
            <a:pPr marL="527685">
              <a:lnSpc>
                <a:spcPct val="100000"/>
              </a:lnSpc>
            </a:pPr>
            <a:r>
              <a:rPr dirty="0"/>
              <a:t>Cost</a:t>
            </a:r>
            <a:r>
              <a:rPr dirty="0" spc="-30"/>
              <a:t> </a:t>
            </a:r>
            <a:r>
              <a:rPr dirty="0"/>
              <a:t>Paths</a:t>
            </a:r>
            <a:r>
              <a:rPr dirty="0" i="0">
                <a:latin typeface="Calibri"/>
                <a:cs typeface="Calibri"/>
              </a:rPr>
              <a:t>.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IEEE</a:t>
            </a:r>
            <a:r>
              <a:rPr dirty="0" spc="-80" i="0">
                <a:latin typeface="Calibri"/>
                <a:cs typeface="Calibri"/>
              </a:rPr>
              <a:t> </a:t>
            </a:r>
            <a:r>
              <a:rPr dirty="0" spc="-20" i="0">
                <a:latin typeface="Calibri"/>
                <a:cs typeface="Calibri"/>
              </a:rPr>
              <a:t>Transactions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on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Systems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Science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and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Cybernetics,</a:t>
            </a:r>
            <a:r>
              <a:rPr dirty="0" spc="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4(2),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100–</a:t>
            </a:r>
            <a:r>
              <a:rPr dirty="0" spc="-20" i="0">
                <a:latin typeface="Calibri"/>
                <a:cs typeface="Calibri"/>
              </a:rPr>
              <a:t>107.</a:t>
            </a:r>
          </a:p>
          <a:p>
            <a:pPr marL="527685" indent="-514984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527685" algn="l"/>
              </a:tabLst>
            </a:pPr>
            <a:r>
              <a:rPr dirty="0" i="0">
                <a:latin typeface="Calibri"/>
                <a:cs typeface="Calibri"/>
              </a:rPr>
              <a:t>Culberson,</a:t>
            </a:r>
            <a:r>
              <a:rPr dirty="0" spc="-1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J.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C.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(1997).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/>
              <a:t>Sokoban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 spc="-30"/>
              <a:t>PSPACE-</a:t>
            </a:r>
            <a:r>
              <a:rPr dirty="0" spc="-10"/>
              <a:t>complete</a:t>
            </a:r>
            <a:r>
              <a:rPr dirty="0" spc="-10" i="0">
                <a:latin typeface="Calibri"/>
                <a:cs typeface="Calibri"/>
              </a:rPr>
              <a:t>.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University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of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Alberta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spc="-20" i="0">
                <a:latin typeface="Calibri"/>
                <a:cs typeface="Calibri"/>
              </a:rPr>
              <a:t>Technical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Report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TR97-</a:t>
            </a:r>
            <a:r>
              <a:rPr dirty="0" spc="-25" i="0">
                <a:latin typeface="Calibri"/>
                <a:cs typeface="Calibri"/>
              </a:rPr>
              <a:t>02.</a:t>
            </a:r>
          </a:p>
          <a:p>
            <a:pPr marL="527685" marR="5715" indent="-515620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527685" algn="l"/>
              </a:tabLst>
            </a:pPr>
            <a:r>
              <a:rPr dirty="0" i="0">
                <a:latin typeface="Calibri"/>
                <a:cs typeface="Calibri"/>
              </a:rPr>
              <a:t>Junghanns,</a:t>
            </a:r>
            <a:r>
              <a:rPr dirty="0" spc="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A.,</a:t>
            </a:r>
            <a:r>
              <a:rPr dirty="0" spc="-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&amp;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spc="-25" i="0">
                <a:latin typeface="Calibri"/>
                <a:cs typeface="Calibri"/>
              </a:rPr>
              <a:t>Schaeffer,</a:t>
            </a:r>
            <a:r>
              <a:rPr dirty="0" spc="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J.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(1998).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spc="-10"/>
              <a:t>Sokoban:</a:t>
            </a:r>
            <a:r>
              <a:rPr dirty="0" spc="-30"/>
              <a:t> </a:t>
            </a:r>
            <a:r>
              <a:rPr dirty="0"/>
              <a:t>Evaluating</a:t>
            </a:r>
            <a:r>
              <a:rPr dirty="0" spc="-75"/>
              <a:t> </a:t>
            </a:r>
            <a:r>
              <a:rPr dirty="0"/>
              <a:t>Standard</a:t>
            </a:r>
            <a:r>
              <a:rPr dirty="0" spc="-70"/>
              <a:t> </a:t>
            </a:r>
            <a:r>
              <a:rPr dirty="0"/>
              <a:t>Single-Agent</a:t>
            </a:r>
            <a:r>
              <a:rPr dirty="0" spc="-60"/>
              <a:t> </a:t>
            </a:r>
            <a:r>
              <a:rPr dirty="0"/>
              <a:t>Search</a:t>
            </a:r>
            <a:r>
              <a:rPr dirty="0" spc="-75"/>
              <a:t> </a:t>
            </a:r>
            <a:r>
              <a:rPr dirty="0" spc="-20"/>
              <a:t>Techniques</a:t>
            </a:r>
            <a:r>
              <a:rPr dirty="0" spc="-8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 spc="-25"/>
              <a:t>the </a:t>
            </a:r>
            <a:r>
              <a:rPr dirty="0"/>
              <a:t>Presence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Deadlock</a:t>
            </a:r>
            <a:r>
              <a:rPr dirty="0" i="0">
                <a:latin typeface="Calibri"/>
                <a:cs typeface="Calibri"/>
              </a:rPr>
              <a:t>.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Advances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in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Artificial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Intelligence,</a:t>
            </a:r>
            <a:r>
              <a:rPr dirty="0" spc="3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LNCS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1418.</a:t>
            </a:r>
          </a:p>
          <a:p>
            <a:pPr marL="527685" marR="225425" indent="-515620">
              <a:lnSpc>
                <a:spcPct val="100000"/>
              </a:lnSpc>
              <a:spcBef>
                <a:spcPts val="985"/>
              </a:spcBef>
              <a:buAutoNum type="arabicPeriod" startAt="2"/>
              <a:tabLst>
                <a:tab pos="527685" algn="l"/>
              </a:tabLst>
            </a:pPr>
            <a:r>
              <a:rPr dirty="0" i="0">
                <a:latin typeface="Calibri"/>
                <a:cs typeface="Calibri"/>
              </a:rPr>
              <a:t>Junghanns,</a:t>
            </a:r>
            <a:r>
              <a:rPr dirty="0" spc="20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A.,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&amp;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spc="-25" i="0">
                <a:latin typeface="Calibri"/>
                <a:cs typeface="Calibri"/>
              </a:rPr>
              <a:t>Schaeffer,</a:t>
            </a:r>
            <a:r>
              <a:rPr dirty="0" i="0">
                <a:latin typeface="Calibri"/>
                <a:cs typeface="Calibri"/>
              </a:rPr>
              <a:t> J.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(2001).</a:t>
            </a:r>
            <a:r>
              <a:rPr dirty="0" spc="-45" i="0">
                <a:latin typeface="Calibri"/>
                <a:cs typeface="Calibri"/>
              </a:rPr>
              <a:t> </a:t>
            </a:r>
            <a:r>
              <a:rPr dirty="0"/>
              <a:t>Sokoban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Enhancing</a:t>
            </a:r>
            <a:r>
              <a:rPr dirty="0" spc="-100"/>
              <a:t> </a:t>
            </a:r>
            <a:r>
              <a:rPr dirty="0"/>
              <a:t>General</a:t>
            </a:r>
            <a:r>
              <a:rPr dirty="0" spc="-70"/>
              <a:t> </a:t>
            </a:r>
            <a:r>
              <a:rPr dirty="0"/>
              <a:t>Single-Agent</a:t>
            </a:r>
            <a:r>
              <a:rPr dirty="0" spc="-70"/>
              <a:t> </a:t>
            </a:r>
            <a:r>
              <a:rPr dirty="0"/>
              <a:t>Search</a:t>
            </a:r>
            <a:r>
              <a:rPr dirty="0" spc="-65"/>
              <a:t> </a:t>
            </a:r>
            <a:r>
              <a:rPr dirty="0"/>
              <a:t>Methods</a:t>
            </a:r>
            <a:r>
              <a:rPr dirty="0" spc="-50"/>
              <a:t> </a:t>
            </a:r>
            <a:r>
              <a:rPr dirty="0" spc="-10"/>
              <a:t>Using </a:t>
            </a:r>
            <a:r>
              <a:rPr dirty="0"/>
              <a:t>Domain</a:t>
            </a:r>
            <a:r>
              <a:rPr dirty="0" spc="-30"/>
              <a:t> </a:t>
            </a:r>
            <a:r>
              <a:rPr dirty="0"/>
              <a:t>Knowledge</a:t>
            </a:r>
            <a:r>
              <a:rPr dirty="0" i="0">
                <a:latin typeface="Calibri"/>
                <a:cs typeface="Calibri"/>
              </a:rPr>
              <a:t>.</a:t>
            </a:r>
            <a:r>
              <a:rPr dirty="0" spc="-7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Artificial</a:t>
            </a:r>
            <a:r>
              <a:rPr dirty="0" spc="-6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Intelligence,</a:t>
            </a:r>
            <a:r>
              <a:rPr dirty="0" spc="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129,</a:t>
            </a:r>
            <a:r>
              <a:rPr dirty="0" spc="-50" i="0">
                <a:latin typeface="Calibri"/>
                <a:cs typeface="Calibri"/>
              </a:rPr>
              <a:t> </a:t>
            </a:r>
            <a:r>
              <a:rPr dirty="0" spc="-25" i="0">
                <a:latin typeface="Calibri"/>
                <a:cs typeface="Calibri"/>
              </a:rPr>
              <a:t>219–</a:t>
            </a:r>
            <a:r>
              <a:rPr dirty="0" spc="-20" i="0">
                <a:latin typeface="Calibri"/>
                <a:cs typeface="Calibri"/>
              </a:rPr>
              <a:t>251.</a:t>
            </a:r>
          </a:p>
          <a:p>
            <a:pPr marL="527685" marR="5080" indent="-515620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527685" algn="l"/>
              </a:tabLst>
            </a:pPr>
            <a:r>
              <a:rPr dirty="0" i="0">
                <a:latin typeface="Calibri"/>
                <a:cs typeface="Calibri"/>
              </a:rPr>
              <a:t>Botea,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A.,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spc="-20" i="0">
                <a:latin typeface="Calibri"/>
                <a:cs typeface="Calibri"/>
              </a:rPr>
              <a:t>Müller,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M.,</a:t>
            </a:r>
            <a:r>
              <a:rPr dirty="0" spc="-3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&amp;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spc="-25" i="0">
                <a:latin typeface="Calibri"/>
                <a:cs typeface="Calibri"/>
              </a:rPr>
              <a:t>Schaeffer,</a:t>
            </a:r>
            <a:r>
              <a:rPr dirty="0" spc="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J.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(2002–</a:t>
            </a:r>
            <a:r>
              <a:rPr dirty="0" i="0">
                <a:latin typeface="Calibri"/>
                <a:cs typeface="Calibri"/>
              </a:rPr>
              <a:t>2003).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/>
              <a:t>Using</a:t>
            </a:r>
            <a:r>
              <a:rPr dirty="0" spc="-50"/>
              <a:t> </a:t>
            </a:r>
            <a:r>
              <a:rPr dirty="0"/>
              <a:t>Abstraction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Planning</a:t>
            </a:r>
            <a:r>
              <a:rPr dirty="0" spc="-7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Sokoban</a:t>
            </a:r>
            <a:r>
              <a:rPr dirty="0" i="0">
                <a:latin typeface="Calibri"/>
                <a:cs typeface="Calibri"/>
              </a:rPr>
              <a:t>.</a:t>
            </a:r>
            <a:r>
              <a:rPr dirty="0" spc="-6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Proceedings </a:t>
            </a:r>
            <a:r>
              <a:rPr dirty="0" i="0">
                <a:latin typeface="Calibri"/>
                <a:cs typeface="Calibri"/>
              </a:rPr>
              <a:t>of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the</a:t>
            </a:r>
            <a:r>
              <a:rPr dirty="0" spc="-2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3rd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International</a:t>
            </a:r>
            <a:r>
              <a:rPr dirty="0" spc="1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Conference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on</a:t>
            </a:r>
            <a:r>
              <a:rPr dirty="0" spc="-55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Computers</a:t>
            </a:r>
            <a:r>
              <a:rPr dirty="0" spc="-15" i="0">
                <a:latin typeface="Calibri"/>
                <a:cs typeface="Calibri"/>
              </a:rPr>
              <a:t> </a:t>
            </a:r>
            <a:r>
              <a:rPr dirty="0" i="0">
                <a:latin typeface="Calibri"/>
                <a:cs typeface="Calibri"/>
              </a:rPr>
              <a:t>and</a:t>
            </a:r>
            <a:r>
              <a:rPr dirty="0" spc="-40" i="0">
                <a:latin typeface="Calibri"/>
                <a:cs typeface="Calibri"/>
              </a:rPr>
              <a:t> </a:t>
            </a:r>
            <a:r>
              <a:rPr dirty="0" spc="-10" i="0">
                <a:latin typeface="Calibri"/>
                <a:cs typeface="Calibri"/>
              </a:rPr>
              <a:t>Games.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dirty="0" spc="5"/>
              <a:t> </a:t>
            </a:r>
            <a:r>
              <a:rPr dirty="0"/>
              <a:t>Engineering</a:t>
            </a:r>
            <a:r>
              <a:rPr dirty="0" spc="25"/>
              <a:t> </a:t>
            </a:r>
            <a:r>
              <a:rPr dirty="0" spc="-10"/>
              <a:t>College,Department</a:t>
            </a:r>
            <a:r>
              <a:rPr dirty="0"/>
              <a:t> of</a:t>
            </a:r>
            <a:r>
              <a:rPr dirty="0" spc="15"/>
              <a:t> </a:t>
            </a:r>
            <a:r>
              <a:rPr dirty="0"/>
              <a:t>Cyber</a:t>
            </a:r>
            <a:r>
              <a:rPr dirty="0" spc="-35"/>
              <a:t> </a:t>
            </a:r>
            <a:r>
              <a:rPr dirty="0" spc="-10"/>
              <a:t>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2026-10-20T08:54:07Z</dcterms:created>
  <dcterms:modified xsi:type="dcterms:W3CDTF">2026-10-20T08:54:07Z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2026-07-30T00:00:00Z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2026-10-20T00:00:00Z</vt:filetime>
  </property>
  <property fmtid="{D5CDD505-2E9C-101B-9397-08002B2CF9AE}" pid="6" name="Producer">
    <vt:lpwstr>www.ilovepdf.com</vt:lpwstr>
  </property>
</Properties>
</file>