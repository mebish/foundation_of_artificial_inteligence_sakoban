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1" r:id="rId6"/>
    <p:sldId id="274" r:id="rId7"/>
    <p:sldId id="272" r:id="rId8"/>
    <p:sldId id="273" r:id="rId9"/>
    <p:sldId id="260" r:id="rId10"/>
    <p:sldId id="276" r:id="rId28"/>
    <p:sldId id="268" r:id="rId11"/>
    <p:sldId id="275" r:id="rId12"/>
    <p:sldId id="261" r:id="rId13"/>
    <p:sldId id="262" r:id="rId14"/>
    <p:sldId id="269" r:id="rId15"/>
    <p:sldId id="263" r:id="rId16"/>
    <p:sldId id="270" r:id="rId17"/>
    <p:sldId id="277" r:id="rId29"/>
    <p:sldId id="264" r:id="rId18"/>
    <p:sldId id="265" r:id="rId19"/>
    <p:sldId id="266" r:id="rId20"/>
    <p:sldId id="267" r:id="rId2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00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notesMaster" Target="notesMasters/notes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10.xml"/><Relationship Id="rId29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933"/>
                </a:solidFill>
              </a:rPr>
              <a:t>Positions expanded (log scale)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BFS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Double Stack</c:v>
                </c:pt>
                <c:pt idx="1">
                  <c:v>Bottleneck</c:v>
                </c:pt>
                <c:pt idx="2">
                  <c:v>Dead Stock</c:v>
                </c:pt>
                <c:pt idx="3">
                  <c:v>Rush Hour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36971</c:v>
                </c:pt>
                <c:pt idx="1">
                  <c:v>66692</c:v>
                </c:pt>
                <c:pt idx="2">
                  <c:v>77568</c:v>
                </c:pt>
                <c:pt idx="3">
                  <c:v>200000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A*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Double Stack</c:v>
                </c:pt>
                <c:pt idx="1">
                  <c:v>Bottleneck</c:v>
                </c:pt>
                <c:pt idx="2">
                  <c:v>Dead Stock</c:v>
                </c:pt>
                <c:pt idx="3">
                  <c:v>Rush Hour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2273</c:v>
                </c:pt>
                <c:pt idx="1">
                  <c:v>3293</c:v>
                </c:pt>
                <c:pt idx="2">
                  <c:v>23707</c:v>
                </c:pt>
                <c:pt idx="3">
                  <c:v>107759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A* + Deadlock</c:v>
                </c:pt>
              </c:strCache>
            </c:strRef>
          </c:tx>
          <c:spPr>
            <a:solidFill>
              <a:srgbClr val="1BAF7A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Double Stack</c:v>
                </c:pt>
                <c:pt idx="1">
                  <c:v>Bottleneck</c:v>
                </c:pt>
                <c:pt idx="2">
                  <c:v>Dead Stock</c:v>
                </c:pt>
                <c:pt idx="3">
                  <c:v>Rush Hour</c:v>
                </c:pt>
              </c:strCache>
            </c:strRef>
          </c:cat>
          <c:val>
            <c:numRef>
              <c:f>Sheet1!$D$2:$D$5</c:f>
              <c:numCache>
                <c:formatCode>#,##0</c:formatCode>
                <c:ptCount val="4"/>
                <c:pt idx="0">
                  <c:v>964</c:v>
                </c:pt>
                <c:pt idx="1">
                  <c:v>1715</c:v>
                </c:pt>
                <c:pt idx="2">
                  <c:v>2969</c:v>
                </c:pt>
                <c:pt idx="3">
                  <c:v>38453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A* + Deadlock + Matching</c:v>
                </c:pt>
              </c:strCache>
            </c:strRef>
          </c:tx>
          <c:spPr>
            <a:solidFill>
              <a:srgbClr val="EDA100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Double Stack</c:v>
                </c:pt>
                <c:pt idx="1">
                  <c:v>Bottleneck</c:v>
                </c:pt>
                <c:pt idx="2">
                  <c:v>Dead Stock</c:v>
                </c:pt>
                <c:pt idx="3">
                  <c:v>Rush Hour</c:v>
                </c:pt>
              </c:strCache>
            </c:strRef>
          </c:cat>
          <c:val>
            <c:numRef>
              <c:f>Sheet1!$E$2:$E$5</c:f>
              <c:numCache>
                <c:formatCode>#,##0</c:formatCode>
                <c:ptCount val="4"/>
                <c:pt idx="0">
                  <c:v>35</c:v>
                </c:pt>
                <c:pt idx="1">
                  <c:v>31</c:v>
                </c:pt>
                <c:pt idx="2">
                  <c:v>79</c:v>
                </c:pt>
                <c:pt idx="3">
                  <c:v>344</c:v>
                </c:pt>
              </c:numCache>
            </c:numRef>
          </c:val>
        </c:ser>
        <c:dLbls>
          <c:numFmt formatCode="#,##0" sourceLinked="0"/>
          <c:txPr>
            <a:bodyPr rot="-5400000" vert="horz"/>
            <a:lstStyle/>
            <a:p>
              <a:pPr>
                <a:defRPr sz="8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5AE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  <c:max val="1000000.0"/>
          <c:min val="1.0"/>
        </c:scaling>
        <c:delete val="0"/>
        <c:axPos val="l"/>
        <c:majorGridlines>
          <c:spPr>
            <a:ln w="9525">
              <a:solidFill>
                <a:srgbClr val="D9DEE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44505C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6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7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8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789712" y="2606040"/>
            <a:ext cx="10515600" cy="1600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000" b="1" dirty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A Heuristic and Deadlock-Aware Search System for Sokoban Puzzle Solving — Review 2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26280"/>
            <a:ext cx="4572000" cy="128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IN" altLang="en-US" sz="1800" b="1" dirty="0">
                <a:solidFill>
                  <a:srgbClr val="FF0000"/>
                </a:solidFill>
              </a:rPr>
              <a:t>Supervisor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rgbClr val="193054"/>
                </a:solidFill>
              </a:rPr>
              <a:t>Dr. S. Bhuvana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IN" altLang="en-US" sz="1600" b="0" dirty="0">
                <a:solidFill>
                  <a:srgbClr val="193054"/>
                </a:solidFill>
              </a:rPr>
              <a:t>Assistant Professor (SG)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520" y="4526280"/>
            <a:ext cx="5120640" cy="128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IN" altLang="en-US" sz="1800" b="1" dirty="0">
                <a:solidFill>
                  <a:srgbClr val="FF0000"/>
                </a:solidFill>
              </a:rPr>
              <a:t>Team Members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IN" altLang="en-US" sz="1700" b="1" dirty="0">
                <a:solidFill>
                  <a:srgbClr val="193054"/>
                </a:solidFill>
              </a:rPr>
              <a:t>Mettu Mani Chandhan Sai (241901054)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IN" altLang="en-US" sz="1700" b="1" dirty="0">
                <a:solidFill>
                  <a:srgbClr val="193054"/>
                </a:solidFill>
              </a:rPr>
              <a:t>Mebish V D (241901053)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54333" y="932688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 Computer Science and Engineering</a:t>
            </a:r>
          </a:p>
          <a:p>
            <a:r>
              <a:rPr lang="en-IN" sz="24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(Cyber Security)</a:t>
            </a:r>
          </a:p>
          <a:p>
            <a:endParaRPr lang="en-IN" sz="2800" b="1" dirty="0">
              <a:solidFill>
                <a:srgbClr val="00206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12" name="Picture 11" descr="C:\Users\REC\Downloads\REC_Logo_Color_PNG_RGB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631504" y="1673352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CS23533– Foundations of Artificial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3101" y="2075688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2026-2027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69900" marR="0" indent="-469900" algn="l" defTabSz="914400" rtl="0" eaLnBrk="0" fontAlgn="base" latinLnBrk="0" hangingPunct="0">
              <a:spcBef>
                <a:spcPts val="16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2400" b="1" dirty="0">
                <a:solidFill>
                  <a:srgbClr val="1F2933"/>
                </a:solidFill>
              </a:rPr>
              <a:t>Problem: </a:t>
            </a:r>
            <a:r>
              <a:rPr lang="en-IN" sz="2400" b="0" dirty="0">
                <a:solidFill>
                  <a:srgbClr val="1F2933"/>
                </a:solidFill>
              </a:rPr>
              <a:t>find the fewest pushes that put every crate on a goal, without ever creating a deadlocked position.</a:t>
            </a:r>
          </a:p>
          <a:p>
            <a:pPr marL="469900" marR="0" indent="-469900" algn="l" defTabSz="914400" rtl="0" eaLnBrk="0" fontAlgn="base" latinLnBrk="0" hangingPunct="0">
              <a:spcBef>
                <a:spcPts val="16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2400" b="1" dirty="0">
                <a:solidFill>
                  <a:srgbClr val="1F2933"/>
                </a:solidFill>
              </a:rPr>
              <a:t>Why it is hard: </a:t>
            </a:r>
            <a:r>
              <a:rPr lang="en-IN" sz="2400" b="0" dirty="0">
                <a:solidFill>
                  <a:srgbClr val="1F2933"/>
                </a:solidFill>
              </a:rPr>
              <a:t>Sokoban is PSPACE-complete; positions explode with each extra crate, so blind search runs out of time.</a:t>
            </a:r>
          </a:p>
          <a:p>
            <a:pPr marL="469900" marR="0" indent="-469900" algn="l" defTabSz="914400" rtl="0" eaLnBrk="0" fontAlgn="base" latinLnBrk="0" hangingPunct="0">
              <a:spcBef>
                <a:spcPts val="16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2400" b="1" dirty="0">
                <a:solidFill>
                  <a:srgbClr val="1F2933"/>
                </a:solidFill>
              </a:rPr>
              <a:t>Who is affected: </a:t>
            </a:r>
            <a:r>
              <a:rPr lang="en-IN" sz="2400" b="0" dirty="0">
                <a:solidFill>
                  <a:srgbClr val="1F2933"/>
                </a:solidFill>
              </a:rPr>
              <a:t>AI learners who need measurable evidence, and planners of push-only tasks such as warehouse robots.</a:t>
            </a:r>
          </a:p>
          <a:p>
            <a:pPr marL="469900" marR="0" indent="-469900" algn="l" defTabSz="914400" rtl="0" eaLnBrk="0" fontAlgn="base" latinLnBrk="0" hangingPunct="0">
              <a:spcBef>
                <a:spcPts val="16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2400" b="1" dirty="0">
                <a:solidFill>
                  <a:srgbClr val="1F2933"/>
                </a:solidFill>
              </a:rPr>
              <a:t>Motivation: </a:t>
            </a:r>
            <a:r>
              <a:rPr lang="en-IN" sz="2400" b="0" dirty="0">
                <a:solidFill>
                  <a:srgbClr val="1F2933"/>
                </a:solidFill>
              </a:rPr>
              <a:t>combine heuristic search with deadlock knowledge, and make every gain visible in a playable lab.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" y="1783080"/>
          <a:ext cx="10698480" cy="3995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4343400"/>
                <a:gridCol w="4434840"/>
                <a:gridCol w="15087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Objective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Measurable outcome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Model Sokoban as a push-level state space (crates + keeper region)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Duplicate states merged: Storeroom BFS 62,560 → 9,952 positions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8553"/>
                          </a:solidFill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E3F4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BFS as the uninformed, optimal baseline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Fewest pushes on every level it finishes (27 / 34)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8553"/>
                          </a:solidFill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E3F4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A* with an admissible, consistent Manhattan heuristic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Same optimum; 84.1% fewer positions than BFS (median)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8553"/>
                          </a:solidFill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E3F4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Deadlock rules: corner, wall-line, dead square, freeze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Sound pruning (fuzz-tested); 34 / 34 solved; 92.6% fewer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8553"/>
                          </a:solidFill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E3F4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Sharper heuristic: push distance + Hungarian matching (added)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34 / 34 solved; 99.5% fewer positions than BFS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8553"/>
                          </a:solidFill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E3F4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Interactive lab: play, hint, solve, race, benchmark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Live web app on GitHub Pages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8553"/>
                          </a:solidFill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E3F4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Final evaluation, report and documentation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3"/>
                          </a:solidFill>
                        </a:rPr>
                        <a:t>Final report and model-review deck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B7791F"/>
                          </a:solidFill>
                        </a:rPr>
                        <a:t>In progress</a:t>
                      </a:r>
                    </a:p>
                  </a:txBody>
                  <a:tcPr marL="64008" marR="64008" marT="27432" marB="27432" anchor="ctr">
                    <a:solidFill>
                      <a:srgbClr val="FFF4D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Project Progress Since Review 1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737360"/>
            <a:ext cx="6720840" cy="4343400"/>
          </a:xfrm>
        </p:spPr>
        <p:txBody>
          <a:bodyPr>
            <a:noAutofit/>
          </a:bodyPr>
          <a:lstStyle/>
          <a:p>
            <a:pPr marL="469900" marR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700" b="0" dirty="0">
                <a:solidFill>
                  <a:srgbClr val="1F2933"/>
                </a:solidFill>
              </a:rPr>
              <a:t>All five modules implemented in plain Python (standard library only) and published on GitHub.</a:t>
            </a:r>
          </a:p>
          <a:p>
            <a:pPr marL="469900" marR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700" b="0" dirty="0">
                <a:solidFill>
                  <a:srgbClr val="1F2933"/>
                </a:solidFill>
              </a:rPr>
              <a:t>State identity fixed (crates + keeper region): Storeroom BFS fell from 62,560 to 9,952 positions.</a:t>
            </a:r>
          </a:p>
          <a:p>
            <a:pPr marL="469900" marR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700" b="0" dirty="0">
                <a:solidFill>
                  <a:srgbClr val="1F2933"/>
                </a:solidFill>
              </a:rPr>
              <a:t>Fourth rung added: A* + Deadlock + Matching (Hungarian assignment heuristic).</a:t>
            </a:r>
          </a:p>
          <a:p>
            <a:pPr marL="469900" marR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700" b="0" dirty="0">
                <a:solidFill>
                  <a:srgbClr val="1F2933"/>
                </a:solidFill>
              </a:rPr>
              <a:t>Desktop pygame window replaced by a web app; Pyodide runs the same Python in the browser.</a:t>
            </a:r>
          </a:p>
          <a:p>
            <a:pPr marL="469900" marR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700" b="0" dirty="0">
                <a:solidFill>
                  <a:srgbClr val="1F2933"/>
                </a:solidFill>
              </a:rPr>
              <a:t>Level set grown to 34 levels in four packs, with a level editor and a level generator.</a:t>
            </a:r>
          </a:p>
          <a:p>
            <a:pPr marL="469900" marR="0" indent="-469900" algn="l" defTabSz="914400" rtl="0" eaLnBrk="0" fontAlgn="base" latinLnBrk="0" hangingPunct="0">
              <a:spcBef>
                <a:spcPts val="9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700" b="0" dirty="0">
                <a:solidFill>
                  <a:srgbClr val="1F2933"/>
                </a:solidFill>
              </a:rPr>
              <a:t>Full benchmark run: 4 algorithms × 34 levels, plus 59 passing unit and fuzz tests.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726679" y="1783080"/>
            <a:ext cx="1828800" cy="11887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3000" b="1">
                <a:solidFill>
                  <a:srgbClr val="CC0000"/>
                </a:solidFill>
              </a:rPr>
              <a:t>5 / 5</a:t>
            </a:r>
          </a:p>
          <a:p>
            <a:pPr algn="ctr"/>
            <a:r>
              <a:rPr sz="1200" b="0">
                <a:solidFill>
                  <a:srgbClr val="44505C"/>
                </a:solidFill>
              </a:rPr>
              <a:t>modules implemented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783080"/>
            <a:ext cx="1828800" cy="11887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3000" b="1">
                <a:solidFill>
                  <a:srgbClr val="CC0000"/>
                </a:solidFill>
              </a:rPr>
              <a:t>4</a:t>
            </a:r>
          </a:p>
          <a:p>
            <a:pPr algn="ctr"/>
            <a:r>
              <a:rPr sz="1200" b="0">
                <a:solidFill>
                  <a:srgbClr val="44505C"/>
                </a:solidFill>
              </a:rPr>
              <a:t>search algorithms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3108960"/>
            <a:ext cx="1828800" cy="11887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3000" b="1">
                <a:solidFill>
                  <a:srgbClr val="CC0000"/>
                </a:solidFill>
              </a:rPr>
              <a:t>34</a:t>
            </a:r>
          </a:p>
          <a:p>
            <a:pPr algn="ctr"/>
            <a:r>
              <a:rPr sz="1200" b="0">
                <a:solidFill>
                  <a:srgbClr val="44505C"/>
                </a:solidFill>
              </a:rPr>
              <a:t>levels in 4 packs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3108960"/>
            <a:ext cx="1828800" cy="11887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3000" b="1">
                <a:solidFill>
                  <a:srgbClr val="CC0000"/>
                </a:solidFill>
              </a:rPr>
              <a:t>59</a:t>
            </a:r>
          </a:p>
          <a:p>
            <a:pPr algn="ctr"/>
            <a:r>
              <a:rPr sz="1200" b="0">
                <a:solidFill>
                  <a:srgbClr val="44505C"/>
                </a:solidFill>
              </a:rPr>
              <a:t>tests passing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4526280"/>
            <a:ext cx="3794760" cy="1463040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Current status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1C8553"/>
                </a:solidFill>
              </a:rPr>
              <a:t>Completed: </a:t>
            </a:r>
            <a:r>
              <a:rPr sz="1200" b="0">
                <a:solidFill>
                  <a:srgbClr val="1F2933"/>
                </a:solidFill>
              </a:rPr>
              <a:t>design, coding, testing, benchmark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B7791F"/>
                </a:solidFill>
              </a:rPr>
              <a:t>In progress: </a:t>
            </a:r>
            <a:r>
              <a:rPr sz="1200" b="0">
                <a:solidFill>
                  <a:srgbClr val="1F2933"/>
                </a:solidFill>
              </a:rPr>
              <a:t>final evaluation and report</a:t>
            </a:r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1752"/>
            <a:ext cx="10668000" cy="1216152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29797"/>
              </p:ext>
            </p:extLst>
          </p:nvPr>
        </p:nvGraphicFramePr>
        <p:xfrm>
          <a:off x="548640" y="178308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/>
                        <a:t>1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P. E. Hart, N. J. Nilsson, B. Raphael (1968)</a:t>
                      </a:r>
                    </a:p>
                  </a:txBody>
                  <a:tcPr marR="73152" marT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A Formal Basis for the Heuristic Determination of Minimum Cost Paths</a:t>
                      </a:r>
                    </a:p>
                  </a:txBody>
                  <a:tcPr marR="73152" marT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/>
                        <a:t>A* best-first search, f(n) = g(n) + h(n); proves optimality with an admissible heuristic</a:t>
                      </a:r>
                    </a:p>
                  </a:txBody>
                  <a:tcPr marR="73152" marT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Efficiency rests entirely on h; keeps every generated node in memory; no notion of irreversible dead ends</a:t>
                      </a:r>
                    </a:p>
                  </a:txBody>
                  <a:tcPr marR="73152" marT="54864" anchor="t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/>
                        <a:t>2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/>
                        <a:t>J. C. Culberson (1997)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Sokoban is PSPACE-complete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/>
                        <a:t>Formal complexity analysis of Sokoban by reduction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/>
                        <a:t>Theoretical only: offers no solving method, and shows blind search cannot scale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/>
                        <a:t>3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A. Junghanns, J. Schaeffer (2001)</a:t>
                      </a:r>
                    </a:p>
                  </a:txBody>
                  <a:tcPr marR="73152" marT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Sokoban: Enhancing General Single-Agent Search Methods Using Domain Knowledge</a:t>
                      </a:r>
                    </a:p>
                  </a:txBody>
                  <a:tcPr marR="73152" marT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/>
                        <a:t>IDA* with a minimum-matching lower bound, transposition table, deadlock tables, macro moves, relevance cuts</a:t>
                      </a:r>
                    </a:p>
                  </a:txBody>
                  <a:tcPr marR="73152" marT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Heavily hand-tuned; relevance cuts can lose optimality; still leaves part of the 90-level test suite unsolved</a:t>
                      </a:r>
                    </a:p>
                  </a:txBody>
                  <a:tcPr marR="73152" marT="54864" anchor="t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1752"/>
            <a:ext cx="10668000" cy="1216152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234421"/>
              </p:ext>
            </p:extLst>
          </p:nvPr>
        </p:nvGraphicFramePr>
        <p:xfrm>
          <a:off x="548640" y="17830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500"/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4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A. Botea, M. Müller, J. Schaeffer (2002)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Using Abstraction for Planning in Sokoban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Abstraction planning: the maze is split into rooms and tunnels and solved as smaller sub-problems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No optimality guarantee; the gain depends on maze-like structure and is small in open rooms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300" dirty="0"/>
                        <a:t>5</a:t>
                      </a:r>
                      <a:endParaRPr sz="18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A. G. Pereira, M. Ritt, L. S. Buriol (2015)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Optimal Sokoban Solving Using Pattern Databases with Specific Domain Knowledge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A* with instance-dependent pattern databases, intermediate-goal decomposition and domain tie-breaking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300" dirty="0"/>
                        <a:t>Costly per-instance precomputation and memory; complex to build; does not explain its search to a user</a:t>
                      </a:r>
                    </a:p>
                  </a:txBody>
                  <a:tcPr marR="73152" marT="54864" anchor="t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916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195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Research Gap and Project Response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4FE7899-24E6-401C-9D46-CFAA1E24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783080"/>
            <a:ext cx="5257800" cy="1965960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28016" rIns="182880" rtlCol="0" anchor="t" bIns="91440" wrap="square">
            <a:noAutofit/>
          </a:bodyPr>
          <a:lstStyle/>
          <a:p>
            <a:pPr marL="0" indent="0" algn="l">
              <a:buNone/>
            </a:pPr>
            <a:r>
              <a:rPr lang="en-IN" sz="1600" b="1" dirty="0">
                <a:solidFill>
                  <a:srgbClr val="193054"/>
                </a:solidFill>
                <a:latin typeface="+mn-lt"/>
              </a:rPr>
              <a:t>1. Literature findings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en-IN" sz="1300" b="0" dirty="0">
                <a:solidFill>
                  <a:srgbClr val="1F2933"/>
                </a:solidFill>
                <a:latin typeface="+mn-lt"/>
              </a:rPr>
              <a:t>A* is optimal with an admissible heuristic [1]; Sokoban is PSPACE-complete [2]; strong solvers rely on domain knowledge: deadlock tables, matching bounds, abstraction, pattern databases [3]–[5].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F66DAF5-0B91-4093-BD89-5CE7615E431A}"/>
              </a:ext>
            </a:extLst>
          </p:cNvPr>
          <p:cNvSpPr/>
          <p:nvPr/>
        </p:nvSpPr>
        <p:spPr>
          <a:xfrm>
            <a:off x="6245352" y="1783080"/>
            <a:ext cx="5257800" cy="196596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28016" rIns="182880" rtlCol="0" anchor="t" bIns="91440" wrap="square">
            <a:noAutofit/>
          </a:bodyPr>
          <a:lstStyle/>
          <a:p>
            <a:pPr marL="0" indent="0" algn="l">
              <a:buNone/>
            </a:pPr>
            <a:r>
              <a:rPr lang="en-IN" sz="1600" b="1" dirty="0">
                <a:solidFill>
                  <a:srgbClr val="193054"/>
                </a:solidFill>
                <a:latin typeface="+mn-lt"/>
              </a:rPr>
              <a:t>2. Limitations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en-IN" sz="1300" b="0" dirty="0">
                <a:solidFill>
                  <a:srgbClr val="1F2933"/>
                </a:solidFill>
                <a:latin typeface="+mn-lt"/>
              </a:rPr>
              <a:t>Strong solvers are heavily engineered and opaque; some trade optimality for speed; none isolates what each idea contributes on identical levels.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85599EEB-0FFB-4C94-AB5E-41D5A47FE9B6}"/>
              </a:ext>
            </a:extLst>
          </p:cNvPr>
          <p:cNvSpPr/>
          <p:nvPr/>
        </p:nvSpPr>
        <p:spPr>
          <a:xfrm>
            <a:off x="758952" y="3931920"/>
            <a:ext cx="5257800" cy="1965960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28016" rIns="182880" rtlCol="0" anchor="t" bIns="91440" wrap="square">
            <a:noAutofit/>
          </a:bodyPr>
          <a:lstStyle/>
          <a:p>
            <a:pPr marL="0" indent="0" algn="l">
              <a:buNone/>
            </a:pPr>
            <a:r>
              <a:rPr lang="en-IN" sz="1600" b="1" dirty="0">
                <a:solidFill>
                  <a:srgbClr val="193054"/>
                </a:solidFill>
                <a:latin typeface="+mn-lt"/>
              </a:rPr>
              <a:t>3. Refined research gap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en-IN" sz="1300" b="0" dirty="0">
                <a:solidFill>
                  <a:srgbClr val="1F2933"/>
                </a:solidFill>
                <a:latin typeface="+mn-lt"/>
              </a:rPr>
              <a:t>A compact, explainable system that measures the value of each classical idea (heuristic, deadlock knowledge, matching) under one cost model, and lets a learner watch it work.</a:t>
            </a:r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C31116F3-B074-468F-82D6-F9C068878439}"/>
              </a:ext>
            </a:extLst>
          </p:cNvPr>
          <p:cNvSpPr/>
          <p:nvPr/>
        </p:nvSpPr>
        <p:spPr>
          <a:xfrm>
            <a:off x="6245352" y="3931920"/>
            <a:ext cx="5257800" cy="196596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28016" rIns="182880" rtlCol="0" anchor="t" bIns="91440" wrap="square">
            <a:noAutofit/>
          </a:bodyPr>
          <a:lstStyle/>
          <a:p>
            <a:pPr marL="0" indent="0" algn="l">
              <a:buNone/>
            </a:pPr>
            <a:r>
              <a:rPr lang="en-IN" sz="1600" b="1" dirty="0">
                <a:solidFill>
                  <a:srgbClr val="193054"/>
                </a:solidFill>
                <a:latin typeface="+mn-lt"/>
              </a:rPr>
              <a:t>4. Progress toward the solution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en-IN" sz="1300" b="0" dirty="0">
                <a:solidFill>
                  <a:srgbClr val="1F2933"/>
                </a:solidFill>
                <a:latin typeface="+mn-lt"/>
              </a:rPr>
              <a:t>Built: a four-rung ladder with one push-cost model; every pruned push names its rule; a live race and benchmark lab report positions, time, pushes and moves vs BFS.</a:t>
            </a:r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System Architecture / Proposed 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6172200" cy="868680"/>
          </a:xfrm>
          <a:prstGeom prst="roundRect">
            <a:avLst>
              <a:gd name="adj" fmla="val 12000"/>
            </a:avLst>
          </a:prstGeom>
          <a:solidFill>
            <a:srgbClr val="19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Web interface — HTML5 · CSS3 · JavaScript</a:t>
            </a:r>
          </a:p>
          <a:p>
            <a:pPr algn="ctr"/>
            <a:r>
              <a:rPr sz="1100" b="0">
                <a:solidFill>
                  <a:srgbClr val="DCE6F2"/>
                </a:solidFill>
              </a:rPr>
              <a:t>Play · Race · Lab · Build · Guide  |  canvas board, overlays, graphs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651760"/>
            <a:ext cx="0" cy="365760"/>
          </a:xfrm>
          <a:prstGeom prst="line">
            <a:avLst/>
          </a:prstGeom>
          <a:ln w="25400">
            <a:solidFill>
              <a:srgbClr val="CC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331720" y="2679192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50" b="0">
                <a:solidFill>
                  <a:srgbClr val="44505C"/>
                </a:solidFill>
              </a:rPr>
              <a:t>JSON calls through Pyodide (CPython compiled to WebAssembly)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3017520"/>
            <a:ext cx="6172200" cy="685800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350" b="1">
                <a:solidFill>
                  <a:srgbClr val="193054"/>
                </a:solidFill>
              </a:rPr>
              <a:t>Interface bridge — bridge.py  (M3)</a:t>
            </a:r>
          </a:p>
          <a:p>
            <a:pPr algn="ctr"/>
            <a:r>
              <a:rPr sz="1050" b="0">
                <a:solidFill>
                  <a:srgbClr val="44505C"/>
                </a:solidFill>
              </a:rPr>
              <a:t>game session · timeline (undo, redo, replay) · time-sliced search jobs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4069080"/>
            <a:ext cx="1905000" cy="86868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300" b="1">
                <a:solidFill>
                  <a:srgbClr val="193054"/>
                </a:solidFill>
              </a:rPr>
              <a:t>Solvers (M2)</a:t>
            </a:r>
          </a:p>
          <a:p>
            <a:pPr algn="ctr"/>
            <a:r>
              <a:rPr sz="1050" b="0">
                <a:solidFill>
                  <a:srgbClr val="44505C"/>
                </a:solidFill>
              </a:rPr>
              <a:t>BFS · A* · deadlock rules · matching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11452" y="3703320"/>
            <a:ext cx="0" cy="3657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711452" y="4937760"/>
            <a:ext cx="0" cy="3657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92552" y="4069080"/>
            <a:ext cx="1905000" cy="86868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300" b="1">
                <a:solidFill>
                  <a:srgbClr val="193054"/>
                </a:solidFill>
              </a:rPr>
              <a:t>Puzzles (M4)</a:t>
            </a:r>
          </a:p>
          <a:p>
            <a:pPr algn="ctr"/>
            <a:r>
              <a:rPr sz="1050" b="0">
                <a:solidFill>
                  <a:srgbClr val="44505C"/>
                </a:solidFill>
              </a:rPr>
              <a:t>34 levels · reverse-play generator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5052" y="3703320"/>
            <a:ext cx="0" cy="3657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45052" y="4937760"/>
            <a:ext cx="0" cy="3657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6152" y="4069080"/>
            <a:ext cx="1905000" cy="86868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300" b="1">
                <a:solidFill>
                  <a:srgbClr val="193054"/>
                </a:solidFill>
              </a:rPr>
              <a:t>Analytics (M5)</a:t>
            </a:r>
          </a:p>
          <a:p>
            <a:pPr algn="ctr"/>
            <a:r>
              <a:rPr sz="1050" b="0">
                <a:solidFill>
                  <a:srgbClr val="44505C"/>
                </a:solidFill>
              </a:rPr>
              <a:t>benchmark · CSV / Markdown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78652" y="3703320"/>
            <a:ext cx="0" cy="3657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78652" y="4937760"/>
            <a:ext cx="0" cy="3657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8952" y="5303520"/>
            <a:ext cx="6172200" cy="685800"/>
          </a:xfrm>
          <a:prstGeom prst="roundRect">
            <a:avLst>
              <a:gd name="adj" fmla="val 12000"/>
            </a:avLst>
          </a:prstGeom>
          <a:solidFill>
            <a:srgbClr val="E6EAF0"/>
          </a:solidFill>
          <a:ln w="12700">
            <a:solidFill>
              <a:srgbClr val="9AA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350" b="1">
                <a:solidFill>
                  <a:srgbClr val="193054"/>
                </a:solidFill>
              </a:rPr>
              <a:t>Engine (M1)</a:t>
            </a:r>
          </a:p>
          <a:p>
            <a:pPr algn="ctr"/>
            <a:r>
              <a:rPr sz="1050" b="0">
                <a:solidFill>
                  <a:srgbClr val="44505C"/>
                </a:solidFill>
              </a:rPr>
              <a:t>level parsing and validation · push-level state space · LURD moves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1737360"/>
            <a:ext cx="4297680" cy="42976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500" b="1">
                <a:solidFill>
                  <a:srgbClr val="CC0000"/>
                </a:solidFill>
              </a:rPr>
              <a:t>How the components interact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1F2933"/>
                </a:solidFill>
              </a:rPr>
              <a:t>The page sends every action as a JSON call; the bridge answers with the new position, search progress or results.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1F2933"/>
                </a:solidFill>
              </a:rPr>
              <a:t>Searches run in short time slices, so the board keeps animating while BFS works and four searches can race.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1F2933"/>
                </a:solidFill>
              </a:rPr>
              <a:t>Dependencies point one way: the engine knows nothing about solvers or the page.</a:t>
            </a:r>
          </a:p>
          <a:p>
            <a:pPr algn="l">
              <a:spcBef>
                <a:spcPts val="1600"/>
              </a:spcBef>
            </a:pPr>
            <a:r>
              <a:rPr sz="1500" b="1">
                <a:solidFill>
                  <a:srgbClr val="CC0000"/>
                </a:solidFill>
              </a:rPr>
              <a:t>Improvements over the existing system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1F2933"/>
                </a:solidFill>
              </a:rPr>
              <a:t>Goal-directed search instead of trial and error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1F2933"/>
                </a:solidFill>
              </a:rPr>
              <a:t>Hopeless pushes pruned, and the rule is named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1F2933"/>
                </a:solidFill>
              </a:rPr>
              <a:t>Every result measured against the BFS baseline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1F2933"/>
                </a:solidFill>
              </a:rPr>
              <a:t>One Python code base for CLI, tests and browser</a:t>
            </a:r>
          </a:p>
        </p:txBody>
      </p:sp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DFD Diagram – Level 0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10698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500" b="1">
                <a:solidFill>
                  <a:srgbClr val="CC0000"/>
                </a:solidFill>
              </a:rPr>
              <a:t>Level 0 – context diagram: </a:t>
            </a:r>
            <a:r>
              <a:rPr sz="1500" b="0">
                <a:solidFill>
                  <a:srgbClr val="1F2933"/>
                </a:solidFill>
              </a:rPr>
              <a:t>the whole system as one process and the people who exchange data with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200400"/>
            <a:ext cx="1920240" cy="1097280"/>
          </a:xfrm>
          <a:prstGeom prst="rect">
            <a:avLst/>
          </a:prstGeom>
          <a:solidFill>
            <a:srgbClr val="19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Player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(student / user)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3200400"/>
            <a:ext cx="1920240" cy="1097280"/>
          </a:xfrm>
          <a:prstGeom prst="rect">
            <a:avLst/>
          </a:prstGeom>
          <a:solidFill>
            <a:srgbClr val="19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Evaluator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(reviewer / tester)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0" y="2606040"/>
            <a:ext cx="3108960" cy="2286000"/>
          </a:xfrm>
          <a:prstGeom prst="ellipse">
            <a:avLst/>
          </a:prstGeom>
          <a:solidFill>
            <a:srgbClr val="EBF2FA"/>
          </a:solidFill>
          <a:ln w="19050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4864" bIns="54864">
            <a:noAutofit/>
          </a:bodyPr>
          <a:lstStyle/>
          <a:p>
            <a:pPr algn="ctr"/>
            <a:r>
              <a:rPr sz="1500" b="1">
                <a:solidFill>
                  <a:srgbClr val="CC0000"/>
                </a:solidFill>
              </a:rPr>
              <a:t>0</a:t>
            </a:r>
          </a:p>
          <a:p>
            <a:pPr algn="ctr"/>
            <a:r>
              <a:rPr sz="1700" b="1">
                <a:solidFill>
                  <a:srgbClr val="193054"/>
                </a:solidFill>
              </a:rPr>
              <a:t>Sokoban Search Lab</a:t>
            </a:r>
          </a:p>
          <a:p>
            <a:pPr algn="ctr"/>
            <a:r>
              <a:rPr sz="1100" b="0">
                <a:solidFill>
                  <a:srgbClr val="44505C"/>
                </a:solidFill>
              </a:rPr>
              <a:t>AI solver + interactive web lab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697480" y="3291840"/>
            <a:ext cx="2002536" cy="1371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20340" y="2825496"/>
            <a:ext cx="1874519" cy="384048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000" b="0">
                <a:solidFill>
                  <a:srgbClr val="44505C"/>
                </a:solidFill>
              </a:rPr>
              <a:t>level choice, moves, algorithm, custom level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2697480" y="4069080"/>
            <a:ext cx="2002536" cy="1371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20340" y="4288536"/>
            <a:ext cx="1874519" cy="384048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000" b="0">
                <a:solidFill>
                  <a:srgbClr val="44505C"/>
                </a:solidFill>
              </a:rPr>
              <a:t>board, hints, deadlock warnings, solution animation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7552944" y="3291840"/>
            <a:ext cx="1956816" cy="1371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39812" y="2825496"/>
            <a:ext cx="1874519" cy="384048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000" b="0">
                <a:solidFill>
                  <a:srgbClr val="44505C"/>
                </a:solidFill>
              </a:rPr>
              <a:t>benchmark request: level pack, time / node budget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552944" y="4069080"/>
            <a:ext cx="1956816" cy="13716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39812" y="4288536"/>
            <a:ext cx="1874519" cy="384048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000" b="0">
                <a:solidFill>
                  <a:srgbClr val="44505C"/>
                </a:solidFill>
              </a:rPr>
              <a:t>results table, CSV and Markdown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1">
                <a:solidFill>
                  <a:srgbClr val="44505C"/>
                </a:solidFill>
              </a:rPr>
              <a:t>Notation: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5559552"/>
            <a:ext cx="384048" cy="219456"/>
          </a:xfrm>
          <a:prstGeom prst="rect">
            <a:avLst/>
          </a:prstGeom>
          <a:solidFill>
            <a:srgbClr val="19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21408" y="553212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0">
                <a:solidFill>
                  <a:srgbClr val="44505C"/>
                </a:solidFill>
              </a:rPr>
              <a:t>external entity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5559552"/>
            <a:ext cx="384048" cy="219456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50208" y="5532120"/>
            <a:ext cx="8229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0">
                <a:solidFill>
                  <a:srgbClr val="44505C"/>
                </a:solidFill>
              </a:rPr>
              <a:t>process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5559552"/>
            <a:ext cx="502920" cy="21945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800600" y="5559552"/>
            <a:ext cx="50292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00600" y="5779008"/>
            <a:ext cx="50292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800600" y="5559552"/>
            <a:ext cx="0" cy="219456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951476" y="5559552"/>
            <a:ext cx="0" cy="219456"/>
          </a:xfrm>
          <a:prstGeom prst="line">
            <a:avLst/>
          </a:prstGeom>
          <a:ln w="12700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800600" y="5559552"/>
            <a:ext cx="15087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67527" y="553212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0">
                <a:solidFill>
                  <a:srgbClr val="44505C"/>
                </a:solidFill>
              </a:rPr>
              <a:t>data store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355079" y="5669280"/>
            <a:ext cx="457200" cy="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532120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0">
                <a:solidFill>
                  <a:srgbClr val="44505C"/>
                </a:solidFill>
              </a:rPr>
              <a:t>data flow</a:t>
            </a:r>
          </a:p>
        </p:txBody>
      </p:sp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DFD Diagram – Level 1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1">
                <a:solidFill>
                  <a:srgbClr val="CC0000"/>
                </a:solidFill>
              </a:rPr>
              <a:t>Level 1: </a:t>
            </a:r>
            <a:r>
              <a:rPr sz="1400" b="0">
                <a:solidFill>
                  <a:srgbClr val="1F2933"/>
                </a:solidFill>
              </a:rPr>
              <a:t>process 0 broken into six processes and three data stores.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364991"/>
            <a:ext cx="1280160" cy="768096"/>
          </a:xfrm>
          <a:prstGeom prst="rect">
            <a:avLst/>
          </a:prstGeom>
          <a:solidFill>
            <a:srgbClr val="19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49840" y="3364991"/>
            <a:ext cx="1371600" cy="768096"/>
          </a:xfrm>
          <a:prstGeom prst="rect">
            <a:avLst/>
          </a:prstGeom>
          <a:solidFill>
            <a:srgbClr val="19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Evaluator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14900" y="1965960"/>
            <a:ext cx="1874519" cy="822960"/>
          </a:xfrm>
          <a:prstGeom prst="roundRect">
            <a:avLst>
              <a:gd name="adj" fmla="val 18000"/>
            </a:avLst>
          </a:prstGeom>
          <a:solidFill>
            <a:srgbClr val="EBF2FA"/>
          </a:solidFill>
          <a:ln w="15875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1.0</a:t>
            </a:r>
          </a:p>
          <a:p>
            <a:pPr algn="ctr"/>
            <a:r>
              <a:rPr sz="1300" b="1">
                <a:solidFill>
                  <a:srgbClr val="193054"/>
                </a:solidFill>
              </a:rPr>
              <a:t>Load &amp; Validate Level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14900" y="3337559"/>
            <a:ext cx="1874519" cy="822960"/>
          </a:xfrm>
          <a:prstGeom prst="roundRect">
            <a:avLst>
              <a:gd name="adj" fmla="val 18000"/>
            </a:avLst>
          </a:prstGeom>
          <a:solidFill>
            <a:srgbClr val="EBF2FA"/>
          </a:solidFill>
          <a:ln w="15875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2.0</a:t>
            </a:r>
          </a:p>
          <a:p>
            <a:pPr algn="ctr"/>
            <a:r>
              <a:rPr sz="1300" b="1">
                <a:solidFill>
                  <a:srgbClr val="193054"/>
                </a:solidFill>
              </a:rPr>
              <a:t>Play &amp; Track Moves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5219" y="3337559"/>
            <a:ext cx="1874519" cy="822960"/>
          </a:xfrm>
          <a:prstGeom prst="roundRect">
            <a:avLst>
              <a:gd name="adj" fmla="val 18000"/>
            </a:avLst>
          </a:prstGeom>
          <a:solidFill>
            <a:srgbClr val="EBF2FA"/>
          </a:solidFill>
          <a:ln w="15875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3.0</a:t>
            </a:r>
          </a:p>
          <a:p>
            <a:pPr algn="ctr"/>
            <a:r>
              <a:rPr sz="1300" b="1">
                <a:solidFill>
                  <a:srgbClr val="193054"/>
                </a:solidFill>
              </a:rPr>
              <a:t>Detect Deadlocks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14900" y="4709159"/>
            <a:ext cx="1874519" cy="822960"/>
          </a:xfrm>
          <a:prstGeom prst="roundRect">
            <a:avLst>
              <a:gd name="adj" fmla="val 18000"/>
            </a:avLst>
          </a:prstGeom>
          <a:solidFill>
            <a:srgbClr val="EBF2FA"/>
          </a:solidFill>
          <a:ln w="15875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4.0</a:t>
            </a:r>
          </a:p>
          <a:p>
            <a:pPr algn="ctr"/>
            <a:r>
              <a:rPr sz="1300" b="1">
                <a:solidFill>
                  <a:srgbClr val="193054"/>
                </a:solidFill>
              </a:rPr>
              <a:t>Search Solution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5219" y="4709159"/>
            <a:ext cx="1874519" cy="822960"/>
          </a:xfrm>
          <a:prstGeom prst="roundRect">
            <a:avLst>
              <a:gd name="adj" fmla="val 18000"/>
            </a:avLst>
          </a:prstGeom>
          <a:solidFill>
            <a:srgbClr val="EBF2FA"/>
          </a:solidFill>
          <a:ln w="15875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5.0</a:t>
            </a:r>
          </a:p>
          <a:p>
            <a:pPr algn="ctr"/>
            <a:r>
              <a:rPr sz="1300" b="1">
                <a:solidFill>
                  <a:srgbClr val="193054"/>
                </a:solidFill>
              </a:rPr>
              <a:t>Benchmark &amp; Report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54580" y="4709159"/>
            <a:ext cx="1874519" cy="822960"/>
          </a:xfrm>
          <a:prstGeom prst="roundRect">
            <a:avLst>
              <a:gd name="adj" fmla="val 18000"/>
            </a:avLst>
          </a:prstGeom>
          <a:solidFill>
            <a:srgbClr val="EBF2FA"/>
          </a:solidFill>
          <a:ln w="15875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6.0</a:t>
            </a:r>
          </a:p>
          <a:p>
            <a:pPr algn="ctr"/>
            <a:r>
              <a:rPr sz="1300" b="1">
                <a:solidFill>
                  <a:srgbClr val="193054"/>
                </a:solidFill>
              </a:rPr>
              <a:t>Render &amp; Animate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148840"/>
            <a:ext cx="2011680" cy="457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286000" y="2148840"/>
            <a:ext cx="201168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86000" y="2606040"/>
            <a:ext cx="201168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86000" y="2148840"/>
            <a:ext cx="0" cy="45720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70048" y="2148840"/>
            <a:ext cx="0" cy="457200"/>
          </a:xfrm>
          <a:prstGeom prst="line">
            <a:avLst/>
          </a:prstGeom>
          <a:ln w="12700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00" y="214884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D2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5768" y="2148840"/>
            <a:ext cx="1554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1100" b="0">
                <a:solidFill>
                  <a:srgbClr val="1F2933"/>
                </a:solidFill>
              </a:rPr>
              <a:t>Session Timeline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0" y="2148840"/>
            <a:ext cx="1737360" cy="457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966960" y="2148840"/>
            <a:ext cx="173736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966960" y="2606040"/>
            <a:ext cx="173736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966960" y="2148840"/>
            <a:ext cx="0" cy="45720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351008" y="2148840"/>
            <a:ext cx="0" cy="457200"/>
          </a:xfrm>
          <a:prstGeom prst="line">
            <a:avLst/>
          </a:prstGeom>
          <a:ln w="12700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966960" y="214884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D1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96728" y="2148840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1100" b="0">
                <a:solidFill>
                  <a:srgbClr val="1F2933"/>
                </a:solidFill>
              </a:rPr>
              <a:t>Level Library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60" y="4892040"/>
            <a:ext cx="1737360" cy="457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9966960" y="4892040"/>
            <a:ext cx="173736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966960" y="5349240"/>
            <a:ext cx="173736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966960" y="4892040"/>
            <a:ext cx="0" cy="45720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351008" y="4892040"/>
            <a:ext cx="0" cy="457200"/>
          </a:xfrm>
          <a:prstGeom prst="line">
            <a:avLst/>
          </a:prstGeom>
          <a:ln w="12700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966960" y="489204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D3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96728" y="4892040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1100" b="0">
                <a:solidFill>
                  <a:srgbClr val="1F2933"/>
                </a:solidFill>
              </a:rPr>
              <a:t>Benchmark Results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783080" y="3749039"/>
            <a:ext cx="3131820" cy="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205989" y="3447287"/>
            <a:ext cx="228600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900" b="0">
                <a:solidFill>
                  <a:srgbClr val="44505C"/>
                </a:solidFill>
              </a:rPr>
              <a:t>level choice, moves, requests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1143000" y="4133087"/>
            <a:ext cx="1211580" cy="896113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34340" y="4663440"/>
            <a:ext cx="1600200" cy="365760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900" b="0">
                <a:solidFill>
                  <a:srgbClr val="44505C"/>
                </a:solidFill>
              </a:rPr>
              <a:t>board, overlays, animation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789420" y="2377440"/>
            <a:ext cx="3177540" cy="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692390" y="2075688"/>
            <a:ext cx="137160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900" b="0">
                <a:solidFill>
                  <a:srgbClr val="44505C"/>
                </a:solidFill>
              </a:rPr>
              <a:t>level text (XSB)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852160" y="2788920"/>
            <a:ext cx="0" cy="548639"/>
          </a:xfrm>
          <a:prstGeom prst="line">
            <a:avLst/>
          </a:prstGeom>
          <a:ln w="19050">
            <a:solidFill>
              <a:srgbClr val="44505C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61888" y="2944368"/>
            <a:ext cx="146304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900" b="0">
                <a:solidFill>
                  <a:srgbClr val="44505C"/>
                </a:solidFill>
              </a:rPr>
              <a:t>level id / Level, start</a:t>
            </a:r>
          </a:p>
        </p:txBody>
      </p:sp>
      <p:cxnSp>
        <p:nvCxnSpPr>
          <p:cNvPr id="45" name="Connector 44"/>
          <p:cNvCxnSpPr/>
          <p:nvPr/>
        </p:nvCxnSpPr>
        <p:spPr>
          <a:xfrm flipH="1" flipV="1">
            <a:off x="3840480" y="2606040"/>
            <a:ext cx="1074420" cy="868680"/>
          </a:xfrm>
          <a:prstGeom prst="line">
            <a:avLst/>
          </a:prstGeom>
          <a:ln w="19050">
            <a:solidFill>
              <a:srgbClr val="44505C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40380" y="2944368"/>
            <a:ext cx="114300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900" b="0">
                <a:solidFill>
                  <a:srgbClr val="44505C"/>
                </a:solidFill>
              </a:rPr>
              <a:t>positions, moves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789420" y="3749039"/>
            <a:ext cx="685799" cy="0"/>
          </a:xfrm>
          <a:prstGeom prst="line">
            <a:avLst/>
          </a:prstGeom>
          <a:ln w="19050">
            <a:solidFill>
              <a:srgbClr val="44505C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803136" y="3282696"/>
            <a:ext cx="658368" cy="347472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850" b="0">
                <a:solidFill>
                  <a:srgbClr val="44505C"/>
                </a:solidFill>
              </a:rPr>
              <a:t>position /</a:t>
            </a:r>
          </a:p>
          <a:p>
            <a:pPr algn="ctr"/>
            <a:r>
              <a:rPr sz="850" b="0">
                <a:solidFill>
                  <a:srgbClr val="44505C"/>
                </a:solidFill>
              </a:rPr>
              <a:t>rule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852160" y="4160520"/>
            <a:ext cx="0" cy="548639"/>
          </a:xfrm>
          <a:prstGeom prst="line">
            <a:avLst/>
          </a:prstGeom>
          <a:ln w="19050">
            <a:solidFill>
              <a:srgbClr val="44505C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056632" y="4279391"/>
            <a:ext cx="7315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/>
            <a:r>
              <a:rPr sz="850" b="0">
                <a:solidFill>
                  <a:srgbClr val="44505C"/>
                </a:solidFill>
              </a:rPr>
              <a:t>position /</a:t>
            </a:r>
          </a:p>
          <a:p>
            <a:pPr algn="r"/>
            <a:r>
              <a:rPr sz="850" b="0">
                <a:solidFill>
                  <a:srgbClr val="44505C"/>
                </a:solidFill>
              </a:rPr>
              <a:t>solution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6537960" y="4160520"/>
            <a:ext cx="1325880" cy="548639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219188" y="4425696"/>
            <a:ext cx="105156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900" b="0">
                <a:solidFill>
                  <a:srgbClr val="44505C"/>
                </a:solidFill>
              </a:rPr>
              <a:t>dead-square map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4229100" y="5120640"/>
            <a:ext cx="685800" cy="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251960" y="5175503"/>
            <a:ext cx="640080" cy="347472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850" b="0">
                <a:solidFill>
                  <a:srgbClr val="44505C"/>
                </a:solidFill>
              </a:rPr>
              <a:t>search</a:t>
            </a:r>
          </a:p>
          <a:p>
            <a:pPr algn="ctr"/>
            <a:r>
              <a:rPr sz="850" b="0">
                <a:solidFill>
                  <a:srgbClr val="44505C"/>
                </a:solidFill>
              </a:rPr>
              <a:t>trace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3840480" y="4160520"/>
            <a:ext cx="1280160" cy="548639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680460" y="4224528"/>
            <a:ext cx="77724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900" b="0">
                <a:solidFill>
                  <a:srgbClr val="44505C"/>
                </a:solidFill>
              </a:rPr>
              <a:t>view state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89420" y="5120640"/>
            <a:ext cx="685799" cy="0"/>
          </a:xfrm>
          <a:prstGeom prst="line">
            <a:avLst/>
          </a:prstGeom>
          <a:ln w="19050">
            <a:solidFill>
              <a:srgbClr val="44505C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803136" y="5175503"/>
            <a:ext cx="658368" cy="347472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850" b="0">
                <a:solidFill>
                  <a:srgbClr val="44505C"/>
                </a:solidFill>
              </a:rPr>
              <a:t>runs /</a:t>
            </a:r>
          </a:p>
          <a:p>
            <a:pPr algn="ctr"/>
            <a:r>
              <a:rPr sz="850" b="0">
                <a:solidFill>
                  <a:srgbClr val="44505C"/>
                </a:solidFill>
              </a:rPr>
              <a:t>results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8961119" y="2606040"/>
            <a:ext cx="1325881" cy="2103119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372600" y="2807208"/>
            <a:ext cx="54864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900" b="0">
                <a:solidFill>
                  <a:srgbClr val="44505C"/>
                </a:solidFill>
              </a:rPr>
              <a:t>levels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9349740" y="4133087"/>
            <a:ext cx="1120140" cy="804672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669780" y="4288536"/>
            <a:ext cx="86868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900" b="0">
                <a:solidFill>
                  <a:srgbClr val="44505C"/>
                </a:solidFill>
              </a:rPr>
              <a:t>pack, budget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349740" y="5212079"/>
            <a:ext cx="617220" cy="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1247119" y="4133087"/>
            <a:ext cx="0" cy="758953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1100815" y="4480559"/>
            <a:ext cx="566928" cy="365760"/>
          </a:xfrm>
          <a:prstGeom prst="rect">
            <a:avLst/>
          </a:prstGeom>
          <a:solidFill>
            <a:srgbClr val="FFFFFF"/>
          </a:solidFill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900" b="0">
                <a:solidFill>
                  <a:srgbClr val="44505C"/>
                </a:solidFill>
              </a:rPr>
              <a:t>CSV, MD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" y="5806440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1">
                <a:solidFill>
                  <a:srgbClr val="44505C"/>
                </a:solidFill>
              </a:rPr>
              <a:t>Notation: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91640" y="5833872"/>
            <a:ext cx="384048" cy="219456"/>
          </a:xfrm>
          <a:prstGeom prst="rect">
            <a:avLst/>
          </a:prstGeom>
          <a:solidFill>
            <a:srgbClr val="19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21408" y="580644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0">
                <a:solidFill>
                  <a:srgbClr val="44505C"/>
                </a:solidFill>
              </a:rPr>
              <a:t>external entity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520440" y="5833872"/>
            <a:ext cx="384048" cy="219456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50208" y="5806440"/>
            <a:ext cx="8229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0">
                <a:solidFill>
                  <a:srgbClr val="44505C"/>
                </a:solidFill>
              </a:rPr>
              <a:t>process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00600" y="5833872"/>
            <a:ext cx="502920" cy="21945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4800600" y="5833872"/>
            <a:ext cx="50292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800600" y="6053328"/>
            <a:ext cx="502920" cy="0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800600" y="5833872"/>
            <a:ext cx="0" cy="219456"/>
          </a:xfrm>
          <a:prstGeom prst="line">
            <a:avLst/>
          </a:prstGeom>
          <a:ln w="15875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951476" y="5833872"/>
            <a:ext cx="0" cy="219456"/>
          </a:xfrm>
          <a:prstGeom prst="line">
            <a:avLst/>
          </a:prstGeom>
          <a:ln w="12700">
            <a:solidFill>
              <a:srgbClr val="53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800600" y="5833872"/>
            <a:ext cx="15087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>
                <a:solidFill>
                  <a:srgbClr val="CC0000"/>
                </a:solidFill>
              </a:rPr>
              <a:t>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67527" y="580644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0">
                <a:solidFill>
                  <a:srgbClr val="44505C"/>
                </a:solidFill>
              </a:rPr>
              <a:t>data store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355079" y="5943600"/>
            <a:ext cx="457200" cy="0"/>
          </a:xfrm>
          <a:prstGeom prst="line">
            <a:avLst/>
          </a:prstGeom>
          <a:ln w="19050">
            <a:solidFill>
              <a:srgbClr val="445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858000" y="5806440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000" b="0">
                <a:solidFill>
                  <a:srgbClr val="44505C"/>
                </a:solidFill>
              </a:rPr>
              <a:t>data flow</a:t>
            </a:r>
          </a:p>
        </p:txBody>
      </p:sp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Methodology / Workflow Diagram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58952" y="1828800"/>
            <a:ext cx="2450592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195681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2024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C0000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0312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Level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468880"/>
            <a:ext cx="2212848" cy="886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XSB text: walls #, crates $, goals ., keeper @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36976" y="2615184"/>
            <a:ext cx="237744" cy="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02152" y="1828800"/>
            <a:ext cx="2450592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30168" y="195681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192024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C0000"/>
                </a:solidFill>
              </a:rPr>
              <a:t>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10312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Parse &amp; 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2468880"/>
            <a:ext cx="2212848" cy="886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One keeper, crates = goals, enclosed room, every crate reachable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0176" y="2615184"/>
            <a:ext cx="237744" cy="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45352" y="1828800"/>
            <a:ext cx="2450592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3368" y="195681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92024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C0000"/>
                </a:solidFill>
              </a:rPr>
              <a:t>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10312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Precompute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2468880"/>
            <a:ext cx="2212848" cy="886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Floor graph, dead-square map by reverse pulls, push-distance tables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23376" y="2615184"/>
            <a:ext cx="237744" cy="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88552" y="1828800"/>
            <a:ext cx="2450592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16568" y="195681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192024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C0000"/>
                </a:solidFill>
              </a:rPr>
              <a:t>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10312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Formulate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8" y="2468880"/>
            <a:ext cx="2212848" cy="886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State = crates + keeper region; action = push; cost = pushes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069080"/>
            <a:ext cx="2450592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86968" y="419709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16052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C0000"/>
                </a:solidFill>
              </a:rPr>
              <a:t>IMPLEMENTATION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34340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709160"/>
            <a:ext cx="2212848" cy="886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BFS → A* → A* + Deadlock → A* + Deadlock + Matching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236976" y="4855464"/>
            <a:ext cx="237744" cy="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502152" y="4069080"/>
            <a:ext cx="2450592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630168" y="419709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416052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C0000"/>
                </a:solidFill>
              </a:rPr>
              <a:t>IMPLEMENTATION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434340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Prune &amp; rebuild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0168" y="4709160"/>
            <a:ext cx="2212848" cy="886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Rules discard hopeless pushes; plan expanded to LURD moves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80176" y="4855464"/>
            <a:ext cx="237744" cy="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245352" y="4069080"/>
            <a:ext cx="2450592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73368" y="419709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16052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C0000"/>
                </a:solidFill>
              </a:rPr>
              <a:t>TESTING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434340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3368" y="4709160"/>
            <a:ext cx="2212848" cy="886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59 unit + fuzz tests: equal optimal pushes, sound pruning, admissible h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723376" y="4855464"/>
            <a:ext cx="237744" cy="0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988552" y="4069080"/>
            <a:ext cx="2450592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16568" y="419709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55480" y="416052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C0000"/>
                </a:solidFill>
              </a:rPr>
              <a:t>EVALUATION · OUTPUT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55480" y="434340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Evaluate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16568" y="4709160"/>
            <a:ext cx="2212848" cy="886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34 levels × 4 algorithms vs BFS; animation, race, benchmark lab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213848" y="3401568"/>
            <a:ext cx="0" cy="333756"/>
          </a:xfrm>
          <a:prstGeom prst="line">
            <a:avLst/>
          </a:prstGeom>
          <a:ln w="254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984248" y="3735324"/>
            <a:ext cx="8229600" cy="0"/>
          </a:xfrm>
          <a:prstGeom prst="line">
            <a:avLst/>
          </a:prstGeom>
          <a:ln w="254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84248" y="3735324"/>
            <a:ext cx="0" cy="333756"/>
          </a:xfrm>
          <a:prstGeom prst="line">
            <a:avLst/>
          </a:prstGeom>
          <a:ln w="25400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58952" y="5733288"/>
            <a:ext cx="10698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150" b="1">
                <a:solidFill>
                  <a:srgbClr val="44505C"/>
                </a:solidFill>
              </a:rPr>
              <a:t>Feedback loop: </a:t>
            </a:r>
            <a:r>
              <a:rPr sz="1150" b="0">
                <a:solidFill>
                  <a:srgbClr val="44505C"/>
                </a:solidFill>
              </a:rPr>
              <a:t>findings from testing and benchmarking go back into steps 4–6 (e.g., the state-identity and timing fixes after Review 1).</a:t>
            </a:r>
          </a:p>
        </p:txBody>
      </p:sp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Tools and Technologies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737360"/>
            <a:ext cx="10789920" cy="3611880"/>
          </a:xfrm>
        </p:spPr>
        <p:txBody>
          <a:bodyPr>
            <a:noAutofit/>
          </a:bodyPr>
          <a:lstStyle/>
          <a:p>
            <a:pPr marL="469900" marR="0" indent="-469900" algn="l" defTabSz="914400" rtl="0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800" b="1" dirty="0">
                <a:solidFill>
                  <a:srgbClr val="1F2933"/>
                </a:solidFill>
              </a:rPr>
              <a:t>Programming languages: </a:t>
            </a:r>
            <a:r>
              <a:rPr lang="en-IN" sz="1800" b="0" dirty="0">
                <a:solidFill>
                  <a:srgbClr val="1F2933"/>
                </a:solidFill>
              </a:rPr>
              <a:t>Python 3.9+ for the solver, tests and benchmark; JavaScript (ES6), HTML5 and CSS3 for the interface.</a:t>
            </a:r>
          </a:p>
          <a:p>
            <a:pPr marL="469900" marR="0" indent="-469900" algn="l" defTabSz="914400" rtl="0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800" b="1" dirty="0">
                <a:solidFill>
                  <a:srgbClr val="1F2933"/>
                </a:solidFill>
              </a:rPr>
              <a:t>Frameworks / libraries: </a:t>
            </a:r>
            <a:r>
              <a:rPr lang="en-IN" sz="1800" b="0" dirty="0">
                <a:solidFill>
                  <a:srgbClr val="1F2933"/>
                </a:solidFill>
              </a:rPr>
              <a:t>Python standard library only (heapq, collections, itertools, time, unittest); Pyodide; HTML5 Canvas and Web Audio.</a:t>
            </a:r>
          </a:p>
          <a:p>
            <a:pPr marL="469900" marR="0" indent="-469900" algn="l" defTabSz="914400" rtl="0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800" b="1" dirty="0">
                <a:solidFill>
                  <a:srgbClr val="1F2933"/>
                </a:solidFill>
              </a:rPr>
              <a:t>Software / hardware / dataset: </a:t>
            </a:r>
            <a:r>
              <a:rPr lang="en-IN" sz="1800" b="0" dirty="0">
                <a:solidFill>
                  <a:srgbClr val="1F2933"/>
                </a:solidFill>
              </a:rPr>
              <a:t>VS Code, Git, GitHub Pages; any CPU-only PC with a modern browser; 34 XSB levels in four packs.</a:t>
            </a:r>
          </a:p>
          <a:p>
            <a:pPr marL="469900" marR="0" indent="-469900" algn="l" defTabSz="914400" rtl="0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</a:pPr>
            <a:r>
              <a:rPr lang="en-IN" sz="1800" b="1" dirty="0">
                <a:solidFill>
                  <a:srgbClr val="1F2933"/>
                </a:solidFill>
              </a:rPr>
              <a:t>Why these tools: </a:t>
            </a:r>
            <a:r>
              <a:rPr lang="en-IN" sz="1800" b="0" dirty="0">
                <a:solidFill>
                  <a:srgbClr val="1F2933"/>
                </a:solidFill>
              </a:rPr>
              <a:t>no third-party packages, so the same code runs in the terminal, the tests and the browser; classical search needs no GPU.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58952" y="548640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193054"/>
                </a:solidFill>
              </a:rPr>
              <a:t>Python 3.9+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7712" y="5486400"/>
            <a:ext cx="1645920" cy="411480"/>
          </a:xfrm>
          <a:prstGeom prst="roundRect">
            <a:avLst>
              <a:gd name="adj" fmla="val 50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193054"/>
                </a:solidFill>
              </a:rPr>
              <a:t>JavaScript ES6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0791" y="5486400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193054"/>
                </a:solidFill>
              </a:rPr>
              <a:t>HTML5 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50992" y="548640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193054"/>
                </a:solidFill>
              </a:rPr>
              <a:t>Pyodide · WebAssembly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5486400"/>
            <a:ext cx="1097280" cy="411480"/>
          </a:xfrm>
          <a:prstGeom prst="roundRect">
            <a:avLst>
              <a:gd name="adj" fmla="val 50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193054"/>
                </a:solidFill>
              </a:rPr>
              <a:t>unittest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08592" y="548640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  <a:r>
              <a:rPr sz="1100" b="1">
                <a:solidFill>
                  <a:srgbClr val="193054"/>
                </a:solidFill>
              </a:rPr>
              <a:t>Git · GitHub Pages</a:t>
            </a:r>
          </a:p>
        </p:txBody>
      </p:sp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12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" y="1783080"/>
          <a:ext cx="10698480" cy="3995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291840"/>
                <a:gridCol w="4297680"/>
                <a:gridCol w="150876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Folder / files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Responsibility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933"/>
                          </a:solidFill>
                        </a:rPr>
                        <a:t>M1  Engine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</a:rPr>
                        <a:t>engine/ – level.py, state.py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</a:rPr>
                        <a:t>Parse and validate levels; push-level state space; pushes → moves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C8553"/>
                          </a:solidFill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E3F4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933"/>
                          </a:solidFill>
                        </a:rPr>
                        <a:t>M2  Solvers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</a:rPr>
                        <a:t>solvers/ – bfs, astar, heuristics, deadlock, solve, compare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</a:rPr>
                        <a:t>BFS, A*, deadlock rules, matching heuristic; pausable search; race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C8553"/>
                          </a:solidFill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E3F4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933"/>
                          </a:solidFill>
                        </a:rPr>
                        <a:t>M3  Interface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</a:rPr>
                        <a:t>interface/ – bridge.py, site.py, web/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</a:rPr>
                        <a:t>Browser UI (Play, Race, Lab, Build, Guide); Python bridge; site build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C8553"/>
                          </a:solidFill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E3F4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933"/>
                          </a:solidFill>
                        </a:rPr>
                        <a:t>M4  Puzzles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</a:rPr>
                        <a:t>puzzles/ – library.py, generator.py, 4 packs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</a:rPr>
                        <a:t>34-level catalogue; reverse-play level generator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C8553"/>
                          </a:solidFill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E3F4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933"/>
                          </a:solidFill>
                        </a:rPr>
                        <a:t>M5  Analytics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</a:rPr>
                        <a:t>analytics/ – benchmark.py, report.py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</a:rPr>
                        <a:t>Every algorithm on every level; table, CSV, Markdown, summary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C8553"/>
                          </a:solidFill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E3F4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933"/>
                          </a:solidFill>
                        </a:rPr>
                        <a:t>Testing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</a:rPr>
                        <a:t>tests/ – 6 test files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</a:rPr>
                        <a:t>59 unit and fuzz tests across all five modules (all passing)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C8553"/>
                          </a:solidFill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E3F4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2933"/>
                          </a:solidFill>
                        </a:rPr>
                        <a:t>Final report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</a:rPr>
                        <a:t>README.md, report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F2933"/>
                          </a:solidFill>
                        </a:rPr>
                        <a:t>Write-up of formulation, method and results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B7791F"/>
                          </a:solidFill>
                        </a:rPr>
                        <a:t>In progress</a:t>
                      </a:r>
                    </a:p>
                  </a:txBody>
                  <a:tcPr marL="64008" marR="64008" marT="27432" marB="27432" anchor="ctr">
                    <a:solidFill>
                      <a:srgbClr val="FFF4D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Implementation – Part 1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5257800" cy="42519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929384"/>
            <a:ext cx="457200" cy="45720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920240"/>
            <a:ext cx="43434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700" b="1">
                <a:solidFill>
                  <a:srgbClr val="193054"/>
                </a:solidFill>
              </a:rPr>
              <a:t>Engine – the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468880"/>
            <a:ext cx="4892040" cy="3474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50" b="1">
                <a:solidFill>
                  <a:srgbClr val="CC0000"/>
                </a:solidFill>
              </a:rPr>
              <a:t>Purpose</a:t>
            </a:r>
          </a:p>
          <a:p>
            <a:pPr algn="l">
              <a:spcBef>
                <a:spcPts val="100"/>
              </a:spcBef>
            </a:pPr>
            <a:r>
              <a:rPr sz="1250" b="0">
                <a:solidFill>
                  <a:srgbClr val="1F2933"/>
                </a:solidFill>
              </a:rPr>
              <a:t>Turns a level into a searchable, hashable state space.</a:t>
            </a:r>
          </a:p>
          <a:p>
            <a:pPr algn="l">
              <a:spcBef>
                <a:spcPts val="700"/>
              </a:spcBef>
            </a:pPr>
            <a:r>
              <a:rPr sz="1250" b="1">
                <a:solidFill>
                  <a:srgbClr val="CC0000"/>
                </a:solidFill>
              </a:rPr>
              <a:t>Input → output</a:t>
            </a:r>
          </a:p>
          <a:p>
            <a:pPr algn="l">
              <a:spcBef>
                <a:spcPts val="100"/>
              </a:spcBef>
            </a:pPr>
            <a:r>
              <a:rPr sz="1250" b="0">
                <a:solidFill>
                  <a:srgbClr val="1F2933"/>
                </a:solidFill>
              </a:rPr>
              <a:t>XSB text → Level (walls, goals, floor) + State (keeper, crates).</a:t>
            </a:r>
          </a:p>
          <a:p>
            <a:pPr algn="l">
              <a:spcBef>
                <a:spcPts val="700"/>
              </a:spcBef>
            </a:pPr>
            <a:r>
              <a:rPr sz="1250" b="1">
                <a:solidFill>
                  <a:srgbClr val="CC0000"/>
                </a:solidFill>
              </a:rPr>
              <a:t>Key functions</a:t>
            </a:r>
          </a:p>
          <a:p>
            <a:pPr algn="l">
              <a:spcBef>
                <a:spcPts val="100"/>
              </a:spcBef>
            </a:pPr>
            <a:r>
              <a:rPr sz="1250" b="0">
                <a:solidFill>
                  <a:srgbClr val="1F2933"/>
                </a:solidFill>
              </a:rPr>
              <a:t>parse_level() rejects broken levels; reachable() flood-fills the keeper region; legal_pushes(), push(); arrivals() merges keeper positions; pushes_to_moves() gives LURD moves.</a:t>
            </a:r>
          </a:p>
          <a:p>
            <a:pPr algn="l">
              <a:spcBef>
                <a:spcPts val="700"/>
              </a:spcBef>
            </a:pPr>
            <a:r>
              <a:rPr sz="1250" b="1">
                <a:solidFill>
                  <a:srgbClr val="CC0000"/>
                </a:solidFill>
              </a:rPr>
              <a:t>Design choice</a:t>
            </a:r>
          </a:p>
          <a:p>
            <a:pPr algn="l">
              <a:spcBef>
                <a:spcPts val="100"/>
              </a:spcBef>
            </a:pPr>
            <a:r>
              <a:rPr sz="1250" b="0">
                <a:solidFill>
                  <a:srgbClr val="1F2933"/>
                </a:solidFill>
              </a:rPr>
              <a:t>Cells are integers (y × width + x), so a step is one addition; states are immutable and hashable.</a:t>
            </a:r>
          </a:p>
          <a:p>
            <a:pPr algn="l">
              <a:spcBef>
                <a:spcPts val="700"/>
              </a:spcBef>
            </a:pPr>
            <a:r>
              <a:rPr sz="1250" b="1">
                <a:solidFill>
                  <a:srgbClr val="CC0000"/>
                </a:solidFill>
              </a:rPr>
              <a:t>Status and tests</a:t>
            </a:r>
          </a:p>
          <a:p>
            <a:pPr algn="l">
              <a:spcBef>
                <a:spcPts val="100"/>
              </a:spcBef>
            </a:pPr>
            <a:r>
              <a:rPr sz="1250" b="0">
                <a:solidFill>
                  <a:srgbClr val="1F2933"/>
                </a:solidFill>
              </a:rPr>
              <a:t>Completed. 10 engine tests pass: parsing, illegal levels, pushes, replay.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783080"/>
            <a:ext cx="5257800" cy="42519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9944" y="1929384"/>
            <a:ext cx="457200" cy="45720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2" y="1920240"/>
            <a:ext cx="43434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700" b="1">
                <a:solidFill>
                  <a:srgbClr val="193054"/>
                </a:solidFill>
              </a:rPr>
              <a:t>Solvers – the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468880"/>
            <a:ext cx="4892040" cy="3474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50" b="1">
                <a:solidFill>
                  <a:srgbClr val="CC0000"/>
                </a:solidFill>
              </a:rPr>
              <a:t>Purpose</a:t>
            </a:r>
          </a:p>
          <a:p>
            <a:pPr algn="l">
              <a:spcBef>
                <a:spcPts val="100"/>
              </a:spcBef>
            </a:pPr>
            <a:r>
              <a:rPr sz="1250" b="0">
                <a:solidFill>
                  <a:srgbClr val="1F2933"/>
                </a:solidFill>
              </a:rPr>
              <a:t>Four searches of growing intelligence, all minimising pushes.</a:t>
            </a:r>
          </a:p>
          <a:p>
            <a:pPr algn="l">
              <a:spcBef>
                <a:spcPts val="700"/>
              </a:spcBef>
            </a:pPr>
            <a:r>
              <a:rPr sz="1250" b="1">
                <a:solidFill>
                  <a:srgbClr val="CC0000"/>
                </a:solidFill>
              </a:rPr>
              <a:t>Input → output</a:t>
            </a:r>
          </a:p>
          <a:p>
            <a:pPr algn="l">
              <a:spcBef>
                <a:spcPts val="100"/>
              </a:spcBef>
            </a:pPr>
            <a:r>
              <a:rPr sz="1250" b="0">
                <a:solidFill>
                  <a:srgbClr val="1F2933"/>
                </a:solidFill>
              </a:rPr>
              <a:t>Level, start, algorithm, limits → moves, pushes, positions expanded, pushes pruned by rule, time.</a:t>
            </a:r>
          </a:p>
          <a:p>
            <a:pPr algn="l">
              <a:spcBef>
                <a:spcPts val="700"/>
              </a:spcBef>
            </a:pPr>
            <a:r>
              <a:rPr sz="1250" b="1">
                <a:solidFill>
                  <a:srgbClr val="CC0000"/>
                </a:solidFill>
              </a:rPr>
              <a:t>Key functions</a:t>
            </a:r>
          </a:p>
          <a:p>
            <a:pPr algn="l">
              <a:spcBef>
                <a:spcPts val="100"/>
              </a:spcBef>
            </a:pPr>
            <a:r>
              <a:rPr sz="1250" b="0">
                <a:solidFill>
                  <a:srgbClr val="1F2933"/>
                </a:solidFill>
              </a:rPr>
              <a:t>bfs(); astar() with f = g + h; Deadlocks (dead-square map + freeze); manhattan(), matching() with Hungarian min_assignment(); Search.advance(seconds).</a:t>
            </a:r>
          </a:p>
          <a:p>
            <a:pPr algn="l">
              <a:spcBef>
                <a:spcPts val="700"/>
              </a:spcBef>
            </a:pPr>
            <a:r>
              <a:rPr sz="1250" b="1">
                <a:solidFill>
                  <a:srgbClr val="CC0000"/>
                </a:solidFill>
              </a:rPr>
              <a:t>Design choice</a:t>
            </a:r>
          </a:p>
          <a:p>
            <a:pPr algn="l">
              <a:spcBef>
                <a:spcPts val="100"/>
              </a:spcBef>
            </a:pPr>
            <a:r>
              <a:rPr sz="1250" b="0">
                <a:solidFill>
                  <a:srgbClr val="1F2933"/>
                </a:solidFill>
              </a:rPr>
              <a:t>Every search is a generator that yields every 32 expansions, so the page can pause, draw or race it.</a:t>
            </a:r>
          </a:p>
          <a:p>
            <a:pPr algn="l">
              <a:spcBef>
                <a:spcPts val="700"/>
              </a:spcBef>
            </a:pPr>
            <a:r>
              <a:rPr sz="1250" b="1">
                <a:solidFill>
                  <a:srgbClr val="CC0000"/>
                </a:solidFill>
              </a:rPr>
              <a:t>Status and tests</a:t>
            </a:r>
          </a:p>
          <a:p>
            <a:pPr algn="l">
              <a:spcBef>
                <a:spcPts val="100"/>
              </a:spcBef>
            </a:pPr>
            <a:r>
              <a:rPr sz="1250" b="0">
                <a:solidFill>
                  <a:srgbClr val="1F2933"/>
                </a:solidFill>
              </a:rPr>
              <a:t>Completed. 18 tests incl. fuzzing: identical optimal pushes; every pruned position proven unsolvable.</a:t>
            </a:r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Implementation – Part 2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14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5486400" cy="4251960"/>
          </a:xfrm>
          <a:prstGeom prst="roundRect">
            <a:avLst>
              <a:gd name="adj" fmla="val 4000"/>
            </a:avLst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56231"/>
            <a:ext cx="5120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250" b="1">
                <a:solidFill>
                  <a:srgbClr val="F2B705"/>
                </a:solidFill>
              </a:rPr>
              <a:t>A* + Deadlock – core loop (solvers/astar.py)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12848"/>
            <a:ext cx="5166360" cy="3749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150"/>
              </a:spcBef>
            </a:pPr>
            <a:r>
              <a:rPr sz="1150" b="0">
                <a:solidFill>
                  <a:srgbClr val="E9EEF1"/>
                </a:solidFill>
                <a:latin typeface="Courier New"/>
              </a:rPr>
              <a:t>frontier ← {start};  g[start] ← 0</a:t>
            </a:r>
          </a:p>
          <a:p>
            <a:pPr algn="l">
              <a:spcBef>
                <a:spcPts val="150"/>
              </a:spcBef>
            </a:pPr>
            <a:r>
              <a:rPr sz="1150" b="0">
                <a:solidFill>
                  <a:srgbClr val="E9EEF1"/>
                </a:solidFill>
                <a:latin typeface="Courier New"/>
              </a:rPr>
              <a:t>while frontier not empty:</a:t>
            </a:r>
          </a:p>
          <a:p>
            <a:pPr algn="l">
              <a:spcBef>
                <a:spcPts val="150"/>
              </a:spcBef>
            </a:pPr>
            <a:r>
              <a:rPr sz="1150" b="0">
                <a:solidFill>
                  <a:srgbClr val="E9EEF1"/>
                </a:solidFill>
                <a:latin typeface="Courier New"/>
              </a:rPr>
              <a:t>  s ← pop lowest f = g + h (ties: lower h)</a:t>
            </a:r>
          </a:p>
          <a:p>
            <a:pPr algn="l">
              <a:spcBef>
                <a:spcPts val="150"/>
              </a:spcBef>
            </a:pPr>
            <a:r>
              <a:rPr sz="1150" b="0">
                <a:solidFill>
                  <a:srgbClr val="E9EEF1"/>
                </a:solidFill>
                <a:latin typeface="Courier New"/>
              </a:rPr>
              <a:t>  if all crates on goals: return path(s)</a:t>
            </a:r>
          </a:p>
          <a:p>
            <a:pPr algn="l">
              <a:spcBef>
                <a:spcPts val="150"/>
              </a:spcBef>
            </a:pPr>
            <a:r>
              <a:rPr sz="1150" b="0">
                <a:solidFill>
                  <a:srgbClr val="E9EEF1"/>
                </a:solidFill>
                <a:latin typeface="Courier New"/>
              </a:rPr>
              <a:t>  region ← flood_fill(keeper, s.crates)</a:t>
            </a:r>
          </a:p>
          <a:p>
            <a:pPr algn="l">
              <a:spcBef>
                <a:spcPts val="150"/>
              </a:spcBef>
            </a:pPr>
            <a:r>
              <a:rPr sz="1150" b="0">
                <a:solidFill>
                  <a:srgbClr val="E9EEF1"/>
                </a:solidFill>
                <a:latin typeface="Courier New"/>
              </a:rPr>
              <a:t>  closed ← closed ∪ states(s.crates, region)</a:t>
            </a:r>
          </a:p>
          <a:p>
            <a:pPr algn="l">
              <a:spcBef>
                <a:spcPts val="150"/>
              </a:spcBef>
            </a:pPr>
            <a:r>
              <a:rPr sz="1150" b="0">
                <a:solidFill>
                  <a:srgbClr val="E9EEF1"/>
                </a:solidFill>
                <a:latin typeface="Courier New"/>
              </a:rPr>
              <a:t>  for each push (crate, dir) from region:</a:t>
            </a:r>
          </a:p>
          <a:p>
            <a:pPr algn="l">
              <a:spcBef>
                <a:spcPts val="150"/>
              </a:spcBef>
            </a:pPr>
            <a:r>
              <a:rPr sz="1150" b="0">
                <a:solidFill>
                  <a:srgbClr val="E9EEF1"/>
                </a:solidFill>
                <a:latin typeface="Courier New"/>
              </a:rPr>
              <a:t>    c ← apply(push)</a:t>
            </a:r>
          </a:p>
          <a:p>
            <a:pPr algn="l">
              <a:spcBef>
                <a:spcPts val="150"/>
              </a:spcBef>
            </a:pPr>
            <a:r>
              <a:rPr sz="1150" b="0">
                <a:solidFill>
                  <a:srgbClr val="E9EEF1"/>
                </a:solidFill>
                <a:latin typeface="Courier New"/>
              </a:rPr>
              <a:t>    if c in closed or g[s]+1 ≥ g[c]: skip</a:t>
            </a:r>
          </a:p>
          <a:p>
            <a:pPr algn="l">
              <a:spcBef>
                <a:spcPts val="150"/>
              </a:spcBef>
            </a:pPr>
            <a:r>
              <a:rPr sz="1150" b="0">
                <a:solidFill>
                  <a:srgbClr val="E9EEF1"/>
                </a:solidFill>
                <a:latin typeface="Courier New"/>
              </a:rPr>
              <a:t>    if rule ← dead(c, crate+dir):</a:t>
            </a:r>
          </a:p>
          <a:p>
            <a:pPr algn="l">
              <a:spcBef>
                <a:spcPts val="150"/>
              </a:spcBef>
            </a:pPr>
            <a:r>
              <a:rPr sz="1150" b="0">
                <a:solidFill>
                  <a:srgbClr val="E9EEF1"/>
                </a:solidFill>
                <a:latin typeface="Courier New"/>
              </a:rPr>
              <a:t>        pruned[rule] += 1; skip</a:t>
            </a:r>
          </a:p>
          <a:p>
            <a:pPr algn="l">
              <a:spcBef>
                <a:spcPts val="150"/>
              </a:spcBef>
            </a:pPr>
            <a:r>
              <a:rPr sz="1150" b="0">
                <a:solidFill>
                  <a:srgbClr val="E9EEF1"/>
                </a:solidFill>
                <a:latin typeface="Courier New"/>
              </a:rPr>
              <a:t>    if h(c) is None: skip   # no matching</a:t>
            </a:r>
          </a:p>
          <a:p>
            <a:pPr algn="l">
              <a:spcBef>
                <a:spcPts val="150"/>
              </a:spcBef>
            </a:pPr>
            <a:r>
              <a:rPr sz="1150" b="0">
                <a:solidFill>
                  <a:srgbClr val="E9EEF1"/>
                </a:solidFill>
                <a:latin typeface="Courier New"/>
              </a:rPr>
              <a:t>    g[c] ← g[s] + 1;  push c on frontier</a:t>
            </a:r>
          </a:p>
          <a:p>
            <a:pPr algn="l">
              <a:spcBef>
                <a:spcPts val="150"/>
              </a:spcBef>
            </a:pPr>
            <a:r>
              <a:rPr sz="1150" b="0">
                <a:solidFill>
                  <a:srgbClr val="E9EEF1"/>
                </a:solidFill>
                <a:latin typeface="Courier New"/>
              </a:rPr>
              <a:t>return UNSOLVABLE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783080"/>
            <a:ext cx="5074920" cy="1325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0" y="1920240"/>
            <a:ext cx="420624" cy="42062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1892807"/>
            <a:ext cx="42976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Interface</a:t>
            </a:r>
            <a:r>
              <a:rPr sz="1050" b="1">
                <a:solidFill>
                  <a:srgbClr val="1C8553"/>
                </a:solidFill>
              </a:rPr>
              <a:t>   completed · 19 bridge + 3 site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2240280"/>
            <a:ext cx="429768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bridge.Game keeps the timeline and runs searches in time slices; the page draws the board, overlays and graphs from JSON replies.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246120"/>
            <a:ext cx="5074920" cy="1325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0" y="3383279"/>
            <a:ext cx="420624" cy="42062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3355848"/>
            <a:ext cx="42976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Puzzles</a:t>
            </a:r>
            <a:r>
              <a:rPr sz="1050" b="1">
                <a:solidFill>
                  <a:srgbClr val="1C8553"/>
                </a:solidFill>
              </a:rPr>
              <a:t>   completed · 5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3703320"/>
            <a:ext cx="429768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34 plain-text levels; the generator pulls crates back from the solved position, so every new level is solvable.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709160"/>
            <a:ext cx="5074920" cy="1325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0" y="4846320"/>
            <a:ext cx="420624" cy="42062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4818888"/>
            <a:ext cx="42976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/>
            <a:r>
              <a:rPr sz="1400" b="1">
                <a:solidFill>
                  <a:srgbClr val="193054"/>
                </a:solidFill>
              </a:rPr>
              <a:t>Analytics</a:t>
            </a:r>
            <a:r>
              <a:rPr sz="1050" b="1">
                <a:solidFill>
                  <a:srgbClr val="1C8553"/>
                </a:solidFill>
              </a:rPr>
              <a:t>   completed · 4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2" y="5166360"/>
            <a:ext cx="429768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150" b="0">
                <a:solidFill>
                  <a:srgbClr val="1F2933"/>
                </a:solidFill>
              </a:rPr>
              <a:t>Runs the whole ladder on every level under one budget; reports savings vs BFS as table, CSV and Markdown.</a:t>
            </a:r>
          </a:p>
        </p:txBody>
      </p:sp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Preliminary Results and Discussion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15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" y="1783080"/>
          <a:ext cx="63093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914400"/>
                <a:gridCol w="1234440"/>
                <a:gridCol w="777240"/>
                <a:gridCol w="9601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Levels solved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Positions expanded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Total time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Median saving vs BFS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</a:rPr>
                        <a:t>BFS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</a:rPr>
                        <a:t>27 / 34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1,585,175*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193.9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baseline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</a:rPr>
                        <a:t>A*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</a:rPr>
                        <a:t>33 / 34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479,526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61.2 s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84.1%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</a:rPr>
                        <a:t>A* + Deadlock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</a:rPr>
                        <a:t>34 / 34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225,947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40.8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92.6%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</a:rPr>
                        <a:t>A* + Deadlock + Matching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</a:rPr>
                        <a:t>34 / 34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4,930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0.9 s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</a:rPr>
                        <a:t>99.5%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" y="4114800"/>
            <a:ext cx="6309360" cy="1920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250" b="1">
                <a:solidFill>
                  <a:srgbClr val="1F2933"/>
                </a:solidFill>
              </a:rPr>
              <a:t>Same answer, less work. </a:t>
            </a:r>
            <a:r>
              <a:rPr sz="1250" b="0">
                <a:solidFill>
                  <a:srgbClr val="1F2933"/>
                </a:solidFill>
              </a:rPr>
              <a:t>All four always return the same, optimal push count; they differ only in how much they search.</a:t>
            </a:r>
          </a:p>
          <a:p>
            <a:pPr algn="l">
              <a:spcBef>
                <a:spcPts val="700"/>
              </a:spcBef>
            </a:pPr>
            <a:r>
              <a:rPr sz="1250" b="1">
                <a:solidFill>
                  <a:srgbClr val="1F2933"/>
                </a:solidFill>
              </a:rPr>
              <a:t>Each idea pays off. </a:t>
            </a:r>
            <a:r>
              <a:rPr sz="1250" b="0">
                <a:solidFill>
                  <a:srgbClr val="1F2933"/>
                </a:solidFill>
              </a:rPr>
              <a:t>Median saving vs BFS: 84.1% → 92.6% → 99.5% fewer positions.</a:t>
            </a:r>
          </a:p>
          <a:p>
            <a:pPr algn="l">
              <a:spcBef>
                <a:spcPts val="700"/>
              </a:spcBef>
            </a:pPr>
            <a:r>
              <a:rPr sz="1250" b="1">
                <a:solidFill>
                  <a:srgbClr val="1F2933"/>
                </a:solidFill>
              </a:rPr>
              <a:t>Knowledge matters in tight rooms. </a:t>
            </a:r>
            <a:r>
              <a:rPr sz="1250" b="0">
                <a:solidFill>
                  <a:srgbClr val="1F2933"/>
                </a:solidFill>
              </a:rPr>
              <a:t>Dead Stock: A* 23,707 → A* + Deadlock 2,969 positions.</a:t>
            </a:r>
          </a:p>
          <a:p>
            <a:pPr algn="l">
              <a:spcBef>
                <a:spcPts val="900"/>
              </a:spcBef>
            </a:pPr>
            <a:r>
              <a:rPr sz="1000" b="0">
                <a:solidFill>
                  <a:srgbClr val="6F7B85"/>
                </a:solidFill>
              </a:rPr>
              <a:t>Test set: 34 levels; budget 200,000 positions / 20 s per search.  * BFS hit the budget on 7 levels, so its totals are lower bounds.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269480" y="1691640"/>
          <a:ext cx="43434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Implementation Screenshots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83280" y="6245352"/>
            <a:ext cx="5394960" cy="475488"/>
          </a:xfrm>
        </p:spPr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7" name="Picture 6" descr="ui_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3080"/>
            <a:ext cx="5106389" cy="3429000"/>
          </a:xfrm>
          <a:prstGeom prst="rect">
            <a:avLst/>
          </a:prstGeom>
          <a:ln w="12700">
            <a:solidFill>
              <a:srgbClr val="CDDAE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58952" y="5285232"/>
            <a:ext cx="5257800" cy="795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00" b="1">
                <a:solidFill>
                  <a:srgbClr val="193054"/>
                </a:solidFill>
              </a:rPr>
              <a:t>Play + solver – </a:t>
            </a:r>
            <a:r>
              <a:rPr sz="1200" b="0">
                <a:solidFill>
                  <a:srgbClr val="1F2933"/>
                </a:solidFill>
              </a:rPr>
              <a:t>A* + Deadlock + Matching solves Storeroom in 12 pushes after expanding 13 positions; hatched squares are dead squares, the timeline replays the answer.</a:t>
            </a:r>
          </a:p>
        </p:txBody>
      </p:sp>
      <p:pic>
        <p:nvPicPr>
          <p:cNvPr id="9" name="Picture 8" descr="ui_coa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783080"/>
            <a:ext cx="5106389" cy="3429000"/>
          </a:xfrm>
          <a:prstGeom prst="rect">
            <a:avLst/>
          </a:prstGeom>
          <a:ln w="12700">
            <a:solidFill>
              <a:srgbClr val="CDDAE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99632" y="5285232"/>
            <a:ext cx="5257800" cy="795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00" b="1">
                <a:solidFill>
                  <a:srgbClr val="193054"/>
                </a:solidFill>
              </a:rPr>
              <a:t>Deadlock coach – </a:t>
            </a:r>
            <a:r>
              <a:rPr sz="1200" b="0">
                <a:solidFill>
                  <a:srgbClr val="1F2933"/>
                </a:solidFill>
              </a:rPr>
              <a:t>the moment a push makes the level unwinnable, the rule is named (here: corner trap) and the crate is outlined; Undo steps back.</a:t>
            </a:r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Implementation Screenshots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83280" y="6245352"/>
            <a:ext cx="5394960" cy="475488"/>
          </a:xfrm>
        </p:spPr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7" name="Picture 6" descr="ui_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3080"/>
            <a:ext cx="5257800" cy="2812311"/>
          </a:xfrm>
          <a:prstGeom prst="rect">
            <a:avLst/>
          </a:prstGeom>
          <a:ln w="12700">
            <a:solidFill>
              <a:srgbClr val="CDDAE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58952" y="4668543"/>
            <a:ext cx="5257800" cy="1412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00" b="1">
                <a:solidFill>
                  <a:srgbClr val="193054"/>
                </a:solidFill>
              </a:rPr>
              <a:t>Race – </a:t>
            </a:r>
            <a:r>
              <a:rPr sz="1200" b="0">
                <a:solidFill>
                  <a:srgbClr val="1F2933"/>
                </a:solidFill>
              </a:rPr>
              <a:t>all four algorithms on Double Stack at once: 36,971 vs 2,273 vs 964 vs 35 positions expanded, the same 15 pushes.</a:t>
            </a:r>
          </a:p>
        </p:txBody>
      </p:sp>
      <p:pic>
        <p:nvPicPr>
          <p:cNvPr id="9" name="Picture 8" descr="ui_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783080"/>
            <a:ext cx="5257800" cy="2833709"/>
          </a:xfrm>
          <a:prstGeom prst="rect">
            <a:avLst/>
          </a:prstGeom>
          <a:ln w="12700">
            <a:solidFill>
              <a:srgbClr val="CDDAE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99632" y="4689941"/>
            <a:ext cx="5257800" cy="139081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00" b="1">
                <a:solidFill>
                  <a:srgbClr val="193054"/>
                </a:solidFill>
              </a:rPr>
              <a:t>Benchmark lab – </a:t>
            </a:r>
            <a:r>
              <a:rPr sz="1200" b="0">
                <a:solidFill>
                  <a:srgbClr val="1F2933"/>
                </a:solidFill>
              </a:rPr>
              <a:t>every algorithm on every level of a pack with totals and median savings; copy as CSV or Markdown.</a:t>
            </a:r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Challenges Faced and Solutions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17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" y="1783080"/>
          <a:ext cx="10698480" cy="3392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57607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</a:rPr>
                        <a:t>Challenge faced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</a:rPr>
                        <a:t>Solution adopted</a:t>
                      </a:r>
                    </a:p>
                  </a:txBody>
                  <a:tcPr marL="64008" marR="64008" marT="27432" marB="27432" anchor="ctr">
                    <a:solidFill>
                      <a:srgbClr val="2A67B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2933"/>
                          </a:solidFill>
                        </a:rPr>
                        <a:t>Same crates with the keeper elsewhere were treated as different states, multiplying the work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2933"/>
                          </a:solidFill>
                        </a:rPr>
                        <a:t>States keyed by crates + keeper region: Storeroom BFS 62,560 → 9,952, A* 1,000 → 67 positions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2933"/>
                          </a:solidFill>
                        </a:rPr>
                        <a:t>Deadlock checks re-derived for every crate made A* + Deadlock slower than A*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2933"/>
                          </a:solidFill>
                        </a:rPr>
                        <a:t>Dead squares precomputed once per level; freeze rule added; warehouse pack where pruning matters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2933"/>
                          </a:solidFill>
                        </a:rPr>
                        <a:t>Reports called the move count optimal, though the search minimised pushes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2933"/>
                          </a:solidFill>
                        </a:rPr>
                        <a:t>Pushes are the stated cost; pushes and moves reported separately; a test checks all agree on pushes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2933"/>
                          </a:solidFill>
                        </a:rPr>
                        <a:t>Speed-ups such as “39,121,151×” came from a timer that read zero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2933"/>
                          </a:solidFill>
                        </a:rPr>
                        <a:t>High-resolution perf_counter timing that includes each algorithm’s set-up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2933"/>
                          </a:solidFill>
                        </a:rPr>
                        <a:t>A timed-out BFS left its row blank, so the comparison was lost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2933"/>
                          </a:solidFill>
                        </a:rPr>
                        <a:t>Savings reported as lower bounds when BFS hits its budget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2933"/>
                          </a:solidFill>
                        </a:rPr>
                        <a:t>A level was accepted whenever crate and goal counts matched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2933"/>
                          </a:solidFill>
                        </a:rPr>
                        <a:t>Validation: one keeper, walls all round, every crate and goal reachable; the editor shows why</a:t>
                      </a:r>
                    </a:p>
                  </a:txBody>
                  <a:tcPr marL="64008" marR="64008" marT="27432" marB="27432" anchor="ctr">
                    <a:solidFill>
                      <a:srgbClr val="EEF3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2933"/>
                          </a:solidFill>
                        </a:rPr>
                        <a:t>Desktop-only pygame window with a 5 MB music file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2933"/>
                          </a:solidFill>
                        </a:rPr>
                        <a:t>Web app via Pyodide running the same Python; synthesised sound; nothing to install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8952" y="5349240"/>
            <a:ext cx="10698480" cy="658368"/>
          </a:xfrm>
          <a:prstGeom prst="roundRect">
            <a:avLst>
              <a:gd name="adj" fmla="val 12000"/>
            </a:avLst>
          </a:prstGeom>
          <a:solidFill>
            <a:srgbClr val="FFF8EB"/>
          </a:solidFill>
          <a:ln w="12700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>
            <a:noAutofit/>
          </a:bodyPr>
          <a:lstStyle/>
          <a:p>
            <a:pPr algn="l"/>
            <a:r>
              <a:rPr sz="1150" b="1">
                <a:solidFill>
                  <a:srgbClr val="B7791F"/>
                </a:solidFill>
              </a:rPr>
              <a:t>Remaining issues: </a:t>
            </a:r>
            <a:r>
              <a:rPr sz="1150" b="0">
                <a:solidFill>
                  <a:srgbClr val="1F2933"/>
                </a:solidFill>
              </a:rPr>
              <a:t>BFS cannot finish the largest levels within 200,000 positions; Python in the browser runs a few times slower than native; the freeze rule does not catch every multi-crate deadlock.</a:t>
            </a:r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Work Plan Until Final Review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18</a:t>
            </a:fld>
            <a:endParaRPr lang="en-IN"/>
          </a:p>
        </p:txBody>
      </p:sp>
      <p:sp>
        <p:nvSpPr>
          <p:cNvPr id="7" name="Pentagon 6"/>
          <p:cNvSpPr/>
          <p:nvPr/>
        </p:nvSpPr>
        <p:spPr>
          <a:xfrm>
            <a:off x="758952" y="1783080"/>
            <a:ext cx="2697480" cy="658368"/>
          </a:xfrm>
          <a:prstGeom prst="homePlat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606040"/>
            <a:ext cx="2560320" cy="26974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2331720" cy="2560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00" b="1">
                <a:solidFill>
                  <a:srgbClr val="193054"/>
                </a:solidFill>
              </a:rPr>
              <a:t>Extended evaluation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1F2933"/>
                </a:solidFill>
              </a:rPr>
              <a:t>• Re-run the benchmark on a second machine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1F2933"/>
                </a:solidFill>
              </a:rPr>
              <a:t>• Add a public level subset (e.g. Microban)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1F2933"/>
                </a:solidFill>
              </a:rPr>
              <a:t>• Record time variance per level</a:t>
            </a:r>
          </a:p>
        </p:txBody>
      </p:sp>
      <p:sp>
        <p:nvSpPr>
          <p:cNvPr id="10" name="Pentagon 9"/>
          <p:cNvSpPr/>
          <p:nvPr/>
        </p:nvSpPr>
        <p:spPr>
          <a:xfrm>
            <a:off x="3483864" y="1783080"/>
            <a:ext cx="2697480" cy="658368"/>
          </a:xfrm>
          <a:prstGeom prst="homePlat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3864" y="2606040"/>
            <a:ext cx="2560320" cy="26974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715768"/>
            <a:ext cx="2331720" cy="2560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00" b="1">
                <a:solidFill>
                  <a:srgbClr val="193054"/>
                </a:solidFill>
              </a:rPr>
              <a:t>Solver refinement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1F2933"/>
                </a:solidFill>
              </a:rPr>
              <a:t>• Study corral deadlocks and tunnel macros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1F2933"/>
                </a:solidFill>
              </a:rPr>
              <a:t>• Keep every optimality test green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1F2933"/>
                </a:solidFill>
              </a:rPr>
              <a:t>• Profile the browser build</a:t>
            </a:r>
          </a:p>
        </p:txBody>
      </p:sp>
      <p:sp>
        <p:nvSpPr>
          <p:cNvPr id="13" name="Pentagon 12"/>
          <p:cNvSpPr/>
          <p:nvPr/>
        </p:nvSpPr>
        <p:spPr>
          <a:xfrm>
            <a:off x="6208776" y="1783080"/>
            <a:ext cx="2697480" cy="658368"/>
          </a:xfrm>
          <a:prstGeom prst="homePlat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2606040"/>
            <a:ext cx="2560320" cy="26974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2715768"/>
            <a:ext cx="2331720" cy="2560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00" b="1">
                <a:solidFill>
                  <a:srgbClr val="193054"/>
                </a:solidFill>
              </a:rPr>
              <a:t>Documentation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1F2933"/>
                </a:solidFill>
              </a:rPr>
              <a:t>• Final report: formulation, admissibility, results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1F2933"/>
                </a:solidFill>
              </a:rPr>
              <a:t>• Screenshots and figures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1F2933"/>
                </a:solidFill>
              </a:rPr>
              <a:t>• README and code comments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33688" y="1783080"/>
            <a:ext cx="2697480" cy="658368"/>
          </a:xfrm>
          <a:prstGeom prst="rect">
            <a:avLst/>
          </a:prstGeom>
          <a:solidFill>
            <a:srgbClr val="19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Week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2606040"/>
            <a:ext cx="2560320" cy="26974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1704" y="2715768"/>
            <a:ext cx="2331720" cy="2560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00" b="1">
                <a:solidFill>
                  <a:srgbClr val="193054"/>
                </a:solidFill>
              </a:rPr>
              <a:t>Final testing &amp; presentation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1F2933"/>
                </a:solidFill>
              </a:rPr>
              <a:t>• Cross-browser test of the live site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1F2933"/>
                </a:solidFill>
              </a:rPr>
              <a:t>• Final slides and demo rehearsal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1F2933"/>
                </a:solidFill>
              </a:rPr>
              <a:t>• Submit report and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5486400"/>
            <a:ext cx="10698480" cy="502920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>
            <a:noAutofit/>
          </a:bodyPr>
          <a:lstStyle/>
          <a:p>
            <a:pPr algn="l"/>
            <a:r>
              <a:rPr sz="1300" b="1">
                <a:solidFill>
                  <a:srgbClr val="193054"/>
                </a:solidFill>
              </a:rPr>
              <a:t>At the final review: </a:t>
            </a:r>
            <a:r>
              <a:rPr sz="1300" b="0">
                <a:solidFill>
                  <a:srgbClr val="1F2933"/>
                </a:solidFill>
              </a:rPr>
              <a:t>working system, final benchmark tables, report, presentation and live demo.</a:t>
            </a:r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References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691640"/>
            <a:ext cx="10789920" cy="4434840"/>
          </a:xfrm>
        </p:spPr>
        <p:txBody>
          <a:bodyPr>
            <a:noAutofit/>
          </a:bodyPr>
          <a:lstStyle/>
          <a:p>
            <a:pPr marL="0" marR="0" indent="0" algn="l" defTabSz="914400" rtl="0" eaLnBrk="0" fontAlgn="base" latinLnBrk="0" hangingPunct="0">
              <a:spcBef>
                <a:spcPts val="700"/>
              </a:spcBef>
              <a:spcAft>
                <a:spcPct val="0"/>
              </a:spcAft>
              <a:buNone/>
            </a:pPr>
            <a:r>
              <a:rPr lang="en-IN" sz="1400" b="1" dirty="0">
                <a:solidFill>
                  <a:srgbClr val="1F2933"/>
                </a:solidFill>
              </a:rPr>
              <a:t>[1]  </a:t>
            </a:r>
            <a:r>
              <a:rPr lang="en-IN" sz="1400" b="0" dirty="0">
                <a:solidFill>
                  <a:srgbClr val="1F2933"/>
                </a:solidFill>
              </a:rPr>
              <a:t>P. E. Hart, N. J. Nilsson and B. Raphael, “A formal basis for the heuristic determination of minimum cost paths,” IEEE Trans. Systems Science and Cybernetics, vol. 4, no. 2, pp. 100–107, 1968.</a:t>
            </a:r>
          </a:p>
          <a:p>
            <a:pPr marL="0" marR="0" indent="0" algn="l" defTabSz="914400" rtl="0" eaLnBrk="0" fontAlgn="base" latinLnBrk="0" hangingPunct="0">
              <a:spcBef>
                <a:spcPts val="700"/>
              </a:spcBef>
              <a:spcAft>
                <a:spcPct val="0"/>
              </a:spcAft>
              <a:buNone/>
            </a:pPr>
            <a:r>
              <a:rPr lang="en-IN" sz="1400" b="1" dirty="0">
                <a:solidFill>
                  <a:srgbClr val="1F2933"/>
                </a:solidFill>
              </a:rPr>
              <a:t>[2]  </a:t>
            </a:r>
            <a:r>
              <a:rPr lang="en-IN" sz="1400" b="0" dirty="0">
                <a:solidFill>
                  <a:srgbClr val="1F2933"/>
                </a:solidFill>
              </a:rPr>
              <a:t>J. C. Culberson, “Sokoban is PSPACE-complete,” Tech. Rep. TR 97-02, Dept. of Computing Science, University of Alberta, 1997.</a:t>
            </a:r>
          </a:p>
          <a:p>
            <a:pPr marL="0" marR="0" indent="0" algn="l" defTabSz="914400" rtl="0" eaLnBrk="0" fontAlgn="base" latinLnBrk="0" hangingPunct="0">
              <a:spcBef>
                <a:spcPts val="700"/>
              </a:spcBef>
              <a:spcAft>
                <a:spcPct val="0"/>
              </a:spcAft>
              <a:buNone/>
            </a:pPr>
            <a:r>
              <a:rPr lang="en-IN" sz="1400" b="1" dirty="0">
                <a:solidFill>
                  <a:srgbClr val="1F2933"/>
                </a:solidFill>
              </a:rPr>
              <a:t>[3]  </a:t>
            </a:r>
            <a:r>
              <a:rPr lang="en-IN" sz="1400" b="0" dirty="0">
                <a:solidFill>
                  <a:srgbClr val="1F2933"/>
                </a:solidFill>
              </a:rPr>
              <a:t>A. Junghanns and J. Schaeffer, “Sokoban: Enhancing general single-agent search methods using domain knowledge,” Artificial Intelligence, vol. 129, no. 1–2, pp. 219–251, 2001.</a:t>
            </a:r>
          </a:p>
          <a:p>
            <a:pPr marL="0" marR="0" indent="0" algn="l" defTabSz="914400" rtl="0" eaLnBrk="0" fontAlgn="base" latinLnBrk="0" hangingPunct="0">
              <a:spcBef>
                <a:spcPts val="700"/>
              </a:spcBef>
              <a:spcAft>
                <a:spcPct val="0"/>
              </a:spcAft>
              <a:buNone/>
            </a:pPr>
            <a:r>
              <a:rPr lang="en-IN" sz="1400" b="1" dirty="0">
                <a:solidFill>
                  <a:srgbClr val="1F2933"/>
                </a:solidFill>
              </a:rPr>
              <a:t>[4]  </a:t>
            </a:r>
            <a:r>
              <a:rPr lang="en-IN" sz="1400" b="0" dirty="0">
                <a:solidFill>
                  <a:srgbClr val="1F2933"/>
                </a:solidFill>
              </a:rPr>
              <a:t>A. Botea, M. Müller and J. Schaeffer, “Using abstraction for planning in Sokoban,” in Computers and Games (CG 2002), LNCS 2883, Springer, 2003, pp. 360–375.</a:t>
            </a:r>
          </a:p>
          <a:p>
            <a:pPr marL="0" marR="0" indent="0" algn="l" defTabSz="914400" rtl="0" eaLnBrk="0" fontAlgn="base" latinLnBrk="0" hangingPunct="0">
              <a:spcBef>
                <a:spcPts val="700"/>
              </a:spcBef>
              <a:spcAft>
                <a:spcPct val="0"/>
              </a:spcAft>
              <a:buNone/>
            </a:pPr>
            <a:r>
              <a:rPr lang="en-IN" sz="1400" b="1" dirty="0">
                <a:solidFill>
                  <a:srgbClr val="1F2933"/>
                </a:solidFill>
              </a:rPr>
              <a:t>[5]  </a:t>
            </a:r>
            <a:r>
              <a:rPr lang="en-IN" sz="1400" b="0" dirty="0">
                <a:solidFill>
                  <a:srgbClr val="1F2933"/>
                </a:solidFill>
              </a:rPr>
              <a:t>A. G. Pereira, M. Ritt and L. S. Buriol, “Optimal Sokoban solving using pattern databases with specific domain knowledge,” Artificial Intelligence, vol. 227, pp. 52–70, 2015.</a:t>
            </a:r>
          </a:p>
          <a:p>
            <a:pPr marL="0" marR="0" indent="0" algn="l" defTabSz="914400" rtl="0" eaLnBrk="0" fontAlgn="base" latinLnBrk="0" hangingPunct="0">
              <a:spcBef>
                <a:spcPts val="700"/>
              </a:spcBef>
              <a:spcAft>
                <a:spcPct val="0"/>
              </a:spcAft>
              <a:buNone/>
            </a:pPr>
            <a:r>
              <a:rPr lang="en-IN" sz="1400" b="1" dirty="0">
                <a:solidFill>
                  <a:srgbClr val="1F2933"/>
                </a:solidFill>
              </a:rPr>
              <a:t>[6]  </a:t>
            </a:r>
            <a:r>
              <a:rPr lang="en-IN" sz="1400" b="0" dirty="0">
                <a:solidFill>
                  <a:srgbClr val="1F2933"/>
                </a:solidFill>
              </a:rPr>
              <a:t>H. W. Kuhn, “The Hungarian method for the assignment problem,” Naval Research Logistics Quarterly, vol. 2, no. 1–2, pp. 83–97, 1955.</a:t>
            </a:r>
          </a:p>
          <a:p>
            <a:pPr marL="0" marR="0" indent="0" algn="l" defTabSz="914400" rtl="0" eaLnBrk="0" fontAlgn="base" latinLnBrk="0" hangingPunct="0">
              <a:spcBef>
                <a:spcPts val="700"/>
              </a:spcBef>
              <a:spcAft>
                <a:spcPct val="0"/>
              </a:spcAft>
              <a:buNone/>
            </a:pPr>
            <a:r>
              <a:rPr lang="en-IN" sz="1400" b="1" dirty="0">
                <a:solidFill>
                  <a:srgbClr val="1F2933"/>
                </a:solidFill>
              </a:rPr>
              <a:t>[7]  </a:t>
            </a:r>
            <a:r>
              <a:rPr lang="en-IN" sz="1400" b="0" dirty="0">
                <a:solidFill>
                  <a:srgbClr val="1F2933"/>
                </a:solidFill>
              </a:rPr>
              <a:t>S. Russell and P. Norvig, Artificial Intelligence: A Modern Approach, 4th ed. Pearson, 2020.</a:t>
            </a:r>
          </a:p>
          <a:p>
            <a:pPr marL="0" marR="0" indent="0" algn="l" defTabSz="914400" rtl="0" eaLnBrk="0" fontAlgn="base" latinLnBrk="0" hangingPunct="0">
              <a:spcBef>
                <a:spcPts val="700"/>
              </a:spcBef>
              <a:spcAft>
                <a:spcPct val="0"/>
              </a:spcAft>
              <a:buNone/>
            </a:pPr>
            <a:r>
              <a:rPr lang="en-IN" sz="1400" b="1" dirty="0">
                <a:solidFill>
                  <a:srgbClr val="1F2933"/>
                </a:solidFill>
              </a:rPr>
              <a:t>[8]  </a:t>
            </a:r>
            <a:r>
              <a:rPr lang="en-IN" sz="1400" b="0" dirty="0">
                <a:solidFill>
                  <a:srgbClr val="1F2933"/>
                </a:solidFill>
              </a:rPr>
              <a:t>Pyodide project, “Pyodide: Python in the browser via WebAssembly,” documentation, https://pyodide.org</a:t>
            </a:r>
          </a:p>
          <a:p>
            <a:pPr marL="0" marR="0" indent="0" algn="l" defTabSz="914400" rtl="0" eaLnBrk="0" fontAlgn="base" latinLnBrk="0" hangingPunct="0">
              <a:spcBef>
                <a:spcPts val="700"/>
              </a:spcBef>
              <a:spcAft>
                <a:spcPct val="0"/>
              </a:spcAft>
              <a:buNone/>
            </a:pPr>
            <a:r>
              <a:rPr lang="en-IN" sz="1400" b="1" dirty="0">
                <a:solidFill>
                  <a:srgbClr val="1F2933"/>
                </a:solidFill>
              </a:rPr>
              <a:t>[9]  </a:t>
            </a:r>
            <a:r>
              <a:rPr lang="en-IN" sz="1400" b="0" dirty="0">
                <a:solidFill>
                  <a:srgbClr val="1F2933"/>
                </a:solidFill>
              </a:rPr>
              <a:t>Mettu Mani Chandhan Sai and Mebish V D, “Sokoban Search Lab” (source code and live demo), https://github.com/MettuManiChandhanSai/sokoban-search-lab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71600" y="4343400"/>
            <a:ext cx="94183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/>
            <a:r>
              <a:rPr sz="1500" b="1">
                <a:solidFill>
                  <a:srgbClr val="193054"/>
                </a:solidFill>
              </a:rPr>
              <a:t>Live demo: </a:t>
            </a:r>
            <a:r>
              <a:rPr sz="1500" b="0">
                <a:solidFill>
                  <a:srgbClr val="44505C"/>
                </a:solidFill>
              </a:rPr>
              <a:t>mettumanichandhansai.github.io/sokoban-search-lab</a:t>
            </a:r>
          </a:p>
          <a:p>
            <a:pPr algn="ctr">
              <a:spcBef>
                <a:spcPts val="400"/>
              </a:spcBef>
            </a:pPr>
            <a:r>
              <a:rPr sz="1500" b="1">
                <a:solidFill>
                  <a:srgbClr val="193054"/>
                </a:solidFill>
              </a:rPr>
              <a:t>Source code: </a:t>
            </a:r>
            <a:r>
              <a:rPr sz="1500" b="0">
                <a:solidFill>
                  <a:srgbClr val="44505C"/>
                </a:solidFill>
              </a:rPr>
              <a:t>github.com/MettuManiChandhanSai/sokoban-search-lab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746</Words>
  <Application>Microsoft Office PowerPoint</Application>
  <PresentationFormat>Widescreen</PresentationFormat>
  <Paragraphs>140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Calibri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Project Progress Since Review 1</vt:lpstr>
      <vt:lpstr>Literature Survey</vt:lpstr>
      <vt:lpstr>Literature Survey</vt:lpstr>
      <vt:lpstr> Research Gap and Project Response</vt:lpstr>
      <vt:lpstr>System Architecture / Proposed System</vt:lpstr>
      <vt:lpstr>DFD Diagram</vt:lpstr>
      <vt:lpstr>Methodology / Workflow Diagram</vt:lpstr>
      <vt:lpstr>Tools and Technologies</vt:lpstr>
      <vt:lpstr>List of Modules</vt:lpstr>
      <vt:lpstr>Module Implementation – Part 1</vt:lpstr>
      <vt:lpstr>Module Implementation – Part 2</vt:lpstr>
      <vt:lpstr>Preliminary Results and Discussion</vt:lpstr>
      <vt:lpstr>User Interface / Implementation Screenshots</vt:lpstr>
      <vt:lpstr>Challenges Faced and Solutions</vt:lpstr>
      <vt:lpstr>Work Plan Until Final Review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16</cp:revision>
  <dcterms:modified xsi:type="dcterms:W3CDTF">2026-10-13T06:01:55Z</dcterms:modified>
</cp:coreProperties>
</file>