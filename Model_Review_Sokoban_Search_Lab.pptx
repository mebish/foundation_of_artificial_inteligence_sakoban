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76" r:id="rId28"/>
    <p:sldId id="268" r:id="rId11"/>
    <p:sldId id="275" r:id="rId12"/>
    <p:sldId id="261" r:id="rId13"/>
    <p:sldId id="262" r:id="rId14"/>
    <p:sldId id="269" r:id="rId15"/>
    <p:sldId id="279" r:id="rId31"/>
    <p:sldId id="278" r:id="rId30"/>
    <p:sldId id="277" r:id="rId29"/>
    <p:sldId id="263" r:id="rId16"/>
    <p:sldId id="280" r:id="rId32"/>
    <p:sldId id="270" r:id="rId17"/>
    <p:sldId id="281" r:id="rId33"/>
    <p:sldId id="282" r:id="rId34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0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9.xml"/><Relationship Id="rId17" Type="http://schemas.openxmlformats.org/officeDocument/2006/relationships/slide" Target="slides/slide21.xml"/><Relationship Id="rId18" Type="http://schemas.openxmlformats.org/officeDocument/2006/relationships/slide" Target="slides/slide24.xml"/><Relationship Id="rId19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0.xml"/><Relationship Id="rId29" Type="http://schemas.openxmlformats.org/officeDocument/2006/relationships/slide" Target="slides/slide18.xml"/><Relationship Id="rId30" Type="http://schemas.openxmlformats.org/officeDocument/2006/relationships/slide" Target="slides/slide17.xml"/><Relationship Id="rId31" Type="http://schemas.openxmlformats.org/officeDocument/2006/relationships/slide" Target="slides/slide16.xml"/><Relationship Id="rId32" Type="http://schemas.openxmlformats.org/officeDocument/2006/relationships/slide" Target="slides/slide20.xml"/><Relationship Id="rId33" Type="http://schemas.openxmlformats.org/officeDocument/2006/relationships/slide" Target="slides/slide22.xml"/><Relationship Id="rId34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933"/>
                </a:solidFill>
              </a:rPr>
              <a:t>Total positions expanded (log scale)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Positions expanded (all 34 levels)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1BAF7A"/>
              </a:solidFill>
            </c:spPr>
          </c:dPt>
          <c:dPt>
            <c:idx val="3"/>
            <c:spPr>
              <a:solidFill>
                <a:srgbClr val="EDA100"/>
              </a:solidFill>
            </c:spPr>
          </c:dPt>
          <c:cat>
            <c:strRef>
              <c:f>Sheet1!$A$2:$A$5</c:f>
              <c:strCache>
                <c:ptCount val="4"/>
                <c:pt idx="0">
                  <c:v>BFS</c:v>
                </c:pt>
                <c:pt idx="1">
                  <c:v>A*</c:v>
                </c:pt>
                <c:pt idx="2">
                  <c:v>A* + DL</c:v>
                </c:pt>
                <c:pt idx="3">
                  <c:v>A* + DL + M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1585175</c:v>
                </c:pt>
                <c:pt idx="1">
                  <c:v>479526</c:v>
                </c:pt>
                <c:pt idx="2">
                  <c:v>225947</c:v>
                </c:pt>
                <c:pt idx="3">
                  <c:v>4930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00000.0"/>
          <c:min val="1000.0"/>
        </c:scaling>
        <c:delete val="0"/>
        <c:axPos val="l"/>
        <c:majorGridlines>
          <c:spPr>
            <a:ln>
              <a:solidFill>
                <a:srgbClr val="D9DE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45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606040"/>
            <a:ext cx="1051560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A Heuristic and Deadlock-Aware Search System for Sokoban Puzzle Solving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26280"/>
            <a:ext cx="4572000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800" b="1" dirty="0">
                <a:solidFill>
                  <a:srgbClr val="FF0000"/>
                </a:solidFill>
              </a:rPr>
              <a:t>Supervisor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193054"/>
                </a:solidFill>
              </a:rPr>
              <a:t>Dr. S. Bhuvana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600" b="0" dirty="0">
                <a:solidFill>
                  <a:srgbClr val="193054"/>
                </a:solidFill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520" y="4526280"/>
            <a:ext cx="5120640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800" b="1" dirty="0">
                <a:solidFill>
                  <a:srgbClr val="FF0000"/>
                </a:solidFill>
              </a:rPr>
              <a:t>Team Members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700" b="1" dirty="0">
                <a:solidFill>
                  <a:srgbClr val="193054"/>
                </a:solidFill>
              </a:rPr>
              <a:t>Mettu Mani Chandhan Sai (241901054)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700" b="1" dirty="0">
                <a:solidFill>
                  <a:srgbClr val="193054"/>
                </a:solidFill>
              </a:rPr>
              <a:t>Mebish V D (241901053)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3268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673352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2075688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Problem: </a:t>
            </a:r>
            <a:r>
              <a:rPr lang="en-IN" sz="2400" b="0" dirty="0">
                <a:solidFill>
                  <a:srgbClr val="1F2933"/>
                </a:solidFill>
              </a:rPr>
              <a:t>find the fewest pushes that put every crate on a goal, without ever creating a deadlocked position.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Why it is hard: </a:t>
            </a:r>
            <a:r>
              <a:rPr lang="en-IN" sz="2400" b="0" dirty="0">
                <a:solidFill>
                  <a:srgbClr val="1F2933"/>
                </a:solidFill>
              </a:rPr>
              <a:t>Sokoban is PSPACE-complete; positions explode with each extra crate, so blind search runs out of time.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Who is affected: </a:t>
            </a:r>
            <a:r>
              <a:rPr lang="en-IN" sz="2400" b="0" dirty="0">
                <a:solidFill>
                  <a:srgbClr val="1F2933"/>
                </a:solidFill>
              </a:rPr>
              <a:t>AI learners who need measurable evidence, and planners of push-only tasks such as warehouse robots.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Motivation: </a:t>
            </a:r>
            <a:r>
              <a:rPr lang="en-IN" sz="2400" b="0" dirty="0">
                <a:solidFill>
                  <a:srgbClr val="1F2933"/>
                </a:solidFill>
              </a:rPr>
              <a:t>combine heuristic search with deadlock knowledge, and make every gain visible in a playable lab.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900" b="0" dirty="0">
                <a:solidFill>
                  <a:srgbClr val="1F2933"/>
                </a:solidFill>
              </a:rPr>
              <a:t>To model Sokoban as a deterministic, fully observable search problem whose actions are pushes and whose cost is the number of pushes.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900" b="0" dirty="0">
                <a:solidFill>
                  <a:srgbClr val="1F2933"/>
                </a:solidFill>
              </a:rPr>
              <a:t>To implement Breadth-First Search as the uninformed, optimal baseline.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900" b="0" dirty="0">
                <a:solidFill>
                  <a:srgbClr val="1F2933"/>
                </a:solidFill>
              </a:rPr>
              <a:t>To implement A* with an admissible, consistent heuristic that finds the same optimum with far fewer positions.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900" b="0" dirty="0">
                <a:solidFill>
                  <a:srgbClr val="1F2933"/>
                </a:solidFill>
              </a:rPr>
              <a:t>To encode deadlock knowledge as sound rules that prune hopeless pushes before they are explored.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900" b="0" dirty="0">
                <a:solidFill>
                  <a:srgbClr val="1F2933"/>
                </a:solidFill>
              </a:rPr>
              <a:t>To sharpen the heuristic with true push distances and min-cost crate-to-goal matching.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900" b="0" dirty="0">
                <a:solidFill>
                  <a:srgbClr val="1F2933"/>
                </a:solidFill>
              </a:rPr>
              <a:t>To deliver an interactive lab (play, hints, live race, benchmark) that measures every gain against BFS.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83080"/>
            <a:ext cx="10744200" cy="429768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2000"/>
              </a:lnSpc>
              <a:spcBef>
                <a:spcPts val="800"/>
              </a:spcBef>
              <a:spcAft>
                <a:spcPct val="0"/>
              </a:spcAft>
              <a:buNone/>
            </a:pPr>
            <a:r>
              <a:rPr lang="en-IN" sz="1900" b="0" dirty="0">
                <a:solidFill>
                  <a:srgbClr val="1F2933"/>
                </a:solidFill>
              </a:rPr>
              <a:t>Sokoban is a PSPACE-complete puzzle in which a keeper pushes crates onto goal squares, and one careless push can make a level unsolvable. This project models Sokoban as a deterministic search problem over push-level states and solves it with a four-rung ladder: BFS, A* with a Manhattan heuristic, A* with knowledge-based deadlock pruning, and A* with a Hungarian min-cost matching heuristic. All four return the optimal push count. On 34 benchmark levels the complete solver solves every level and expands 99.5% fewer positions than BFS (median). The same Python code runs in the browser through Pyodide, inside an interactive lab for play, hints, live algorithm races and benchmarking.</a:t>
            </a:r>
          </a:p>
          <a:p>
            <a:pPr marL="0" marR="0" lvl="0" indent="0" algn="l" defTabSz="914400" rtl="0" eaLnBrk="0" fontAlgn="base" latinLnBrk="0" hangingPunct="0">
              <a:spcBef>
                <a:spcPts val="1800"/>
              </a:spcBef>
              <a:spcAft>
                <a:spcPct val="0"/>
              </a:spcAft>
              <a:buNone/>
            </a:pPr>
            <a:r>
              <a:rPr lang="en-IN" sz="1500" b="1" dirty="0">
                <a:solidFill>
                  <a:srgbClr val="CC0000"/>
                </a:solidFill>
              </a:rPr>
              <a:t>Keywords: </a:t>
            </a:r>
            <a:r>
              <a:rPr lang="en-IN" sz="1500" b="0" dirty="0" i="1">
                <a:solidFill>
                  <a:srgbClr val="1F2933"/>
                </a:solidFill>
              </a:rPr>
              <a:t>state-space search, A*, admissible heuristics, deadlock detection, Hungarian algorithm, Sokoban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1752"/>
            <a:ext cx="10668000" cy="121615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548640" y="17830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P. E. Hart, N. J. Nilsson, B. Raphael (1968)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 Formal Basis for the Heuristic Determination of Minimum Cost Paths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A* best-first search, f(n) = g(n) + h(n); proves optimality with an admissible heuristic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Efficiency rests entirely on h; keeps every generated node in memory; no notion of irreversible dead ends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J. C. Culberson (1997)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Sokoban is PSPACE-complete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Formal complexity analysis of Sokoban by reduction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Theoretical only: offers no solving method, and shows blind search cannot scale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A. Junghanns, J. Schaeffer (2001)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Sokoban: Enhancing General Single-Agent Search Methods Using Domain Knowledge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IDA* with a minimum-matching lower bound, transposition table, deadlock tables, macro moves, relevance cuts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Heavily hand-tuned; relevance cuts can lose optimality; still leaves part of the 90-level test suite unsolved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1752"/>
            <a:ext cx="10668000" cy="121615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34421"/>
              </p:ext>
            </p:extLst>
          </p:nvPr>
        </p:nvGraphicFramePr>
        <p:xfrm>
          <a:off x="548640" y="17830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A. Botea, M. Müller, J. Schaeffer (2002)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Using Abstraction for Planning in Sokoban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Abstraction planning: the maze is split into rooms and tunnels and solved as smaller sub-problems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No optimality guarantee; the gain depends on maze-like structure and is small in open rooms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300" dirty="0"/>
                        <a:t>5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A. G. Pereira, M. Ritt, L. S. Buriol (2015)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Optimal Sokoban Solving Using Pattern Databases with Specific Domain Knowledge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A* with instance-dependent pattern databases, intermediate-goal decomposition and domain tie-breaking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Costly per-instance precomputation and memory; complex to build; does not explain its search to a user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 / 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83080"/>
            <a:ext cx="5257800" cy="196596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1. What existing studies do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Pair search with domain knowledge: A* with admissible bounds [1]; IDA* with deadlock tables and matching bounds [3]; room-and-tunnel abstraction [4]; pattern databases [5].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245352" y="1783080"/>
            <a:ext cx="5257800" cy="196596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2. Limitations observed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Complex, hand-tuned systems; some trade optimality for speed; heavy precomputation; results reported as final totals. Casual Sokoban games offer no AI help at all.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58952" y="3931920"/>
            <a:ext cx="5257800" cy="196596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3. Research gap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No compact, explainable tool isolates what each idea (heuristic, deadlock rule, matching) contributes on identical levels, under one cost model.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245352" y="3931920"/>
            <a:ext cx="5257800" cy="196596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4. How our project responds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A four-rung solver ladder with a shared push cost, rule-attributed pruning, and a web lab that races the algorithms and benchmarks them against BFS.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10744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A guided search ladder replaces trial and error. </a:t>
            </a:r>
            <a:r>
              <a:rPr sz="1400" b="0">
                <a:solidFill>
                  <a:srgbClr val="1F2933"/>
                </a:solidFill>
              </a:rPr>
              <a:t>Each rung adds exactly one idea to the rung below, so the gap between two rungs is the value of that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429000"/>
            <a:ext cx="258775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3557016"/>
            <a:ext cx="402336" cy="40233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3520440"/>
            <a:ext cx="19202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300" b="1">
                <a:solidFill>
                  <a:srgbClr val="193054"/>
                </a:solidFill>
              </a:rPr>
              <a:t>BFS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50791"/>
            <a:ext cx="2377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Uninformed baseline: expands positions in order of pushes.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480560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Autofit/>
          </a:bodyPr>
          <a:lstStyle/>
          <a:p>
            <a:pPr algn="l"/>
            <a:r>
              <a:rPr sz="1100" b="0">
                <a:solidFill>
                  <a:srgbClr val="44505C"/>
                </a:solidFill>
              </a:rPr>
              <a:t>27 / 34 solved</a:t>
            </a:r>
          </a:p>
          <a:p>
            <a:pPr algn="l"/>
            <a:r>
              <a:rPr sz="1250" b="1">
                <a:solidFill>
                  <a:srgbClr val="2A78D6"/>
                </a:solidFill>
              </a:rPr>
              <a:t>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3044952"/>
            <a:ext cx="2587752" cy="1984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3172968"/>
            <a:ext cx="402336" cy="40233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3136392"/>
            <a:ext cx="19202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300" b="1">
                <a:solidFill>
                  <a:srgbClr val="193054"/>
                </a:solidFill>
              </a:rPr>
              <a:t>A*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66744"/>
            <a:ext cx="2377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+ heuristic: Manhattan distance to the nearest goal (admissible, consistent).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480560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Autofit/>
          </a:bodyPr>
          <a:lstStyle/>
          <a:p>
            <a:pPr algn="l"/>
            <a:r>
              <a:rPr sz="1100" b="0">
                <a:solidFill>
                  <a:srgbClr val="44505C"/>
                </a:solidFill>
              </a:rPr>
              <a:t>33 / 34 solved</a:t>
            </a:r>
          </a:p>
          <a:p>
            <a:pPr algn="l"/>
            <a:r>
              <a:rPr sz="1250" b="1">
                <a:solidFill>
                  <a:srgbClr val="EB6834"/>
                </a:solidFill>
              </a:rPr>
              <a:t>84.1% fewer positions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660904"/>
            <a:ext cx="2587752" cy="2368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6792" y="2788920"/>
            <a:ext cx="402336" cy="402336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52344"/>
            <a:ext cx="19202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300" b="1">
                <a:solidFill>
                  <a:srgbClr val="193054"/>
                </a:solidFill>
              </a:rPr>
              <a:t>A* + Deadlock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282696"/>
            <a:ext cx="2377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+ knowledge: corner, wall-line, dead-square and freeze rules prune hopeless pushes.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480560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Autofit/>
          </a:bodyPr>
          <a:lstStyle/>
          <a:p>
            <a:pPr algn="l"/>
            <a:r>
              <a:rPr sz="1100" b="0">
                <a:solidFill>
                  <a:srgbClr val="44505C"/>
                </a:solidFill>
              </a:rPr>
              <a:t>34 / 34 solved</a:t>
            </a:r>
          </a:p>
          <a:p>
            <a:pPr algn="l"/>
            <a:r>
              <a:rPr sz="1250" b="1">
                <a:solidFill>
                  <a:srgbClr val="1BAF7A"/>
                </a:solidFill>
              </a:rPr>
              <a:t>92.6% fewer positions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2276856"/>
            <a:ext cx="2587752" cy="2752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D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61704" y="2404872"/>
            <a:ext cx="402336" cy="402336"/>
          </a:xfrm>
          <a:prstGeom prst="ellipse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368296"/>
            <a:ext cx="19202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A* + Deadlock + Matching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2898648"/>
            <a:ext cx="2377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+ sharper heuristic: true push distances and Hungarian crate-to-goal matching.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4480560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Autofit/>
          </a:bodyPr>
          <a:lstStyle/>
          <a:p>
            <a:pPr algn="l"/>
            <a:r>
              <a:rPr sz="1100" b="0">
                <a:solidFill>
                  <a:srgbClr val="44505C"/>
                </a:solidFill>
              </a:rPr>
              <a:t>34 / 34 solved</a:t>
            </a:r>
          </a:p>
          <a:p>
            <a:pPr algn="l"/>
            <a:r>
              <a:rPr sz="1250" b="1">
                <a:solidFill>
                  <a:srgbClr val="B07700"/>
                </a:solidFill>
              </a:rPr>
              <a:t>99.5% fewer positions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230368"/>
            <a:ext cx="2194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250" b="1">
                <a:solidFill>
                  <a:srgbClr val="CC0000"/>
                </a:solidFill>
              </a:rPr>
              <a:t>Around the solver: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523036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Play &amp; hints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523036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Deadlock coach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523036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Live race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0648" y="523036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Benchmark lab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523036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Level editor &amp;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669280"/>
            <a:ext cx="10744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050" b="0">
                <a:solidFill>
                  <a:srgbClr val="6F7B85"/>
                </a:solidFill>
              </a:rPr>
              <a:t>Median saving in positions expanded vs BFS over 34 levels; every rung returns the same optimal push count.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 – Level 0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>
                <a:solidFill>
                  <a:srgbClr val="CC0000"/>
                </a:solidFill>
              </a:rPr>
              <a:t>Level 0 – context diagram: </a:t>
            </a:r>
            <a:r>
              <a:rPr sz="1500" b="0">
                <a:solidFill>
                  <a:srgbClr val="1F2933"/>
                </a:solidFill>
              </a:rPr>
              <a:t>the whole system as one process and the people who exchange data with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1920240" cy="1097280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Player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(student / user)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3200400"/>
            <a:ext cx="1920240" cy="1097280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Evaluator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(reviewer / tester)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2606040"/>
            <a:ext cx="3108960" cy="2286000"/>
          </a:xfrm>
          <a:prstGeom prst="ellipse">
            <a:avLst/>
          </a:prstGeom>
          <a:solidFill>
            <a:srgbClr val="EBF2FA"/>
          </a:solidFill>
          <a:ln w="1905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4864" bIns="54864">
            <a:noAutofit/>
          </a:bodyPr>
          <a:lstStyle/>
          <a:p>
            <a:pPr algn="ctr"/>
            <a:r>
              <a:rPr sz="1500" b="1">
                <a:solidFill>
                  <a:srgbClr val="CC0000"/>
                </a:solidFill>
              </a:rPr>
              <a:t>0</a:t>
            </a:r>
          </a:p>
          <a:p>
            <a:pPr algn="ctr"/>
            <a:r>
              <a:rPr sz="1700" b="1">
                <a:solidFill>
                  <a:srgbClr val="193054"/>
                </a:solidFill>
              </a:rPr>
              <a:t>Sokoban Search Lab</a:t>
            </a:r>
          </a:p>
          <a:p>
            <a:pPr algn="ctr"/>
            <a:r>
              <a:rPr sz="1100" b="0">
                <a:solidFill>
                  <a:srgbClr val="44505C"/>
                </a:solidFill>
              </a:rPr>
              <a:t>AI solver + interactive web lab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97480" y="3291840"/>
            <a:ext cx="200253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20340" y="282549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level choice, moves, algorithm, custom level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697480" y="4069080"/>
            <a:ext cx="200253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20340" y="428853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board, hints, deadlock warnings, solution animation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552944" y="3291840"/>
            <a:ext cx="195681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39812" y="282549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benchmark request: level pack, time / node budget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552944" y="4069080"/>
            <a:ext cx="195681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39812" y="428853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results table, CSV and Markdown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1">
                <a:solidFill>
                  <a:srgbClr val="44505C"/>
                </a:solidFill>
              </a:rPr>
              <a:t>Notation: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5559552"/>
            <a:ext cx="384048" cy="21945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553212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external 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5559552"/>
            <a:ext cx="384048" cy="219456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553212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process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5559552"/>
            <a:ext cx="502920" cy="21945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800600" y="5559552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00600" y="5779008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00600" y="5559552"/>
            <a:ext cx="0" cy="219456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51476" y="5559552"/>
            <a:ext cx="0" cy="219456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00600" y="5559552"/>
            <a:ext cx="15087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527" y="553212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store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55079" y="5669280"/>
            <a:ext cx="45720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53212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 – Level 1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CC0000"/>
                </a:solidFill>
              </a:rPr>
              <a:t>Level 1: </a:t>
            </a:r>
            <a:r>
              <a:rPr sz="1400" b="0">
                <a:solidFill>
                  <a:srgbClr val="1F2933"/>
                </a:solidFill>
              </a:rPr>
              <a:t>process 0 broken into six processes and three data stores.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64991"/>
            <a:ext cx="1280160" cy="76809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0" y="3364991"/>
            <a:ext cx="1371600" cy="76809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Evaluator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1965960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1.0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Load &amp; Validate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4900" y="33375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2.0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Play &amp; Track Moves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5219" y="33375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3.0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Detect Deadlocks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4900" y="47091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4.0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Search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5219" y="47091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5.0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Benchmark &amp;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4580" y="47091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6.0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Render &amp; Animate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148840"/>
            <a:ext cx="201168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286000" y="2148840"/>
            <a:ext cx="201168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2606040"/>
            <a:ext cx="201168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0" y="2148840"/>
            <a:ext cx="0" cy="45720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70048" y="2148840"/>
            <a:ext cx="0" cy="457200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21488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214884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Session Timeline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2148840"/>
            <a:ext cx="173736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966960" y="21488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66960" y="26060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66960" y="2148840"/>
            <a:ext cx="0" cy="45720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51008" y="2148840"/>
            <a:ext cx="0" cy="457200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966960" y="21488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6728" y="214884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Level Library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4892040"/>
            <a:ext cx="173736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966960" y="48920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66960" y="53492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66960" y="4892040"/>
            <a:ext cx="0" cy="45720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351008" y="4892040"/>
            <a:ext cx="0" cy="457200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966960" y="48920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489204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Benchmark Results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83080" y="3749039"/>
            <a:ext cx="313182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05989" y="3447287"/>
            <a:ext cx="22860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level choice, moves, requests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143000" y="4133087"/>
            <a:ext cx="1211580" cy="896113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4340" y="4663440"/>
            <a:ext cx="1600200" cy="365760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board, overlays, animation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89420" y="2377440"/>
            <a:ext cx="317754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692390" y="2075688"/>
            <a:ext cx="13716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level text (XSB)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52160" y="2788920"/>
            <a:ext cx="0" cy="548639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61888" y="2944368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900" b="0">
                <a:solidFill>
                  <a:srgbClr val="44505C"/>
                </a:solidFill>
              </a:rPr>
              <a:t>level id / Level, start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3840480" y="2606040"/>
            <a:ext cx="1074420" cy="868680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40380" y="2944368"/>
            <a:ext cx="11430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positions, moves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89420" y="3749039"/>
            <a:ext cx="685799" cy="0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03136" y="3282696"/>
            <a:ext cx="658368" cy="347472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850" b="0">
                <a:solidFill>
                  <a:srgbClr val="44505C"/>
                </a:solidFill>
              </a:rPr>
              <a:t>position /</a:t>
            </a:r>
          </a:p>
          <a:p>
            <a:pPr algn="ctr"/>
            <a:r>
              <a:rPr sz="850" b="0">
                <a:solidFill>
                  <a:srgbClr val="44505C"/>
                </a:solidFill>
              </a:rPr>
              <a:t>rule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52160" y="4160520"/>
            <a:ext cx="0" cy="548639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56632" y="4279391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/>
            <a:r>
              <a:rPr sz="850" b="0">
                <a:solidFill>
                  <a:srgbClr val="44505C"/>
                </a:solidFill>
              </a:rPr>
              <a:t>position /</a:t>
            </a:r>
          </a:p>
          <a:p>
            <a:pPr algn="r"/>
            <a:r>
              <a:rPr sz="850" b="0">
                <a:solidFill>
                  <a:srgbClr val="44505C"/>
                </a:solidFill>
              </a:rPr>
              <a:t>solution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6537960" y="4160520"/>
            <a:ext cx="1325880" cy="548639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19188" y="4425696"/>
            <a:ext cx="10515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dead-square map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4229100" y="5120640"/>
            <a:ext cx="68580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251960" y="5175503"/>
            <a:ext cx="640080" cy="347472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850" b="0">
                <a:solidFill>
                  <a:srgbClr val="44505C"/>
                </a:solidFill>
              </a:rPr>
              <a:t>search</a:t>
            </a:r>
          </a:p>
          <a:p>
            <a:pPr algn="ctr"/>
            <a:r>
              <a:rPr sz="850" b="0">
                <a:solidFill>
                  <a:srgbClr val="44505C"/>
                </a:solidFill>
              </a:rPr>
              <a:t>trace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840480" y="4160520"/>
            <a:ext cx="1280160" cy="548639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680460" y="4224528"/>
            <a:ext cx="7772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view state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89420" y="5120640"/>
            <a:ext cx="685799" cy="0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803136" y="5175503"/>
            <a:ext cx="658368" cy="347472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850" b="0">
                <a:solidFill>
                  <a:srgbClr val="44505C"/>
                </a:solidFill>
              </a:rPr>
              <a:t>runs /</a:t>
            </a:r>
          </a:p>
          <a:p>
            <a:pPr algn="ctr"/>
            <a:r>
              <a:rPr sz="850" b="0">
                <a:solidFill>
                  <a:srgbClr val="44505C"/>
                </a:solidFill>
              </a:rPr>
              <a:t>results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8961119" y="2606040"/>
            <a:ext cx="1325881" cy="2103119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372600" y="2807208"/>
            <a:ext cx="5486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levels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9349740" y="4133087"/>
            <a:ext cx="1120140" cy="804672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669780" y="4288536"/>
            <a:ext cx="86868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pack, budget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349740" y="5212079"/>
            <a:ext cx="61722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247119" y="4133087"/>
            <a:ext cx="0" cy="758953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100815" y="4480559"/>
            <a:ext cx="566928" cy="365760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CSV, MD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1">
                <a:solidFill>
                  <a:srgbClr val="44505C"/>
                </a:solidFill>
              </a:rPr>
              <a:t>Notation: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91640" y="5833872"/>
            <a:ext cx="384048" cy="21945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21408" y="58064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external entity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0440" y="5833872"/>
            <a:ext cx="384048" cy="219456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50208" y="58064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process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5833872"/>
            <a:ext cx="502920" cy="21945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4800600" y="5833872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800600" y="6053328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800600" y="5833872"/>
            <a:ext cx="0" cy="219456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951476" y="5833872"/>
            <a:ext cx="0" cy="219456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800600" y="5833872"/>
            <a:ext cx="15087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7527" y="580644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store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355079" y="5943600"/>
            <a:ext cx="45720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858000" y="58064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Level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XSB text: walls #, crates $, goals ., keeper @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6976" y="261518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Parse &amp;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One keeper, crates = goals, enclosed room, every crate reachable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0176" y="261518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453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33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Precompute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Floor graph, dead-square map by reverse pulls, push-distance tables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3376" y="261518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165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Formulate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State = crates + keeper region; action = push; cost = pushes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69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BFS → A* → A* + Deadlock → A* + Deadlock + Matching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36976" y="485546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5021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301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Prune &amp; rebuild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Rules discard hopeless pushes; plan expanded to LURD moves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80176" y="485546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453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733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59 unit + fuzz tests: equal optimal pushes, sound pruning, admissible h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723376" y="485546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9885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165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EVALUATION ·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Evaluate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34 levels × 4 algorithms vs BFS; animation, race, benchmark lab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213848" y="3401568"/>
            <a:ext cx="0" cy="333756"/>
          </a:xfrm>
          <a:prstGeom prst="line">
            <a:avLst/>
          </a:prstGeom>
          <a:ln w="254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984248" y="3735324"/>
            <a:ext cx="8229600" cy="0"/>
          </a:xfrm>
          <a:prstGeom prst="line">
            <a:avLst/>
          </a:prstGeom>
          <a:ln w="254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84248" y="3735324"/>
            <a:ext cx="0" cy="333756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8952" y="573328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1">
                <a:solidFill>
                  <a:srgbClr val="44505C"/>
                </a:solidFill>
              </a:rPr>
              <a:t>Feedback loop: </a:t>
            </a:r>
            <a:r>
              <a:rPr sz="1150" b="0">
                <a:solidFill>
                  <a:srgbClr val="44505C"/>
                </a:solidFill>
              </a:rPr>
              <a:t>findings from testing and benchmarking go back into steps 4–6 (e.g., the state-identity and timing fixes after Review 1).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80060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Used in this project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</a:rPr>
                        <a:t>Programming languages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Python 3.9+ · JavaScript (ES6) · HTML5 · CSS3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Readable search code; a browser UI that needs no install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</a:rPr>
                        <a:t>Libraries / frameworks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Python standard library only (heapq, collections, itertools, time, unittest) · Pyodide · HTML5 Canvas · Web Audio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Same code runs in the terminal, the tests and the browser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</a:rPr>
                        <a:t>Software / tools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VS Code · Git and GitHub · GitHub Pages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Version control and free static hosting of the live demo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</a:rPr>
                        <a:t>Hardware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Any CPU-only PC or laptop (4 GB RAM) with a modern browser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Classical search needs no GPU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</a:rPr>
                        <a:t>Dataset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34 Sokoban levels in XSB text: Training 7 · Classic 9 · Warehouse 9 · Showdown 9, plus generated levels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From one-idea lessons to deadlock-heavy rooms that separate the algorithms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6949440" cy="74980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38528"/>
            <a:ext cx="438912" cy="43891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50" b="1">
                <a:solidFill>
                  <a:srgbClr val="193054"/>
                </a:solidFill>
              </a:rPr>
              <a:t>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/>
            <a:r>
              <a:rPr sz="1000" b="0">
                <a:solidFill>
                  <a:srgbClr val="6F7B85"/>
                </a:solidFill>
              </a:rPr>
              <a:t>engine/ · 263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6172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Rules of Sokoban: level parsing, validation and the push-level state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633472"/>
            <a:ext cx="6949440" cy="74980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88920"/>
            <a:ext cx="438912" cy="43891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79191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50" b="1">
                <a:solidFill>
                  <a:srgbClr val="193054"/>
                </a:solidFill>
              </a:rPr>
              <a:t>Solvers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79191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/>
            <a:r>
              <a:rPr sz="1000" b="0">
                <a:solidFill>
                  <a:srgbClr val="6F7B85"/>
                </a:solidFill>
              </a:rPr>
              <a:t>solvers/ · 578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99232"/>
            <a:ext cx="6172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BFS, A*, deadlock rules and the matching heuristic; pausable search and 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483864"/>
            <a:ext cx="6949440" cy="74980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39312"/>
            <a:ext cx="438912" cy="43891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29584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50" b="1">
                <a:solidFill>
                  <a:srgbClr val="193054"/>
                </a:solidFill>
              </a:rPr>
              <a:t>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529584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/>
            <a:r>
              <a:rPr sz="1000" b="0">
                <a:solidFill>
                  <a:srgbClr val="6F7B85"/>
                </a:solidFill>
              </a:rPr>
              <a:t>interface/ · 423 + 1,869 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49624"/>
            <a:ext cx="6172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Browser UI (Play, Race, Lab, Build, Guide) and the Python bridge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334256"/>
            <a:ext cx="6949440" cy="74980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" y="4489704"/>
            <a:ext cx="438912" cy="43891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79976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50" b="1">
                <a:solidFill>
                  <a:srgbClr val="193054"/>
                </a:solidFill>
              </a:rPr>
              <a:t>Puzzles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379976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/>
            <a:r>
              <a:rPr sz="1000" b="0">
                <a:solidFill>
                  <a:srgbClr val="6F7B85"/>
                </a:solidFill>
              </a:rPr>
              <a:t>puzzles/ · 138 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700016"/>
            <a:ext cx="6172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34-level catalogue in four packs and the reverse-play level generator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5184648"/>
            <a:ext cx="6949440" cy="74980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340096"/>
            <a:ext cx="438912" cy="43891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30368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50" b="1">
                <a:solidFill>
                  <a:srgbClr val="193054"/>
                </a:solidFill>
              </a:rP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23036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/>
            <a:r>
              <a:rPr sz="1000" b="0">
                <a:solidFill>
                  <a:srgbClr val="6F7B85"/>
                </a:solidFill>
              </a:rPr>
              <a:t>analytics/ · 179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550408"/>
            <a:ext cx="6172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Benchmark of every algorithm on every level; table, CSV and Markdown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50" b="1">
                <a:solidFill>
                  <a:srgbClr val="CC0000"/>
                </a:solidFill>
              </a:rPr>
              <a:t>Dependencies point one 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194560"/>
            <a:ext cx="3474720" cy="530352"/>
          </a:xfrm>
          <a:prstGeom prst="roundRect">
            <a:avLst>
              <a:gd name="adj" fmla="val 12000"/>
            </a:avLst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M3 Interface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89264" y="2724912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46720" y="3090672"/>
            <a:ext cx="1085087" cy="64008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050" b="1">
                <a:solidFill>
                  <a:srgbClr val="193054"/>
                </a:solidFill>
              </a:rPr>
              <a:t>M2 Solvers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89264" y="3730752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84080" y="2724912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241536" y="3090672"/>
            <a:ext cx="1085087" cy="64008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050" b="1">
                <a:solidFill>
                  <a:srgbClr val="193054"/>
                </a:solidFill>
              </a:rPr>
              <a:t>M4 Puzzles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84080" y="3730752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978896" y="2724912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436352" y="3090672"/>
            <a:ext cx="1085087" cy="64008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050" b="1">
                <a:solidFill>
                  <a:srgbClr val="193054"/>
                </a:solidFill>
              </a:rPr>
              <a:t>M5 Analytics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978896" y="3730752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46720" y="4096512"/>
            <a:ext cx="3474720" cy="530352"/>
          </a:xfrm>
          <a:prstGeom prst="roundRect">
            <a:avLst>
              <a:gd name="adj" fmla="val 12000"/>
            </a:avLst>
          </a:prstGeom>
          <a:solidFill>
            <a:srgbClr val="E6EAF0"/>
          </a:solidFill>
          <a:ln w="12700">
            <a:solidFill>
              <a:srgbClr val="9A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250" b="1">
                <a:solidFill>
                  <a:srgbClr val="193054"/>
                </a:solidFill>
              </a:rPr>
              <a:t>M1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754880"/>
            <a:ext cx="34747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>
                <a:solidFill>
                  <a:srgbClr val="44505C"/>
                </a:solidFill>
              </a:rPr>
              <a:t>The engine knows nothing else; solvers use the engine; puzzles and analytics use both; the interface sits on top.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1C8553"/>
                </a:solidFill>
              </a:rPr>
              <a:t>All five modules: completed, 59 tests passing.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M1 Engine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6858000" cy="4343400"/>
          </a:xfrm>
        </p:spPr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1" dirty="0">
                <a:solidFill>
                  <a:srgbClr val="1F2933"/>
                </a:solidFill>
              </a:rPr>
              <a:t>Purpose: </a:t>
            </a:r>
            <a:r>
              <a:rPr lang="en-IN" sz="1550" b="0" dirty="0">
                <a:solidFill>
                  <a:srgbClr val="1F2933"/>
                </a:solidFill>
              </a:rPr>
              <a:t>owns the rules of Sokoban and turns a level into a searchable state space.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parse_level() rejects broken levels: one keeper, crates = goals, walls all round, every crate and goal reachable.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Cells are integers (y × width + x), so a step is one addition; a State (keeper, frozenset of crates) is hashable.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reachable() flood-fills the keeper’s region; legal_pushes() lists every crate the keeper can get behind.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arrivals() treats all keeper positions in one region as one state: Storeroom BFS fell from 62,560 to 9,952 positions.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pushes_to_moves() expands a push plan into a playable LURD move string.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Level text in XSB:  #  $  .  @  *  +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15500" y="278892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3063240"/>
            <a:ext cx="3611880" cy="50292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M1 · Engine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15500" y="356616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09560" y="38404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Level (walls, goals, floor, neighbours) and the start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98348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FILES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1F2933"/>
                </a:solidFill>
              </a:rPr>
              <a:t>engine/level.py, engine/state.py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51008" y="4983480"/>
            <a:ext cx="1170432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2400" b="1">
                <a:solidFill>
                  <a:srgbClr val="1C8553"/>
                </a:solidFill>
              </a:rPr>
              <a:t>10</a:t>
            </a:r>
          </a:p>
          <a:p>
            <a:pPr algn="ctr"/>
            <a:r>
              <a:rPr sz="1000" b="0">
                <a:solidFill>
                  <a:srgbClr val="44505C"/>
                </a:solidFill>
              </a:rPr>
              <a:t>tests passing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M2 Solvers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6858000" cy="4343400"/>
          </a:xfrm>
        </p:spPr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1" dirty="0">
                <a:solidFill>
                  <a:srgbClr val="1F2933"/>
                </a:solidFill>
              </a:rPr>
              <a:t>Purpose: </a:t>
            </a:r>
            <a:r>
              <a:rPr lang="en-IN" sz="1550" b="0" dirty="0">
                <a:solidFill>
                  <a:srgbClr val="1F2933"/>
                </a:solidFill>
              </a:rPr>
              <a:t>the AI: four searches of growing intelligence, all minimising pushes.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BFS: FIFO frontier, goal test on generation; optimal but blind.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A*: f = g + h, ties to the smaller h; optimal because h is admissible and consistent.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Deadlocks: dead squares precomputed by pulling crates back from every goal, plus a freeze check on the crate just pushed.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Matching: true push distances and a one-to-one crate-goal assignment by the Hungarian algorithm, O(n³).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Search.advance(seconds) makes every run pausable; Race interleaves four runs.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Level, start State, algorithm, node and time limits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15500" y="278892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3063240"/>
            <a:ext cx="3611880" cy="50292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M2 · Solvers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15500" y="356616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09560" y="38404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Moves, pushes, positions expanded / generated, pushes pruned by rule,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98348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FILES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1F2933"/>
                </a:solidFill>
              </a:rPr>
              <a:t>solvers/ bfs, astar, heuristics, deadlock, solve, compare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51008" y="4983480"/>
            <a:ext cx="1170432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2400" b="1">
                <a:solidFill>
                  <a:srgbClr val="1C8553"/>
                </a:solidFill>
              </a:rPr>
              <a:t>18</a:t>
            </a:r>
          </a:p>
          <a:p>
            <a:pPr algn="ctr"/>
            <a:r>
              <a:rPr sz="1000" b="0">
                <a:solidFill>
                  <a:srgbClr val="44505C"/>
                </a:solidFill>
              </a:rPr>
              <a:t>tests passing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M3 Interface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6858000" cy="4343400"/>
          </a:xfrm>
        </p:spPr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1" dirty="0">
                <a:solidFill>
                  <a:srgbClr val="1F2933"/>
                </a:solidFill>
              </a:rPr>
              <a:t>Purpose: </a:t>
            </a:r>
            <a:r>
              <a:rPr lang="en-IN" sz="1550" b="0" dirty="0">
                <a:solidFill>
                  <a:srgbClr val="1F2933"/>
                </a:solidFill>
              </a:rPr>
              <a:t>everything the player sees, plus the bridge that lets the browser call Python.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bridge.Game keeps one session: the level, a timeline of positions (undo, redo, replay, scrub) and search jobs.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Jobs run in short time slices, so the board keeps animating while BFS works and four searches can race.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call(name, json) is the single JSON door; a bad request returns an error instead of crashing.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Five views: Play, Race, Lab, Build, Guide, with dead-square overlay, search trace and deadlock coach.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Pyodide runs the unchanged Python in the browser; the site is hosted on GitHub Pages.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Keys, clicks, level text, algorithm choice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15500" y="278892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3063240"/>
            <a:ext cx="3611880" cy="50292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M3 · Interface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15500" y="356616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09560" y="38404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Board, overlays, race lanes, benchmark matrix, CSV / Markdown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98348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FILES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1F2933"/>
                </a:solidFill>
              </a:rPr>
              <a:t>interface/bridge.py, site.py, web/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51008" y="4983480"/>
            <a:ext cx="1170432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2400" b="1">
                <a:solidFill>
                  <a:srgbClr val="1C8553"/>
                </a:solidFill>
              </a:rPr>
              <a:t>22</a:t>
            </a:r>
          </a:p>
          <a:p>
            <a:pPr algn="ctr"/>
            <a:r>
              <a:rPr sz="1000" b="0">
                <a:solidFill>
                  <a:srgbClr val="44505C"/>
                </a:solidFill>
              </a:rPr>
              <a:t>tests passing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M4 Puzzles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6858000" cy="4343400"/>
          </a:xfrm>
        </p:spPr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1" dirty="0">
                <a:solidFill>
                  <a:srgbClr val="1F2933"/>
                </a:solidFill>
              </a:rPr>
              <a:t>Purpose: </a:t>
            </a:r>
            <a:r>
              <a:rPr lang="en-IN" sz="1550" b="0" dirty="0">
                <a:solidFill>
                  <a:srgbClr val="1F2933"/>
                </a:solidFill>
              </a:rPr>
              <a:t>the level catalogue, and a generator for new levels that are always solvable.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34 levels in XSB text, one file each, in four packs: Training 7, Classic 9, Warehouse 9, Showdown 9.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A new file in a pack folder appears in the game, the benchmark and the tests with no code change.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The generator plays Sokoban backwards: from the solved position the keeper pulls crates, and every pull reverses a legal push.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Generate and test: 12 candidate rooms are solved optimally and the one needing the most pushes is kept; a seed makes it repeatable.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Level id, or seed, room size and crate count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15500" y="278892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3063240"/>
            <a:ext cx="3611880" cy="50292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M4 · Puzzles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15500" y="356616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09560" y="38404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(Level, State) for any catalogue id; XSB text of new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98348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FILES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1F2933"/>
                </a:solidFill>
              </a:rPr>
              <a:t>puzzles/library.py, generator.py + 34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51008" y="4983480"/>
            <a:ext cx="1170432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2400" b="1">
                <a:solidFill>
                  <a:srgbClr val="1C8553"/>
                </a:solidFill>
              </a:rPr>
              <a:t>5</a:t>
            </a:r>
          </a:p>
          <a:p>
            <a:pPr algn="ctr"/>
            <a:r>
              <a:rPr sz="1000" b="0">
                <a:solidFill>
                  <a:srgbClr val="44505C"/>
                </a:solidFill>
              </a:rPr>
              <a:t>tests passing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– M5 Analytics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6858000" cy="4343400"/>
          </a:xfrm>
        </p:spPr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1" dirty="0">
                <a:solidFill>
                  <a:srgbClr val="1F2933"/>
                </a:solidFill>
              </a:rPr>
              <a:t>Purpose: </a:t>
            </a:r>
            <a:r>
              <a:rPr lang="en-IN" sz="1550" b="0" dirty="0">
                <a:solidFill>
                  <a:srgbClr val="1F2933"/>
                </a:solidFill>
              </a:rPr>
              <a:t>turns searches into evidence.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Runs every algorithm on every level from the same start, under one node limit and one time limit.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Pausable like a search, so the browser’s Lab fills the table row by row.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Each row: status, pushes, moves, positions expanded and generated, pushes pruned, time, % fewer positions and speed-up vs BFS.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If BFS gives up, savings are reported as lower bounds (“&gt; x”).</a:t>
            </a:r>
          </a:p>
          <a:p>
            <a:pPr marL="469900" marR="0" lvl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550" b="0" dirty="0">
                <a:solidFill>
                  <a:srgbClr val="1F2933"/>
                </a:solidFill>
              </a:rPr>
              <a:t>Renders a terminal table, CSV, Markdown and a per-algorithm summary with the median saving.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INPUT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Level pack, node budget, time budget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15500" y="278892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3063240"/>
            <a:ext cx="3611880" cy="50292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M5 · Analytics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15500" y="3566160"/>
            <a:ext cx="0" cy="27432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09560" y="384048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F2933"/>
                </a:solidFill>
              </a:rPr>
              <a:t>Result rows, summary, benchmark.csv, benchmark.md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98348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Autofit/>
          </a:bodyPr>
          <a:lstStyle/>
          <a:p>
            <a:pPr algn="l"/>
            <a:r>
              <a:rPr sz="1000" b="1">
                <a:solidFill>
                  <a:srgbClr val="CC0000"/>
                </a:solidFill>
              </a:rPr>
              <a:t>FILES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1F2933"/>
                </a:solidFill>
              </a:rPr>
              <a:t>analytics/benchmark.py, report.py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51008" y="4983480"/>
            <a:ext cx="1170432" cy="10058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2400" b="1">
                <a:solidFill>
                  <a:srgbClr val="1C8553"/>
                </a:solidFill>
              </a:rPr>
              <a:t>4</a:t>
            </a:r>
          </a:p>
          <a:p>
            <a:pPr algn="ctr"/>
            <a:r>
              <a:rPr sz="1000" b="0">
                <a:solidFill>
                  <a:srgbClr val="44505C"/>
                </a:solidFill>
              </a:rPr>
              <a:t>tests passing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6309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1234440"/>
                <a:gridCol w="777240"/>
                <a:gridCol w="9601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Levels solved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Positions expanded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time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Median saving vs BFS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BFS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27 / 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1,585,175*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193.9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baseline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A*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33 / 34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479,526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61.2 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84.1%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A* + Deadlock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34 / 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225,947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40.8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92.6%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A* + Deadlock + Matching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34 / 34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4,930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0.9 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99.5%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4114800"/>
            <a:ext cx="630936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50" b="1">
                <a:solidFill>
                  <a:srgbClr val="1F2933"/>
                </a:solidFill>
              </a:rPr>
              <a:t>Same answer, less work. </a:t>
            </a:r>
            <a:r>
              <a:rPr sz="1250" b="0">
                <a:solidFill>
                  <a:srgbClr val="1F2933"/>
                </a:solidFill>
              </a:rPr>
              <a:t>All four return the same, optimal push count on every level they finish.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1F2933"/>
                </a:solidFill>
              </a:rPr>
              <a:t>Every idea pays off. </a:t>
            </a:r>
            <a:r>
              <a:rPr sz="1250" b="0">
                <a:solidFill>
                  <a:srgbClr val="1F2933"/>
                </a:solidFill>
              </a:rPr>
              <a:t>Median saving vs BFS: 84.1% → 92.6% → 99.5% fewer positions.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1F2933"/>
                </a:solidFill>
              </a:rPr>
              <a:t>Coverage. </a:t>
            </a:r>
            <a:r>
              <a:rPr sz="1250" b="0">
                <a:solidFill>
                  <a:srgbClr val="1F2933"/>
                </a:solidFill>
              </a:rPr>
              <a:t>The complete solver solves 34 / 34 levels in 0.9 s in total; BFS solves 27.</a:t>
            </a:r>
          </a:p>
          <a:p>
            <a:pPr algn="l">
              <a:spcBef>
                <a:spcPts val="900"/>
              </a:spcBef>
            </a:pPr>
            <a:r>
              <a:rPr sz="1000" b="0">
                <a:solidFill>
                  <a:srgbClr val="6F7B85"/>
                </a:solidFill>
              </a:rPr>
              <a:t>Benchmark: 34 levels, 200,000 positions / 20 s per search.  * BFS hit the budget on 7 levels, so its total is a lower bound.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269480" y="1691640"/>
          <a:ext cx="429768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6675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1">
                <a:solidFill>
                  <a:srgbClr val="193054"/>
                </a:solidFill>
              </a:rPr>
              <a:t>Showdown pack – positions expanded per level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" y="2011680"/>
          <a:ext cx="676656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85800"/>
                <a:gridCol w="731520"/>
                <a:gridCol w="1051560"/>
                <a:gridCol w="914400"/>
                <a:gridCol w="86868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Crates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Pushes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BFS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A*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A* + DL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A* + DL + M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Aisle Nine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20,170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2,298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928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Double Stack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36,971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2,273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964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35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Tight Turn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38,746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3,822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1,340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Long Haul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39,882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8,952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5,350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130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Bottleneck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66,692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3,293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1,715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Four-way Stop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59,926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11,336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5,078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1,365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Dead Stock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77,568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23,707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2,969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79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Backlog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B42318"/>
                          </a:solidFill>
                        </a:rPr>
                        <a:t>≥ 200,000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18,343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7,907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532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3"/>
                          </a:solidFill>
                        </a:rPr>
                        <a:t>Rush Hour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F2933"/>
                          </a:solidFill>
                        </a:rPr>
                        <a:t>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B42318"/>
                          </a:solidFill>
                        </a:rPr>
                        <a:t>≥ 188,064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107,759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38,453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F2933"/>
                          </a:solidFill>
                        </a:rPr>
                        <a:t>344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0" y="1664208"/>
            <a:ext cx="3520440" cy="4389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CC0000"/>
                </a:solidFill>
              </a:rPr>
              <a:t>What the numbers show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933"/>
                </a:solidFill>
              </a:rPr>
              <a:t>Pushes never differ: </a:t>
            </a:r>
            <a:r>
              <a:rPr sz="1200" b="0">
                <a:solidFill>
                  <a:srgbClr val="1F2933"/>
                </a:solidFill>
              </a:rPr>
              <a:t>every algorithm is optimal in pushes.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933"/>
                </a:solidFill>
              </a:rPr>
              <a:t>Moves can differ: </a:t>
            </a:r>
            <a:r>
              <a:rPr sz="1200" b="0">
                <a:solidFill>
                  <a:srgbClr val="1F2933"/>
                </a:solidFill>
              </a:rPr>
              <a:t>on Aisle Nine BFS walks 40 moves, A* 61, matching 37; several optimal push plans exist.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933"/>
                </a:solidFill>
              </a:rPr>
              <a:t>Deadlock rules cut dead ends only: </a:t>
            </a:r>
            <a:r>
              <a:rPr sz="1200" b="0">
                <a:solidFill>
                  <a:srgbClr val="1F2933"/>
                </a:solidFill>
              </a:rPr>
              <a:t>A* + DL returns A*’s exact route with up to 8× fewer positions (Dead Stock).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933"/>
                </a:solidFill>
              </a:rPr>
              <a:t>Explained pruning: </a:t>
            </a:r>
            <a:r>
              <a:rPr sz="1200" b="0">
                <a:solidFill>
                  <a:srgbClr val="1F2933"/>
                </a:solidFill>
              </a:rPr>
              <a:t>on Double Stack the rules removed 1,170 corner, 846 wall-line and 167 freeze pushes.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933"/>
                </a:solidFill>
              </a:rPr>
              <a:t>Matching is the biggest jump: </a:t>
            </a:r>
            <a:r>
              <a:rPr sz="1200" b="0">
                <a:solidFill>
                  <a:srgbClr val="1F2933"/>
                </a:solidFill>
              </a:rPr>
              <a:t>Rush Hour 38,453 → 344 positions.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6F7B85"/>
                </a:solidFill>
              </a:rPr>
              <a:t>Red: BFS hit the 200,000-position budget, so the true count is higher.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Model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245352"/>
            <a:ext cx="5394960" cy="475488"/>
          </a:xfrm>
        </p:spPr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 descr="ui_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5106389" cy="3429000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" y="5285232"/>
            <a:ext cx="525780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Play + solver – </a:t>
            </a:r>
            <a:r>
              <a:rPr sz="1200" b="0">
                <a:solidFill>
                  <a:srgbClr val="1F2933"/>
                </a:solidFill>
              </a:rPr>
              <a:t>A* + Deadlock + Matching solves Storeroom in 12 pushes after expanding 13 positions; hatched squares are dead squares, the timeline replays the answer.</a:t>
            </a:r>
          </a:p>
        </p:txBody>
      </p:sp>
      <p:pic>
        <p:nvPicPr>
          <p:cNvPr id="9" name="Picture 8" descr="ui_co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83080"/>
            <a:ext cx="5106389" cy="3429000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5285232"/>
            <a:ext cx="525780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Deadlock coach – </a:t>
            </a:r>
            <a:r>
              <a:rPr sz="1200" b="0">
                <a:solidFill>
                  <a:srgbClr val="1F2933"/>
                </a:solidFill>
              </a:rPr>
              <a:t>the moment a push makes the level unwinnable, the rule is named (here: corner trap) and the crate is outlined; Undo steps back.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Model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245352"/>
            <a:ext cx="5394960" cy="475488"/>
          </a:xfrm>
        </p:spPr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 descr="ui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5257800" cy="2812311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" y="4668543"/>
            <a:ext cx="5257800" cy="1412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Race – </a:t>
            </a:r>
            <a:r>
              <a:rPr sz="1200" b="0">
                <a:solidFill>
                  <a:srgbClr val="1F2933"/>
                </a:solidFill>
              </a:rPr>
              <a:t>all four algorithms on Double Stack at once: 36,971 vs 2,273 vs 964 vs 35 positions expanded for the same 15 pushes.</a:t>
            </a:r>
          </a:p>
        </p:txBody>
      </p:sp>
      <p:pic>
        <p:nvPicPr>
          <p:cNvPr id="9" name="Picture 8" descr="ui_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83080"/>
            <a:ext cx="5257800" cy="2833709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4689941"/>
            <a:ext cx="5257800" cy="139081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Benchmark lab – </a:t>
            </a:r>
            <a:r>
              <a:rPr sz="1200" b="0">
                <a:solidFill>
                  <a:srgbClr val="1F2933"/>
                </a:solidFill>
              </a:rPr>
              <a:t>every algorithm on every level of a pack, with totals, median savings and CSV / Markdown export.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Model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245352"/>
            <a:ext cx="5394960" cy="475488"/>
          </a:xfrm>
        </p:spPr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 descr="ui_b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5106389" cy="3429000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" y="5285232"/>
            <a:ext cx="525780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Search trace – </a:t>
            </a:r>
            <a:r>
              <a:rPr sz="1200" b="0">
                <a:solidFill>
                  <a:srgbClr val="1F2933"/>
                </a:solidFill>
              </a:rPr>
              <a:t>after BFS, the orange tint shows every square where it tried a crate; the informed searches touch only a few.</a:t>
            </a:r>
          </a:p>
        </p:txBody>
      </p:sp>
      <p:pic>
        <p:nvPicPr>
          <p:cNvPr id="9" name="Picture 8" descr="ui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83080"/>
            <a:ext cx="4977113" cy="3429000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5285232"/>
            <a:ext cx="525780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Build – </a:t>
            </a:r>
            <a:r>
              <a:rPr sz="1200" b="0">
                <a:solidFill>
                  <a:srgbClr val="1F2933"/>
                </a:solidFill>
              </a:rPr>
              <a:t>level editor with instant validation, and a generator that builds solvable levels by reverse play.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0" dirty="0">
                <a:solidFill>
                  <a:srgbClr val="1F2933"/>
                </a:solidFill>
              </a:rPr>
              <a:t>Searching over pushes, with keeper positions merged by region, keeps the state space small enough for exact search on all 34 levels.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0" dirty="0">
                <a:solidFill>
                  <a:srgbClr val="1F2933"/>
                </a:solidFill>
              </a:rPr>
              <a:t>Each classical idea earns its place: median savings of 84.1%, 92.6% and 99.5% fewer positions than BFS, with the same optimal push count.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0" dirty="0">
                <a:solidFill>
                  <a:srgbClr val="1F2933"/>
                </a:solidFill>
              </a:rPr>
              <a:t>Deadlock rules are sound (fuzz-tested against exhaustive search) and explainable: every pruned push names its rule.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0" dirty="0">
                <a:solidFill>
                  <a:srgbClr val="1F2933"/>
                </a:solidFill>
              </a:rPr>
              <a:t>One Python code base drives the tests, the benchmark and the browser lab, so the numbers on screen are the numbers in the report.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1" dirty="0">
                <a:solidFill>
                  <a:srgbClr val="1F2933"/>
                </a:solidFill>
              </a:rPr>
              <a:t>Stronger deadlock detection: </a:t>
            </a:r>
            <a:r>
              <a:rPr lang="en-IN" sz="2100" b="0" dirty="0">
                <a:solidFill>
                  <a:srgbClr val="1F2933"/>
                </a:solidFill>
              </a:rPr>
              <a:t>corral analysis and deadlock patterns learned on small sub-boards.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1" dirty="0">
                <a:solidFill>
                  <a:srgbClr val="1F2933"/>
                </a:solidFill>
              </a:rPr>
              <a:t>Larger levels: </a:t>
            </a:r>
            <a:r>
              <a:rPr lang="en-IN" sz="2100" b="0" dirty="0">
                <a:solidFill>
                  <a:srgbClr val="1F2933"/>
                </a:solidFill>
              </a:rPr>
              <a:t>IDA* with transposition tables, tunnel and goal-room macros.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1" dirty="0">
                <a:solidFill>
                  <a:srgbClr val="1F2933"/>
                </a:solidFill>
              </a:rPr>
              <a:t>Public benchmarks: </a:t>
            </a:r>
            <a:r>
              <a:rPr lang="en-IN" sz="2100" b="0" dirty="0">
                <a:solidFill>
                  <a:srgbClr val="1F2933"/>
                </a:solidFill>
              </a:rPr>
              <a:t>evaluate on XSokoban and Microban and compare with published solvers.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1" dirty="0">
                <a:solidFill>
                  <a:srgbClr val="1F2933"/>
                </a:solidFill>
              </a:rPr>
              <a:t>Learned move ordering: </a:t>
            </a:r>
            <a:r>
              <a:rPr lang="en-IN" sz="2100" b="0" dirty="0">
                <a:solidFill>
                  <a:srgbClr val="1F2933"/>
                </a:solidFill>
              </a:rPr>
              <a:t>a small model ranks pushes while A* keeps the optimality guarantee.</a:t>
            </a:r>
          </a:p>
          <a:p>
            <a:pPr marL="469900" marR="0" lvl="0" indent="-469900" algn="l" defTabSz="914400" rtl="0" eaLnBrk="0" fontAlgn="base" latinLnBrk="0" hangingPunct="0">
              <a:spcBef>
                <a:spcPts val="14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100" b="1" dirty="0">
                <a:solidFill>
                  <a:srgbClr val="1F2933"/>
                </a:solidFill>
              </a:rPr>
              <a:t>Teaching mode: </a:t>
            </a:r>
            <a:r>
              <a:rPr lang="en-IN" sz="2100" b="0" dirty="0">
                <a:solidFill>
                  <a:srgbClr val="1F2933"/>
                </a:solidFill>
              </a:rPr>
              <a:t>step through f, g and h for every expanded position.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10789920" cy="443484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[1]  </a:t>
            </a:r>
            <a:r>
              <a:rPr lang="en-IN" sz="1400" b="0" dirty="0">
                <a:solidFill>
                  <a:srgbClr val="1F2933"/>
                </a:solidFill>
              </a:rPr>
              <a:t>P. E. Hart, N. J. Nilsson and B. Raphael, “A formal basis for the heuristic determination of minimum cost paths,” IEEE Trans. Systems Science and Cybernetics, vol. 4, no. 2, pp. 100–107, 1968.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[2]  </a:t>
            </a:r>
            <a:r>
              <a:rPr lang="en-IN" sz="1400" b="0" dirty="0">
                <a:solidFill>
                  <a:srgbClr val="1F2933"/>
                </a:solidFill>
              </a:rPr>
              <a:t>J. C. Culberson, “Sokoban is PSPACE-complete,” Tech. Rep. TR 97-02, Dept. of Computing Science, University of Alberta, 1997.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[3]  </a:t>
            </a:r>
            <a:r>
              <a:rPr lang="en-IN" sz="1400" b="0" dirty="0">
                <a:solidFill>
                  <a:srgbClr val="1F2933"/>
                </a:solidFill>
              </a:rPr>
              <a:t>A. Junghanns and J. Schaeffer, “Sokoban: Enhancing general single-agent search methods using domain knowledge,” Artificial Intelligence, vol. 129, no. 1–2, pp. 219–251, 2001.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[4]  </a:t>
            </a:r>
            <a:r>
              <a:rPr lang="en-IN" sz="1400" b="0" dirty="0">
                <a:solidFill>
                  <a:srgbClr val="1F2933"/>
                </a:solidFill>
              </a:rPr>
              <a:t>A. Botea, M. Müller and J. Schaeffer, “Using abstraction for planning in Sokoban,” in Computers and Games (CG 2002), LNCS 2883, Springer, 2003, pp. 360–375.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[5]  </a:t>
            </a:r>
            <a:r>
              <a:rPr lang="en-IN" sz="1400" b="0" dirty="0">
                <a:solidFill>
                  <a:srgbClr val="1F2933"/>
                </a:solidFill>
              </a:rPr>
              <a:t>A. G. Pereira, M. Ritt and L. S. Buriol, “Optimal Sokoban solving using pattern databases with specific domain knowledge,” Artificial Intelligence, vol. 227, pp. 52–70, 2015.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[6]  </a:t>
            </a:r>
            <a:r>
              <a:rPr lang="en-IN" sz="1400" b="0" dirty="0">
                <a:solidFill>
                  <a:srgbClr val="1F2933"/>
                </a:solidFill>
              </a:rPr>
              <a:t>H. W. Kuhn, “The Hungarian method for the assignment problem,” Naval Research Logistics Quarterly, vol. 2, no. 1–2, pp. 83–97, 1955.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[7]  </a:t>
            </a:r>
            <a:r>
              <a:rPr lang="en-IN" sz="1400" b="0" dirty="0">
                <a:solidFill>
                  <a:srgbClr val="1F2933"/>
                </a:solidFill>
              </a:rPr>
              <a:t>S. Russell and P. Norvig, Artificial Intelligence: A Modern Approach, 4th ed. Pearson, 2020.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[8]  </a:t>
            </a:r>
            <a:r>
              <a:rPr lang="en-IN" sz="1400" b="0" dirty="0">
                <a:solidFill>
                  <a:srgbClr val="1F2933"/>
                </a:solidFill>
              </a:rPr>
              <a:t>Pyodide project, “Pyodide: Python in the browser via WebAssembly,” documentation, https://pyodide.org</a:t>
            </a:r>
          </a:p>
          <a:p>
            <a:pPr marL="0" marR="0" lvl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[9]  </a:t>
            </a:r>
            <a:r>
              <a:rPr lang="en-IN" sz="1400" b="0" dirty="0">
                <a:solidFill>
                  <a:srgbClr val="1F2933"/>
                </a:solidFill>
              </a:rPr>
              <a:t>Mettu Mani Chandhan Sai and Mebish V D, “Sokoban Search Lab” (source code and live demo), https://github.com/MettuManiChandhanSai/sokoban-search-lab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18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500" b="1">
                <a:solidFill>
                  <a:srgbClr val="193054"/>
                </a:solidFill>
              </a:rPr>
              <a:t>Live demo: </a:t>
            </a:r>
            <a:r>
              <a:rPr sz="1500" b="0">
                <a:solidFill>
                  <a:srgbClr val="44505C"/>
                </a:solidFill>
              </a:rPr>
              <a:t>mettumanichandhansai.github.io/sokoban-search-lab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193054"/>
                </a:solidFill>
              </a:rPr>
              <a:t>Source code: </a:t>
            </a:r>
            <a:r>
              <a:rPr sz="1500" b="0">
                <a:solidFill>
                  <a:srgbClr val="44505C"/>
                </a:solidFill>
              </a:rPr>
              <a:t>github.com/MettuManiChandhanSai/sokoban-search-lab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420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 System</vt:lpstr>
      <vt:lpstr>DFD Diagram</vt:lpstr>
      <vt:lpstr>Methodology/Work Flow Diagram</vt:lpstr>
      <vt:lpstr>Tools and Technologies</vt:lpstr>
      <vt:lpstr>List of Modules</vt:lpstr>
      <vt:lpstr>Module Description(For each Module separately)</vt:lpstr>
      <vt:lpstr>Module Description(For each Module separately)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modified xsi:type="dcterms:W3CDTF">2026-10-13T05:55:04Z</dcterms:modified>
</cp:coreProperties>
</file>