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sldIdLst>
    <p:sldId id="275"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snapToObjects="1">
      <p:cViewPr varScale="1">
        <p:scale>
          <a:sx n="78" d="100"/>
          <a:sy n="78" d="100"/>
        </p:scale>
        <p:origin x="715"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DA59A-BCBE-48E2-A350-FB035DDECB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5FF6DBD-B524-460B-AA44-E186583A49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14A3FC-54A1-489A-8276-92648A22A5D9}"/>
              </a:ext>
            </a:extLst>
          </p:cNvPr>
          <p:cNvSpPr>
            <a:spLocks noGrp="1"/>
          </p:cNvSpPr>
          <p:nvPr>
            <p:ph type="dt" sz="half" idx="10"/>
          </p:nvPr>
        </p:nvSpPr>
        <p:spPr/>
        <p:txBody>
          <a:bodyPr/>
          <a:lstStyle/>
          <a:p>
            <a:fld id="{AF51A6A6-A7F2-4933-9075-6FF54A45A246}" type="datetime1">
              <a:rPr lang="en-IN" smtClean="0"/>
              <a:t>24-09-2026</a:t>
            </a:fld>
            <a:endParaRPr lang="en-IN"/>
          </a:p>
        </p:txBody>
      </p:sp>
      <p:sp>
        <p:nvSpPr>
          <p:cNvPr id="5" name="Footer Placeholder 4">
            <a:extLst>
              <a:ext uri="{FF2B5EF4-FFF2-40B4-BE49-F238E27FC236}">
                <a16:creationId xmlns:a16="http://schemas.microsoft.com/office/drawing/2014/main" id="{94F8D5EB-B231-46BD-AC05-9475512F664D}"/>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795ACC44-0FA3-41D7-8827-56818F396F7A}"/>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9757703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2A280-D3AA-4359-82E8-23CF7F95F95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B80452E-B981-494B-AF11-EEEB6CB1BC6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F6FC46-05C5-491A-98F5-67DFE9F1BD84}"/>
              </a:ext>
            </a:extLst>
          </p:cNvPr>
          <p:cNvSpPr>
            <a:spLocks noGrp="1"/>
          </p:cNvSpPr>
          <p:nvPr>
            <p:ph type="dt" sz="half" idx="10"/>
          </p:nvPr>
        </p:nvSpPr>
        <p:spPr/>
        <p:txBody>
          <a:bodyPr/>
          <a:lstStyle/>
          <a:p>
            <a:fld id="{8E93293B-E7C6-4EBD-97F1-D064646A23FC}" type="datetime1">
              <a:rPr lang="en-IN" smtClean="0"/>
              <a:t>24-09-2026</a:t>
            </a:fld>
            <a:endParaRPr lang="en-IN"/>
          </a:p>
        </p:txBody>
      </p:sp>
      <p:sp>
        <p:nvSpPr>
          <p:cNvPr id="5" name="Footer Placeholder 4">
            <a:extLst>
              <a:ext uri="{FF2B5EF4-FFF2-40B4-BE49-F238E27FC236}">
                <a16:creationId xmlns:a16="http://schemas.microsoft.com/office/drawing/2014/main" id="{25EC7F8E-CF1F-4BF8-9AB5-1D86268D62CB}"/>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609DCA77-D61D-46CC-A34B-A12DBAB35CA6}"/>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42690605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E4260-F786-41D5-AA19-25971DA5A7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9254B45-ABB3-43F6-A69A-330D3EEE3A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6BFBA7F-C03D-42BA-860F-C0084E058366}"/>
              </a:ext>
            </a:extLst>
          </p:cNvPr>
          <p:cNvSpPr>
            <a:spLocks noGrp="1"/>
          </p:cNvSpPr>
          <p:nvPr>
            <p:ph type="dt" sz="half" idx="10"/>
          </p:nvPr>
        </p:nvSpPr>
        <p:spPr/>
        <p:txBody>
          <a:bodyPr/>
          <a:lstStyle/>
          <a:p>
            <a:fld id="{A9C731AF-597A-4011-A47A-590DF41FF4CE}" type="datetime1">
              <a:rPr lang="en-IN" smtClean="0"/>
              <a:t>24-09-2026</a:t>
            </a:fld>
            <a:endParaRPr lang="en-IN"/>
          </a:p>
        </p:txBody>
      </p:sp>
      <p:sp>
        <p:nvSpPr>
          <p:cNvPr id="5" name="Footer Placeholder 4">
            <a:extLst>
              <a:ext uri="{FF2B5EF4-FFF2-40B4-BE49-F238E27FC236}">
                <a16:creationId xmlns:a16="http://schemas.microsoft.com/office/drawing/2014/main" id="{743C5C7F-0F76-4539-A47B-34FE706B30B2}"/>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30338696-8488-4503-B740-D2352312EA00}"/>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19312573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B93C4-F8EF-4CB4-90F1-A6F2C25334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A15783-F42E-4766-9BD6-9281265A44E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8CDE48A-A630-45BF-BFE4-7FAE6E8FE51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2F3FBA5-DF65-41CC-BAA5-E9D93CAD490F}"/>
              </a:ext>
            </a:extLst>
          </p:cNvPr>
          <p:cNvSpPr>
            <a:spLocks noGrp="1"/>
          </p:cNvSpPr>
          <p:nvPr>
            <p:ph type="dt" sz="half" idx="10"/>
          </p:nvPr>
        </p:nvSpPr>
        <p:spPr/>
        <p:txBody>
          <a:bodyPr/>
          <a:lstStyle/>
          <a:p>
            <a:fld id="{9BE8AE2A-4198-4CFC-8A3D-99793047056B}" type="datetime1">
              <a:rPr lang="en-IN" smtClean="0"/>
              <a:t>24-09-2026</a:t>
            </a:fld>
            <a:endParaRPr lang="en-IN"/>
          </a:p>
        </p:txBody>
      </p:sp>
      <p:sp>
        <p:nvSpPr>
          <p:cNvPr id="6" name="Footer Placeholder 5">
            <a:extLst>
              <a:ext uri="{FF2B5EF4-FFF2-40B4-BE49-F238E27FC236}">
                <a16:creationId xmlns:a16="http://schemas.microsoft.com/office/drawing/2014/main" id="{BD748E5F-5552-416B-BC90-C62417A3A896}"/>
              </a:ext>
            </a:extLst>
          </p:cNvPr>
          <p:cNvSpPr>
            <a:spLocks noGrp="1"/>
          </p:cNvSpPr>
          <p:nvPr>
            <p:ph type="ftr" sz="quarter" idx="11"/>
          </p:nvPr>
        </p:nvSpPr>
        <p:spPr/>
        <p:txBody>
          <a:bodyPr/>
          <a:lstStyle/>
          <a:p>
            <a:r>
              <a:rPr lang="en-US"/>
              <a:t>Rajalakshmi Engineering College,Department of Cyber Security</a:t>
            </a:r>
            <a:endParaRPr lang="en-IN"/>
          </a:p>
        </p:txBody>
      </p:sp>
      <p:sp>
        <p:nvSpPr>
          <p:cNvPr id="7" name="Slide Number Placeholder 6">
            <a:extLst>
              <a:ext uri="{FF2B5EF4-FFF2-40B4-BE49-F238E27FC236}">
                <a16:creationId xmlns:a16="http://schemas.microsoft.com/office/drawing/2014/main" id="{3D6DDB7E-587A-4AA5-8A58-352BC20C792F}"/>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29179778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07CEE-8F3F-40F1-B22D-D53F1637F0B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7BAEE05-D573-4122-8E24-00B78F74B0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AF22DC4-F974-49BF-B147-72208B764FB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AE9CDB9-0076-4DF6-9690-182E5157AA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593C982-67D7-427B-8C3D-1FF7CC53EF8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C65A0D-D7E5-4F76-A5DC-B3A473496CA6}"/>
              </a:ext>
            </a:extLst>
          </p:cNvPr>
          <p:cNvSpPr>
            <a:spLocks noGrp="1"/>
          </p:cNvSpPr>
          <p:nvPr>
            <p:ph type="dt" sz="half" idx="10"/>
          </p:nvPr>
        </p:nvSpPr>
        <p:spPr/>
        <p:txBody>
          <a:bodyPr/>
          <a:lstStyle/>
          <a:p>
            <a:fld id="{5979E98C-4750-4DE8-AE7D-913096F33BA4}" type="datetime1">
              <a:rPr lang="en-IN" smtClean="0"/>
              <a:t>24-09-2026</a:t>
            </a:fld>
            <a:endParaRPr lang="en-IN"/>
          </a:p>
        </p:txBody>
      </p:sp>
      <p:sp>
        <p:nvSpPr>
          <p:cNvPr id="8" name="Footer Placeholder 7">
            <a:extLst>
              <a:ext uri="{FF2B5EF4-FFF2-40B4-BE49-F238E27FC236}">
                <a16:creationId xmlns:a16="http://schemas.microsoft.com/office/drawing/2014/main" id="{5224A474-160B-4E5B-B8C1-9A764A898991}"/>
              </a:ext>
            </a:extLst>
          </p:cNvPr>
          <p:cNvSpPr>
            <a:spLocks noGrp="1"/>
          </p:cNvSpPr>
          <p:nvPr>
            <p:ph type="ftr" sz="quarter" idx="11"/>
          </p:nvPr>
        </p:nvSpPr>
        <p:spPr/>
        <p:txBody>
          <a:bodyPr/>
          <a:lstStyle/>
          <a:p>
            <a:r>
              <a:rPr lang="en-US"/>
              <a:t>Rajalakshmi Engineering College,Department of Cyber Security</a:t>
            </a:r>
            <a:endParaRPr lang="en-IN"/>
          </a:p>
        </p:txBody>
      </p:sp>
      <p:sp>
        <p:nvSpPr>
          <p:cNvPr id="9" name="Slide Number Placeholder 8">
            <a:extLst>
              <a:ext uri="{FF2B5EF4-FFF2-40B4-BE49-F238E27FC236}">
                <a16:creationId xmlns:a16="http://schemas.microsoft.com/office/drawing/2014/main" id="{66B52139-45CD-4883-962C-8B58CD26A6C3}"/>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1135795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30830-F074-417B-B120-745038C2D84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EEC52E2-6C9D-4F48-9885-60AA29DED4E7}"/>
              </a:ext>
            </a:extLst>
          </p:cNvPr>
          <p:cNvSpPr>
            <a:spLocks noGrp="1"/>
          </p:cNvSpPr>
          <p:nvPr>
            <p:ph type="dt" sz="half" idx="10"/>
          </p:nvPr>
        </p:nvSpPr>
        <p:spPr/>
        <p:txBody>
          <a:bodyPr/>
          <a:lstStyle/>
          <a:p>
            <a:fld id="{76A4900D-B9D7-4B48-B03E-93C6BFA38FDB}" type="datetime1">
              <a:rPr lang="en-IN" smtClean="0"/>
              <a:t>24-09-2026</a:t>
            </a:fld>
            <a:endParaRPr lang="en-IN"/>
          </a:p>
        </p:txBody>
      </p:sp>
      <p:sp>
        <p:nvSpPr>
          <p:cNvPr id="4" name="Footer Placeholder 3">
            <a:extLst>
              <a:ext uri="{FF2B5EF4-FFF2-40B4-BE49-F238E27FC236}">
                <a16:creationId xmlns:a16="http://schemas.microsoft.com/office/drawing/2014/main" id="{136F0182-AF02-46DC-A005-32A72DB49D74}"/>
              </a:ext>
            </a:extLst>
          </p:cNvPr>
          <p:cNvSpPr>
            <a:spLocks noGrp="1"/>
          </p:cNvSpPr>
          <p:nvPr>
            <p:ph type="ftr" sz="quarter" idx="11"/>
          </p:nvPr>
        </p:nvSpPr>
        <p:spPr/>
        <p:txBody>
          <a:bodyPr/>
          <a:lstStyle/>
          <a:p>
            <a:r>
              <a:rPr lang="en-US"/>
              <a:t>Rajalakshmi Engineering College,Department of Cyber Security</a:t>
            </a:r>
            <a:endParaRPr lang="en-IN"/>
          </a:p>
        </p:txBody>
      </p:sp>
      <p:sp>
        <p:nvSpPr>
          <p:cNvPr id="5" name="Slide Number Placeholder 4">
            <a:extLst>
              <a:ext uri="{FF2B5EF4-FFF2-40B4-BE49-F238E27FC236}">
                <a16:creationId xmlns:a16="http://schemas.microsoft.com/office/drawing/2014/main" id="{BF89F1EB-8B71-439F-B1E9-6EA720C1B448}"/>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9677858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52A6E2-8CED-468E-B9C8-63EEF92A1ACC}"/>
              </a:ext>
            </a:extLst>
          </p:cNvPr>
          <p:cNvSpPr>
            <a:spLocks noGrp="1"/>
          </p:cNvSpPr>
          <p:nvPr>
            <p:ph type="dt" sz="half" idx="10"/>
          </p:nvPr>
        </p:nvSpPr>
        <p:spPr/>
        <p:txBody>
          <a:bodyPr/>
          <a:lstStyle/>
          <a:p>
            <a:fld id="{999DD085-2496-430D-A475-FB3919DB8C97}" type="datetime1">
              <a:rPr lang="en-IN" smtClean="0"/>
              <a:t>24-09-2026</a:t>
            </a:fld>
            <a:endParaRPr lang="en-IN"/>
          </a:p>
        </p:txBody>
      </p:sp>
      <p:sp>
        <p:nvSpPr>
          <p:cNvPr id="3" name="Footer Placeholder 2">
            <a:extLst>
              <a:ext uri="{FF2B5EF4-FFF2-40B4-BE49-F238E27FC236}">
                <a16:creationId xmlns:a16="http://schemas.microsoft.com/office/drawing/2014/main" id="{BADDDBB6-47BF-4BE7-97E4-AB044897F59E}"/>
              </a:ext>
            </a:extLst>
          </p:cNvPr>
          <p:cNvSpPr>
            <a:spLocks noGrp="1"/>
          </p:cNvSpPr>
          <p:nvPr>
            <p:ph type="ftr" sz="quarter" idx="11"/>
          </p:nvPr>
        </p:nvSpPr>
        <p:spPr/>
        <p:txBody>
          <a:bodyPr/>
          <a:lstStyle/>
          <a:p>
            <a:r>
              <a:rPr lang="en-US"/>
              <a:t>Rajalakshmi Engineering College,Department of Cyber Security</a:t>
            </a:r>
            <a:endParaRPr lang="en-IN"/>
          </a:p>
        </p:txBody>
      </p:sp>
      <p:sp>
        <p:nvSpPr>
          <p:cNvPr id="4" name="Slide Number Placeholder 3">
            <a:extLst>
              <a:ext uri="{FF2B5EF4-FFF2-40B4-BE49-F238E27FC236}">
                <a16:creationId xmlns:a16="http://schemas.microsoft.com/office/drawing/2014/main" id="{7C40F90C-24D0-4C65-99B4-EADB86BE3DC0}"/>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33101106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65C33-D77F-42B7-969F-DE257926CF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0398D13-72C5-42CB-BDE1-8AA6B32DDA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435EF6E-114D-425F-BB1A-C351641173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4418FDF-36DE-48DA-886F-421C220369FE}"/>
              </a:ext>
            </a:extLst>
          </p:cNvPr>
          <p:cNvSpPr>
            <a:spLocks noGrp="1"/>
          </p:cNvSpPr>
          <p:nvPr>
            <p:ph type="dt" sz="half" idx="10"/>
          </p:nvPr>
        </p:nvSpPr>
        <p:spPr/>
        <p:txBody>
          <a:bodyPr/>
          <a:lstStyle/>
          <a:p>
            <a:fld id="{76D46D8D-D6A6-4D95-BF85-9EF8F0710FA7}" type="datetime1">
              <a:rPr lang="en-IN" smtClean="0"/>
              <a:t>24-09-2026</a:t>
            </a:fld>
            <a:endParaRPr lang="en-IN"/>
          </a:p>
        </p:txBody>
      </p:sp>
      <p:sp>
        <p:nvSpPr>
          <p:cNvPr id="6" name="Footer Placeholder 5">
            <a:extLst>
              <a:ext uri="{FF2B5EF4-FFF2-40B4-BE49-F238E27FC236}">
                <a16:creationId xmlns:a16="http://schemas.microsoft.com/office/drawing/2014/main" id="{D8F1A6E3-D660-40AD-AC51-1F8805A5344F}"/>
              </a:ext>
            </a:extLst>
          </p:cNvPr>
          <p:cNvSpPr>
            <a:spLocks noGrp="1"/>
          </p:cNvSpPr>
          <p:nvPr>
            <p:ph type="ftr" sz="quarter" idx="11"/>
          </p:nvPr>
        </p:nvSpPr>
        <p:spPr/>
        <p:txBody>
          <a:bodyPr/>
          <a:lstStyle/>
          <a:p>
            <a:r>
              <a:rPr lang="en-US"/>
              <a:t>Rajalakshmi Engineering College,Department of Cyber Security</a:t>
            </a:r>
            <a:endParaRPr lang="en-IN"/>
          </a:p>
        </p:txBody>
      </p:sp>
      <p:sp>
        <p:nvSpPr>
          <p:cNvPr id="7" name="Slide Number Placeholder 6">
            <a:extLst>
              <a:ext uri="{FF2B5EF4-FFF2-40B4-BE49-F238E27FC236}">
                <a16:creationId xmlns:a16="http://schemas.microsoft.com/office/drawing/2014/main" id="{2F190E82-A75D-48B1-B3E6-FF48ADF8056C}"/>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31649197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4577C-5B3A-48AD-9B45-4A9C9A23ED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830F3EF-BF57-46A6-9EB6-2DA43D25D7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645DFA0-E5C8-4DDF-B283-4A2DD170A3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BEA8042-4719-4615-8878-7A26662FBAB6}"/>
              </a:ext>
            </a:extLst>
          </p:cNvPr>
          <p:cNvSpPr>
            <a:spLocks noGrp="1"/>
          </p:cNvSpPr>
          <p:nvPr>
            <p:ph type="dt" sz="half" idx="10"/>
          </p:nvPr>
        </p:nvSpPr>
        <p:spPr/>
        <p:txBody>
          <a:bodyPr/>
          <a:lstStyle/>
          <a:p>
            <a:fld id="{08C03A52-04AE-48F7-9FCF-E17B2D2BA4E4}" type="datetime1">
              <a:rPr lang="en-IN" smtClean="0"/>
              <a:t>24-09-2026</a:t>
            </a:fld>
            <a:endParaRPr lang="en-IN"/>
          </a:p>
        </p:txBody>
      </p:sp>
      <p:sp>
        <p:nvSpPr>
          <p:cNvPr id="6" name="Footer Placeholder 5">
            <a:extLst>
              <a:ext uri="{FF2B5EF4-FFF2-40B4-BE49-F238E27FC236}">
                <a16:creationId xmlns:a16="http://schemas.microsoft.com/office/drawing/2014/main" id="{379B10D6-FDCC-4E80-9116-42BC543C58BA}"/>
              </a:ext>
            </a:extLst>
          </p:cNvPr>
          <p:cNvSpPr>
            <a:spLocks noGrp="1"/>
          </p:cNvSpPr>
          <p:nvPr>
            <p:ph type="ftr" sz="quarter" idx="11"/>
          </p:nvPr>
        </p:nvSpPr>
        <p:spPr/>
        <p:txBody>
          <a:bodyPr/>
          <a:lstStyle/>
          <a:p>
            <a:r>
              <a:rPr lang="en-US"/>
              <a:t>Rajalakshmi Engineering College,Department of Cyber Security</a:t>
            </a:r>
            <a:endParaRPr lang="en-IN"/>
          </a:p>
        </p:txBody>
      </p:sp>
      <p:sp>
        <p:nvSpPr>
          <p:cNvPr id="7" name="Slide Number Placeholder 6">
            <a:extLst>
              <a:ext uri="{FF2B5EF4-FFF2-40B4-BE49-F238E27FC236}">
                <a16:creationId xmlns:a16="http://schemas.microsoft.com/office/drawing/2014/main" id="{7ECE45E7-2218-4691-9448-44DD3A1AACD2}"/>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1382596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6F59C-24A2-4159-9380-F6AAEA13E37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2AC032-FA02-45A1-B799-75A08E88843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449FC9-D5D3-4E4A-9286-9E96B8147DBC}"/>
              </a:ext>
            </a:extLst>
          </p:cNvPr>
          <p:cNvSpPr>
            <a:spLocks noGrp="1"/>
          </p:cNvSpPr>
          <p:nvPr>
            <p:ph type="dt" sz="half" idx="10"/>
          </p:nvPr>
        </p:nvSpPr>
        <p:spPr/>
        <p:txBody>
          <a:bodyPr/>
          <a:lstStyle/>
          <a:p>
            <a:fld id="{A40E1855-FF8B-4A8F-B974-476D0BEFE359}" type="datetime1">
              <a:rPr lang="en-IN" smtClean="0"/>
              <a:t>24-09-2026</a:t>
            </a:fld>
            <a:endParaRPr lang="en-IN"/>
          </a:p>
        </p:txBody>
      </p:sp>
      <p:sp>
        <p:nvSpPr>
          <p:cNvPr id="5" name="Footer Placeholder 4">
            <a:extLst>
              <a:ext uri="{FF2B5EF4-FFF2-40B4-BE49-F238E27FC236}">
                <a16:creationId xmlns:a16="http://schemas.microsoft.com/office/drawing/2014/main" id="{B189B5AB-659C-41B0-9073-34826E6298BA}"/>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028DCFD4-462A-4C50-9A15-A34E5BAD4101}"/>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14465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B6CEE7-4472-4220-ABE7-624EBBAB357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FBCA2D1-1973-4733-9AC1-AA8B41575B8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A8E509-CC9E-46C7-BCB4-B4C77706FE67}"/>
              </a:ext>
            </a:extLst>
          </p:cNvPr>
          <p:cNvSpPr>
            <a:spLocks noGrp="1"/>
          </p:cNvSpPr>
          <p:nvPr>
            <p:ph type="dt" sz="half" idx="10"/>
          </p:nvPr>
        </p:nvSpPr>
        <p:spPr/>
        <p:txBody>
          <a:bodyPr/>
          <a:lstStyle/>
          <a:p>
            <a:fld id="{29F94AA9-A825-4631-9385-0F96794CA13F}" type="datetime1">
              <a:rPr lang="en-IN" smtClean="0"/>
              <a:t>24-09-2026</a:t>
            </a:fld>
            <a:endParaRPr lang="en-IN"/>
          </a:p>
        </p:txBody>
      </p:sp>
      <p:sp>
        <p:nvSpPr>
          <p:cNvPr id="5" name="Footer Placeholder 4">
            <a:extLst>
              <a:ext uri="{FF2B5EF4-FFF2-40B4-BE49-F238E27FC236}">
                <a16:creationId xmlns:a16="http://schemas.microsoft.com/office/drawing/2014/main" id="{366ADC3E-64E9-4052-AAAA-0A77E649D2E6}"/>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37B93A4B-8F28-4558-9932-5AEBAE565672}"/>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2543756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61322-C13F-4F32-A9C2-A66C573C58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44B022-D55F-4115-A03E-92A7A8351C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B1FBDE-AF6F-4F87-97D2-A1D19B658A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EDD9C9-F760-491D-BEB2-C9719B2DAA72}" type="datetime1">
              <a:rPr lang="en-IN" smtClean="0"/>
              <a:t>24-09-2026</a:t>
            </a:fld>
            <a:endParaRPr lang="en-IN"/>
          </a:p>
        </p:txBody>
      </p:sp>
      <p:sp>
        <p:nvSpPr>
          <p:cNvPr id="5" name="Footer Placeholder 4">
            <a:extLst>
              <a:ext uri="{FF2B5EF4-FFF2-40B4-BE49-F238E27FC236}">
                <a16:creationId xmlns:a16="http://schemas.microsoft.com/office/drawing/2014/main" id="{3105F895-F6B3-49E8-AE71-CA9D6A533B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Rajalakshmi Engineering College,Department of Cyber Security</a:t>
            </a:r>
            <a:endParaRPr lang="en-IN"/>
          </a:p>
        </p:txBody>
      </p:sp>
      <p:sp>
        <p:nvSpPr>
          <p:cNvPr id="6" name="Slide Number Placeholder 5">
            <a:extLst>
              <a:ext uri="{FF2B5EF4-FFF2-40B4-BE49-F238E27FC236}">
                <a16:creationId xmlns:a16="http://schemas.microsoft.com/office/drawing/2014/main" id="{EE01C5C0-3DE6-438F-852E-4102D3E141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ACF31F-072A-420B-BD3B-3E62C5546025}" type="slidenum">
              <a:rPr lang="en-IN" smtClean="0"/>
              <a:t>‹#›</a:t>
            </a:fld>
            <a:endParaRPr lang="en-IN"/>
          </a:p>
        </p:txBody>
      </p:sp>
    </p:spTree>
    <p:extLst>
      <p:ext uri="{BB962C8B-B14F-4D97-AF65-F5344CB8AC3E}">
        <p14:creationId xmlns:p14="http://schemas.microsoft.com/office/powerpoint/2010/main" val="25224454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4" descr="Home | Rajalakshmi Engineering College (REC)">
            <a:extLst>
              <a:ext uri="{FF2B5EF4-FFF2-40B4-BE49-F238E27FC236}">
                <a16:creationId xmlns:a16="http://schemas.microsoft.com/office/drawing/2014/main" id="{B5C75A04-8A80-4B12-82DD-FB4D79DA72B3}"/>
              </a:ext>
            </a:extLst>
          </p:cNvPr>
          <p:cNvPicPr/>
          <p:nvPr/>
        </p:nvPicPr>
        <p:blipFill>
          <a:blip r:embed="rId2"/>
          <a:stretch/>
        </p:blipFill>
        <p:spPr>
          <a:xfrm>
            <a:off x="4305720" y="497541"/>
            <a:ext cx="3580560" cy="1155960"/>
          </a:xfrm>
          <a:prstGeom prst="rect">
            <a:avLst/>
          </a:prstGeom>
          <a:ln w="0">
            <a:noFill/>
          </a:ln>
        </p:spPr>
      </p:pic>
      <p:sp>
        <p:nvSpPr>
          <p:cNvPr id="13" name="PlaceHolder 1">
            <a:extLst>
              <a:ext uri="{FF2B5EF4-FFF2-40B4-BE49-F238E27FC236}">
                <a16:creationId xmlns:a16="http://schemas.microsoft.com/office/drawing/2014/main" id="{06BEF5B7-F160-4818-BC4E-3751DDE221D5}"/>
              </a:ext>
            </a:extLst>
          </p:cNvPr>
          <p:cNvSpPr txBox="1">
            <a:spLocks/>
          </p:cNvSpPr>
          <p:nvPr/>
        </p:nvSpPr>
        <p:spPr>
          <a:xfrm>
            <a:off x="1488141" y="1653501"/>
            <a:ext cx="9601199" cy="3931511"/>
          </a:xfrm>
          <a:prstGeom prst="rect">
            <a:avLst/>
          </a:prstGeom>
          <a:noFill/>
          <a:ln w="0">
            <a:noFill/>
          </a:ln>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0" algn="l" defTabSz="914400" rtl="0" eaLnBrk="1" fontAlgn="auto" latinLnBrk="0" hangingPunct="1">
              <a:lnSpc>
                <a:spcPct val="100000"/>
              </a:lnSpc>
              <a:spcBef>
                <a:spcPts val="641"/>
              </a:spcBef>
              <a:spcAft>
                <a:spcPts val="0"/>
              </a:spcAft>
              <a:buClrTx/>
              <a:buSzTx/>
              <a:buFont typeface="Arial" panose="020B0604020202020204" pitchFamily="34" charset="0"/>
              <a:buNone/>
              <a:tabLst>
                <a:tab pos="0" algn="l"/>
              </a:tabLst>
              <a:defRPr/>
            </a:pPr>
            <a:r>
              <a:rPr kumimoji="0" lang="en-US" sz="3200" b="0" i="0" u="none" strike="noStrike" kern="1200" cap="none" spc="-1" normalizeH="0" baseline="0" noProof="0" dirty="0">
                <a:ln>
                  <a:noFill/>
                </a:ln>
                <a:solidFill>
                  <a:prstClr val="black"/>
                </a:solidFill>
                <a:effectLst/>
                <a:uLnTx/>
                <a:uFillTx/>
                <a:latin typeface="Calibri"/>
                <a:ea typeface="+mn-ea"/>
                <a:cs typeface="+mn-cs"/>
              </a:rPr>
              <a:t>              </a:t>
            </a:r>
            <a:r>
              <a:rPr kumimoji="0" lang="en-US" sz="4000" b="0" i="0" u="none" strike="noStrike" kern="1200" cap="none" spc="-1" normalizeH="0" baseline="0" noProof="0" dirty="0">
                <a:ln>
                  <a:noFill/>
                </a:ln>
                <a:solidFill>
                  <a:prstClr val="black"/>
                </a:solidFill>
                <a:effectLst/>
                <a:uLnTx/>
                <a:uFillTx/>
                <a:latin typeface="Times New Roman"/>
                <a:ea typeface="+mn-ea"/>
                <a:cs typeface="+mn-cs"/>
              </a:rPr>
              <a:t>Department of Cyber Security</a:t>
            </a:r>
            <a:endParaRPr kumimoji="0" lang="en-IN" sz="4000" b="0" i="0" u="none" strike="noStrike" kern="1200" cap="none" spc="-1" normalizeH="0" baseline="0" noProof="0" dirty="0">
              <a:ln>
                <a:noFill/>
              </a:ln>
              <a:solidFill>
                <a:srgbClr val="000000"/>
              </a:solidFill>
              <a:effectLst/>
              <a:uLnTx/>
              <a:uFillTx/>
              <a:latin typeface="Arial"/>
              <a:ea typeface="+mn-ea"/>
              <a:cs typeface="+mn-cs"/>
            </a:endParaRPr>
          </a:p>
          <a:p>
            <a:pPr marL="228600" marR="0" lvl="0" indent="0" algn="l" defTabSz="914400" rtl="0" eaLnBrk="1" fontAlgn="auto" latinLnBrk="0" hangingPunct="1">
              <a:lnSpc>
                <a:spcPct val="100000"/>
              </a:lnSpc>
              <a:spcBef>
                <a:spcPts val="641"/>
              </a:spcBef>
              <a:spcAft>
                <a:spcPts val="0"/>
              </a:spcAft>
              <a:buClrTx/>
              <a:buSzTx/>
              <a:buFont typeface="Arial" panose="020B0604020202020204" pitchFamily="34" charset="0"/>
              <a:buNone/>
              <a:tabLst>
                <a:tab pos="0" algn="l"/>
              </a:tabLst>
              <a:defRPr/>
            </a:pPr>
            <a:r>
              <a:rPr kumimoji="0" lang="en-US" sz="4000" b="0" i="0" u="none" strike="noStrike" kern="1200" cap="none" spc="-1" normalizeH="0" baseline="0" noProof="0" dirty="0">
                <a:ln>
                  <a:noFill/>
                </a:ln>
                <a:solidFill>
                  <a:prstClr val="black"/>
                </a:solidFill>
                <a:effectLst/>
                <a:uLnTx/>
                <a:uFillTx/>
                <a:latin typeface="Times New Roman"/>
                <a:ea typeface="+mn-ea"/>
                <a:cs typeface="+mn-cs"/>
              </a:rPr>
              <a:t>             2026-2027- Odd Semester</a:t>
            </a:r>
            <a:endParaRPr kumimoji="0" lang="en-IN" sz="4000" b="0" i="0" u="none" strike="noStrike" kern="1200" cap="none" spc="-1" normalizeH="0" baseline="0" noProof="0" dirty="0">
              <a:ln>
                <a:noFill/>
              </a:ln>
              <a:solidFill>
                <a:srgbClr val="000000"/>
              </a:solidFill>
              <a:effectLst/>
              <a:uLnTx/>
              <a:uFillTx/>
              <a:latin typeface="Arial"/>
              <a:ea typeface="+mn-ea"/>
              <a:cs typeface="+mn-cs"/>
            </a:endParaRPr>
          </a:p>
          <a:p>
            <a:pPr marL="228600" marR="0" lvl="0" indent="0" algn="l" defTabSz="914400" rtl="0" eaLnBrk="1" fontAlgn="auto" latinLnBrk="0" hangingPunct="1">
              <a:lnSpc>
                <a:spcPct val="100000"/>
              </a:lnSpc>
              <a:spcBef>
                <a:spcPts val="641"/>
              </a:spcBef>
              <a:spcAft>
                <a:spcPts val="0"/>
              </a:spcAft>
              <a:buClrTx/>
              <a:buSzTx/>
              <a:buFont typeface="Arial" panose="020B0604020202020204" pitchFamily="34" charset="0"/>
              <a:buNone/>
              <a:tabLst>
                <a:tab pos="0" algn="l"/>
              </a:tabLst>
              <a:defRPr/>
            </a:pPr>
            <a:r>
              <a:rPr kumimoji="0" lang="en-US" sz="4000" b="0" i="0" u="none" strike="noStrike" kern="1200" cap="none" spc="-1" normalizeH="0" baseline="0" noProof="0" dirty="0">
                <a:ln>
                  <a:noFill/>
                </a:ln>
                <a:solidFill>
                  <a:prstClr val="black"/>
                </a:solidFill>
                <a:effectLst/>
                <a:uLnTx/>
                <a:uFillTx/>
                <a:latin typeface="Times New Roman"/>
                <a:ea typeface="+mn-ea"/>
                <a:cs typeface="+mn-cs"/>
              </a:rPr>
              <a:t>                        III Year /V Sem</a:t>
            </a:r>
          </a:p>
          <a:p>
            <a:pPr marL="228600" marR="0" lvl="0" indent="0" algn="l" defTabSz="914400" rtl="0" eaLnBrk="1" fontAlgn="auto" latinLnBrk="0" hangingPunct="1">
              <a:lnSpc>
                <a:spcPct val="100000"/>
              </a:lnSpc>
              <a:spcBef>
                <a:spcPts val="641"/>
              </a:spcBef>
              <a:spcAft>
                <a:spcPts val="0"/>
              </a:spcAft>
              <a:buClrTx/>
              <a:buSzTx/>
              <a:buFont typeface="Arial" panose="020B0604020202020204" pitchFamily="34" charset="0"/>
              <a:buNone/>
              <a:tabLst>
                <a:tab pos="0" algn="l"/>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          CS23533-FOUNDATIONS OF ARTIFICIAL INTELLIGENCE</a:t>
            </a:r>
            <a:endParaRPr kumimoji="0" lang="en-IN" sz="4000" b="0" i="0" u="none" strike="noStrike" kern="1200" cap="none" spc="-1" normalizeH="0" baseline="0" noProof="0" dirty="0">
              <a:ln>
                <a:noFill/>
              </a:ln>
              <a:solidFill>
                <a:srgbClr val="000000"/>
              </a:solidFill>
              <a:effectLst/>
              <a:uLnTx/>
              <a:uFillTx/>
              <a:latin typeface="Arial"/>
              <a:ea typeface="+mn-ea"/>
              <a:cs typeface="+mn-cs"/>
            </a:endParaRPr>
          </a:p>
          <a:p>
            <a:pPr marL="228600" marR="0" lvl="0" indent="0" algn="l" defTabSz="914400" rtl="0" eaLnBrk="1" fontAlgn="auto" latinLnBrk="0" hangingPunct="1">
              <a:lnSpc>
                <a:spcPct val="100000"/>
              </a:lnSpc>
              <a:spcBef>
                <a:spcPts val="641"/>
              </a:spcBef>
              <a:spcAft>
                <a:spcPts val="0"/>
              </a:spcAft>
              <a:buClrTx/>
              <a:buSzTx/>
              <a:buFont typeface="Arial" panose="020B0604020202020204" pitchFamily="34" charset="0"/>
              <a:buNone/>
              <a:tabLst>
                <a:tab pos="0" algn="l"/>
              </a:tabLst>
              <a:defRPr/>
            </a:pPr>
            <a:r>
              <a:rPr kumimoji="0" lang="en-US" sz="4000" b="0" i="0" u="none" strike="noStrike" kern="1200" cap="none" spc="-1" normalizeH="0" baseline="0" noProof="0" dirty="0">
                <a:ln>
                  <a:noFill/>
                </a:ln>
                <a:solidFill>
                  <a:prstClr val="black"/>
                </a:solidFill>
                <a:effectLst/>
                <a:uLnTx/>
                <a:uFillTx/>
                <a:latin typeface="Times New Roman"/>
                <a:ea typeface="+mn-ea"/>
                <a:cs typeface="+mn-cs"/>
              </a:rPr>
              <a:t>              Review 1– </a:t>
            </a:r>
            <a:r>
              <a:rPr lang="en-US" sz="4000" spc="-1" dirty="0">
                <a:solidFill>
                  <a:prstClr val="black"/>
                </a:solidFill>
                <a:latin typeface="Times New Roman"/>
              </a:rPr>
              <a:t>11/09/2026</a:t>
            </a:r>
            <a:endParaRPr kumimoji="0" lang="en-IN" sz="4000" b="0" i="0" u="none" strike="noStrike" kern="1200" cap="none" spc="-1" normalizeH="0" baseline="0" noProof="0" dirty="0">
              <a:ln>
                <a:noFill/>
              </a:ln>
              <a:solidFill>
                <a:srgbClr val="000000"/>
              </a:solidFill>
              <a:effectLst/>
              <a:uLnTx/>
              <a:uFillTx/>
              <a:latin typeface="Arial"/>
              <a:ea typeface="+mn-ea"/>
              <a:cs typeface="+mn-cs"/>
            </a:endParaRPr>
          </a:p>
        </p:txBody>
      </p:sp>
      <p:sp>
        <p:nvSpPr>
          <p:cNvPr id="14" name="Footer Placeholder 13">
            <a:extLst>
              <a:ext uri="{FF2B5EF4-FFF2-40B4-BE49-F238E27FC236}">
                <a16:creationId xmlns:a16="http://schemas.microsoft.com/office/drawing/2014/main" id="{9D81229B-0330-4B71-AFEC-B3C206A7C81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Rajalakshmi Engineering College,Department of Cyber Security</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59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Introduction</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2</a:t>
            </a:r>
          </a:p>
        </p:txBody>
      </p:sp>
      <p:sp>
        <p:nvSpPr>
          <p:cNvPr id="5" name="TextBox 4"/>
          <p:cNvSpPr txBox="1"/>
          <p:nvPr/>
        </p:nvSpPr>
        <p:spPr>
          <a:xfrm>
            <a:off x="520810" y="1051560"/>
            <a:ext cx="10789920" cy="5139869"/>
          </a:xfrm>
          <a:prstGeom prst="rect">
            <a:avLst/>
          </a:prstGeom>
          <a:noFill/>
        </p:spPr>
        <p:txBody>
          <a:bodyPr wrap="square">
            <a:spAutoFit/>
          </a:bodyPr>
          <a:lstStyle/>
          <a:p>
            <a:r>
              <a:rPr lang="en-IN" b="1" dirty="0"/>
              <a:t>Background: </a:t>
            </a:r>
            <a:r>
              <a:rPr lang="en-IN" dirty="0"/>
              <a:t>Sokoban is a classic grid-based puzzle where a player pushes boxes onto target cells, with pushes only (no pulls) and one box at a time. This project builds a playable Sokoban game with an AI agent that solves levels using classical search algorithms.</a:t>
            </a:r>
          </a:p>
          <a:p>
            <a:endParaRPr lang="en-IN" dirty="0"/>
          </a:p>
          <a:p>
            <a:r>
              <a:rPr lang="en-IN" b="1" dirty="0"/>
              <a:t>Domain:</a:t>
            </a:r>
            <a:r>
              <a:rPr lang="en-IN" dirty="0"/>
              <a:t> Artificial Intelligence — specifically search-based problem solving (uninformed search, heuristic search, and knowledge-based deadlock rules) applied to an interactive puzzle-game setting.</a:t>
            </a:r>
          </a:p>
          <a:p>
            <a:endParaRPr lang="en-IN" dirty="0"/>
          </a:p>
          <a:p>
            <a:r>
              <a:rPr lang="en-IN" b="1" dirty="0"/>
              <a:t>Importance and Relevance:</a:t>
            </a:r>
          </a:p>
          <a:p>
            <a:endParaRPr lang="en-IN" b="1" dirty="0"/>
          </a:p>
          <a:p>
            <a:pPr marL="342900" lvl="0" indent="-342900">
              <a:buFont typeface="+mj-lt"/>
              <a:buAutoNum type="arabicPeriod"/>
            </a:pPr>
            <a:r>
              <a:rPr lang="en-IN" dirty="0"/>
              <a:t>Sokoban's large search space and irreversible moves make it a strong real-world example of why search strategy matters.</a:t>
            </a:r>
          </a:p>
          <a:p>
            <a:pPr marL="342900" lvl="0" indent="-342900">
              <a:buFont typeface="+mj-lt"/>
              <a:buAutoNum type="arabicPeriod"/>
            </a:pPr>
            <a:r>
              <a:rPr lang="en-IN" dirty="0"/>
              <a:t>It shows how heuristics (A*) and domain knowledge (deadlock detection) drastically cut down search effort compared to blind search (BFS).</a:t>
            </a:r>
          </a:p>
          <a:p>
            <a:pPr marL="342900" lvl="0" indent="-342900">
              <a:buFont typeface="+mj-lt"/>
              <a:buAutoNum type="arabicPeriod"/>
            </a:pPr>
            <a:r>
              <a:rPr lang="en-IN" dirty="0"/>
              <a:t>The techniques used (state-space search, pruning) generalize to practical problems like robotics and logistics planning.</a:t>
            </a:r>
          </a:p>
          <a:p>
            <a:pPr marL="342900" lvl="0" indent="-342900">
              <a:buFont typeface="+mj-lt"/>
              <a:buAutoNum type="arabicPeriod"/>
            </a:pPr>
            <a:r>
              <a:rPr lang="en-IN" dirty="0"/>
              <a:t>The project pairs algorithm theory with a working GUI and benchmarking tools, making abstract AI concepts concrete and measurable.</a:t>
            </a:r>
          </a:p>
          <a:p>
            <a:pPr>
              <a:spcAft>
                <a:spcPts val="1400"/>
              </a:spcAft>
              <a:defRPr sz="2200">
                <a:solidFill>
                  <a:srgbClr val="5F6973"/>
                </a:solidFill>
              </a:defRPr>
            </a:pPr>
            <a:endParaRPr dirty="0"/>
          </a:p>
        </p:txBody>
      </p:sp>
      <p:sp>
        <p:nvSpPr>
          <p:cNvPr id="6" name="TextBox 5"/>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  Project Review – 1  |  [Academic Year]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Problem Statement</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3</a:t>
            </a:r>
          </a:p>
        </p:txBody>
      </p:sp>
      <p:sp>
        <p:nvSpPr>
          <p:cNvPr id="5" name="TextBox 4"/>
          <p:cNvSpPr txBox="1"/>
          <p:nvPr/>
        </p:nvSpPr>
        <p:spPr>
          <a:xfrm>
            <a:off x="494756" y="1097280"/>
            <a:ext cx="10789920" cy="4801314"/>
          </a:xfrm>
          <a:prstGeom prst="rect">
            <a:avLst/>
          </a:prstGeom>
          <a:noFill/>
        </p:spPr>
        <p:txBody>
          <a:bodyPr wrap="square">
            <a:spAutoFit/>
          </a:bodyPr>
          <a:lstStyle/>
          <a:p>
            <a:r>
              <a:rPr lang="en-IN" b="1" dirty="0"/>
              <a:t>Problem Description:</a:t>
            </a:r>
            <a:r>
              <a:rPr lang="en-IN" dirty="0"/>
              <a:t> Solving a Sokoban level requires finding a sequence of pushes that moves every box onto a target cell, without ever pushing a box into a position it can no longer be moved out of. The state space grows extremely quickly with the number of boxes and the size of the board, making it impractical to solve levels by brute-force trial and error, especially as levels scale up in size and complexity.</a:t>
            </a:r>
          </a:p>
          <a:p>
            <a:endParaRPr lang="en-IN" dirty="0"/>
          </a:p>
          <a:p>
            <a:r>
              <a:rPr lang="en-IN" b="1" dirty="0"/>
              <a:t>Current Gaps:</a:t>
            </a:r>
            <a:r>
              <a:rPr lang="en-IN" dirty="0"/>
              <a:t> Blind search (BFS) explores states with no sense of progress, making it slow on larger levels. Without extra checks, a solver also wastes time exploring branches that are already dead ends (e.g., boxes stuck in corners). Most simple Sokoban tools only offer play </a:t>
            </a:r>
            <a:r>
              <a:rPr lang="en-IN" i="1" dirty="0"/>
              <a:t>or</a:t>
            </a:r>
            <a:r>
              <a:rPr lang="en-IN" dirty="0"/>
              <a:t> solving, not both together with performance comparison.</a:t>
            </a:r>
          </a:p>
          <a:p>
            <a:endParaRPr lang="en-IN" dirty="0"/>
          </a:p>
          <a:p>
            <a:r>
              <a:rPr lang="en-IN" b="1" dirty="0"/>
              <a:t>Why This Needs to Be Addressed:</a:t>
            </a:r>
            <a:r>
              <a:rPr lang="en-IN" dirty="0"/>
              <a:t> Without an informed and pruned search strategy, even moderately sized levels become computationally expensive or unsolvable in reasonable time, which limits both the playability of an AI-assisted game and its usefulness as a teaching tool for demonstrating search algorithm </a:t>
            </a:r>
            <a:r>
              <a:rPr lang="en-IN" dirty="0" err="1"/>
              <a:t>behavior</a:t>
            </a:r>
            <a:r>
              <a:rPr lang="en-IN" dirty="0"/>
              <a:t>.</a:t>
            </a:r>
          </a:p>
          <a:p>
            <a:endParaRPr lang="en-IN" dirty="0"/>
          </a:p>
          <a:p>
            <a:r>
              <a:rPr lang="en-IN" b="1" dirty="0"/>
              <a:t>Need for the Proposed Solution:</a:t>
            </a:r>
            <a:r>
              <a:rPr lang="en-IN" dirty="0"/>
              <a:t> A solver that combines heuristic guidance (A*) with domain-specific deadlock pruning is needed to make solving efficient and scalable, while also exposing the </a:t>
            </a:r>
            <a:r>
              <a:rPr lang="en-IN" i="1" dirty="0"/>
              <a:t>difference</a:t>
            </a:r>
            <a:r>
              <a:rPr lang="en-IN" dirty="0"/>
              <a:t> between search strategies (steps, nodes expanded, time) in a way that's visible and measurable — both to make the game usable (fast hints/solves) and to make the underlying AI concepts concrete for learning purposes.</a:t>
            </a:r>
          </a:p>
        </p:txBody>
      </p:sp>
      <p:sp>
        <p:nvSpPr>
          <p:cNvPr id="6" name="TextBox 5"/>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  Project Review – 1  |  [Academic Year]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Motivation</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4</a:t>
            </a:r>
          </a:p>
        </p:txBody>
      </p:sp>
      <p:sp>
        <p:nvSpPr>
          <p:cNvPr id="5" name="TextBox 4"/>
          <p:cNvSpPr txBox="1"/>
          <p:nvPr/>
        </p:nvSpPr>
        <p:spPr>
          <a:xfrm>
            <a:off x="685800" y="1097280"/>
            <a:ext cx="10789920" cy="5139869"/>
          </a:xfrm>
          <a:prstGeom prst="rect">
            <a:avLst/>
          </a:prstGeom>
          <a:noFill/>
        </p:spPr>
        <p:txBody>
          <a:bodyPr wrap="square">
            <a:spAutoFit/>
          </a:bodyPr>
          <a:lstStyle/>
          <a:p>
            <a:r>
              <a:rPr lang="en-IN" b="1" dirty="0"/>
              <a:t>Why This Project Was Selected:</a:t>
            </a:r>
            <a:r>
              <a:rPr lang="en-IN" dirty="0"/>
              <a:t> Sokoban offers a simple rule set but a genuinely hard underlying search problem, making it an ideal vehicle for applying and comparing core AI search techniques — uninformed search, heuristic search, and knowledge-based pruning — within a single, hands-on project rather than studying them in isolation.</a:t>
            </a:r>
          </a:p>
          <a:p>
            <a:endParaRPr lang="en-IN" dirty="0"/>
          </a:p>
          <a:p>
            <a:r>
              <a:rPr lang="en-IN" b="1" dirty="0"/>
              <a:t>Research / Industry Motivation:</a:t>
            </a:r>
            <a:r>
              <a:rPr lang="en-IN" dirty="0"/>
              <a:t> Search and pathfinding algorithms similar to those used here underlie real-world systems such as warehouse and logistics robots (moving crates/pallets), automated planning systems, and puzzle-solving AI research. Sokoban is also a well-studied benchmark problem in AI literature (PSPACE-complete), making it a credible domain for demonstrating search performance rather than a purely toy example.</a:t>
            </a:r>
          </a:p>
          <a:p>
            <a:endParaRPr lang="en-IN" dirty="0"/>
          </a:p>
          <a:p>
            <a:r>
              <a:rPr lang="en-IN" b="1" dirty="0"/>
              <a:t>Expected Benefits:</a:t>
            </a:r>
            <a:endParaRPr lang="en-IN" dirty="0"/>
          </a:p>
          <a:p>
            <a:pPr lvl="0"/>
            <a:r>
              <a:rPr lang="en-IN" dirty="0"/>
              <a:t>A clear, measurable demonstration of how heuristics and pruning improve search efficiency over blind search.</a:t>
            </a:r>
          </a:p>
          <a:p>
            <a:pPr lvl="0"/>
            <a:r>
              <a:rPr lang="en-IN" dirty="0"/>
              <a:t>A reusable, extensible codebase where new algorithms or heuristics can be added and benchmarked easily.</a:t>
            </a:r>
          </a:p>
          <a:p>
            <a:pPr lvl="0"/>
            <a:r>
              <a:rPr lang="en-IN" dirty="0"/>
              <a:t>An interactive tool useful both for playing and for understanding how the AI reasons about the puzzle.</a:t>
            </a:r>
          </a:p>
          <a:p>
            <a:pPr lvl="0"/>
            <a:endParaRPr lang="en-IN" dirty="0"/>
          </a:p>
          <a:p>
            <a:r>
              <a:rPr lang="en-IN" b="1" dirty="0"/>
              <a:t>Practical Significance:</a:t>
            </a:r>
            <a:r>
              <a:rPr lang="en-IN" dirty="0"/>
              <a:t> Beyond the game itself, the project demonstrates transferable AI engineering skills — state-space modeling, search algorithm design, heuristic design, and performance benchmarking — that apply directly to broader planning and optimization problems in robotics, logistics, and automated decision-making systems.</a:t>
            </a:r>
          </a:p>
          <a:p>
            <a:pPr>
              <a:spcAft>
                <a:spcPts val="1400"/>
              </a:spcAft>
              <a:defRPr sz="2200">
                <a:solidFill>
                  <a:srgbClr val="5F6973"/>
                </a:solidFill>
              </a:defRPr>
            </a:pPr>
            <a:endParaRPr dirty="0"/>
          </a:p>
        </p:txBody>
      </p:sp>
      <p:sp>
        <p:nvSpPr>
          <p:cNvPr id="6" name="TextBox 5"/>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  Project Review – 1  |  [Academic Year]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Objectives</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5</a:t>
            </a:r>
          </a:p>
        </p:txBody>
      </p:sp>
      <p:sp>
        <p:nvSpPr>
          <p:cNvPr id="5" name="TextBox 4"/>
          <p:cNvSpPr txBox="1"/>
          <p:nvPr/>
        </p:nvSpPr>
        <p:spPr>
          <a:xfrm>
            <a:off x="685800" y="1097280"/>
            <a:ext cx="10789920" cy="5416868"/>
          </a:xfrm>
          <a:prstGeom prst="rect">
            <a:avLst/>
          </a:prstGeom>
          <a:noFill/>
        </p:spPr>
        <p:txBody>
          <a:bodyPr wrap="square">
            <a:spAutoFit/>
          </a:bodyPr>
          <a:lstStyle/>
          <a:p>
            <a:pPr lvl="0"/>
            <a:r>
              <a:rPr lang="en-IN" b="1" dirty="0"/>
              <a:t>To design and implement an efficient state-space representation</a:t>
            </a:r>
            <a:r>
              <a:rPr lang="en-IN" dirty="0"/>
              <a:t> of Sokoban levels, encoding the player's position and the set of box positions as a compact, </a:t>
            </a:r>
            <a:r>
              <a:rPr lang="en-IN" dirty="0" err="1"/>
              <a:t>hashable</a:t>
            </a:r>
            <a:r>
              <a:rPr lang="en-IN" dirty="0"/>
              <a:t> state, so that visited states can be tracked and searched without redundant computation.</a:t>
            </a:r>
          </a:p>
          <a:p>
            <a:pPr lvl="0"/>
            <a:endParaRPr lang="en-IN" dirty="0"/>
          </a:p>
          <a:p>
            <a:pPr lvl="0"/>
            <a:r>
              <a:rPr lang="en-IN" b="1" dirty="0"/>
              <a:t>To implement uninformed search (BFS)</a:t>
            </a:r>
            <a:r>
              <a:rPr lang="en-IN" dirty="0"/>
              <a:t> as a baseline solver that guarantees a shortest-path solution when one exists, in order to establish a reference point for evaluating the performance of more advanced, informed search strategies.</a:t>
            </a:r>
          </a:p>
          <a:p>
            <a:pPr lvl="0"/>
            <a:endParaRPr lang="en-IN" dirty="0"/>
          </a:p>
          <a:p>
            <a:pPr lvl="0"/>
            <a:r>
              <a:rPr lang="en-IN" b="1" dirty="0"/>
              <a:t>To implement informed search (A*) using a Manhattan-distance heuristic</a:t>
            </a:r>
            <a:r>
              <a:rPr lang="en-IN" dirty="0"/>
              <a:t>, guiding the search toward promising states first and significantly reducing the number of nodes explored compared to blind search, while still preserving solution correctness.</a:t>
            </a:r>
          </a:p>
          <a:p>
            <a:pPr lvl="0"/>
            <a:endParaRPr lang="en-IN" dirty="0"/>
          </a:p>
          <a:p>
            <a:pPr lvl="0"/>
            <a:r>
              <a:rPr lang="en-IN" b="1" dirty="0"/>
              <a:t>To design and integrate knowledge-based deadlock detection rules</a:t>
            </a:r>
            <a:r>
              <a:rPr lang="en-IN" dirty="0"/>
              <a:t> (such as corner deadlocks and wall-line deadlocks) into the A* search, enabling the algorithm to recognize and prune states that can never lead to a solution, thereby further improving search efficiency.</a:t>
            </a:r>
          </a:p>
          <a:p>
            <a:pPr lvl="0"/>
            <a:endParaRPr lang="en-IN" dirty="0"/>
          </a:p>
          <a:p>
            <a:pPr lvl="0"/>
            <a:r>
              <a:rPr lang="en-IN" b="1" dirty="0"/>
              <a:t>To develop an interactive graphical user interface</a:t>
            </a:r>
            <a:r>
              <a:rPr lang="en-IN" dirty="0"/>
              <a:t> that supports manual play, step-by-step undo/redo, AI-generated hints, and full automatic solving with animated playback of the solution path.</a:t>
            </a:r>
          </a:p>
          <a:p>
            <a:pPr>
              <a:spcAft>
                <a:spcPts val="1400"/>
              </a:spcAft>
              <a:defRPr sz="2200">
                <a:solidFill>
                  <a:srgbClr val="5F6973"/>
                </a:solidFill>
              </a:defRPr>
            </a:pPr>
            <a:endParaRPr dirty="0"/>
          </a:p>
        </p:txBody>
      </p:sp>
      <p:sp>
        <p:nvSpPr>
          <p:cNvPr id="6" name="TextBox 5"/>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  Project Review – 1  |  [Academic Year]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Literature Survey</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6</a:t>
            </a:r>
          </a:p>
        </p:txBody>
      </p:sp>
      <p:graphicFrame>
        <p:nvGraphicFramePr>
          <p:cNvPr id="5" name="Table 4"/>
          <p:cNvGraphicFramePr>
            <a:graphicFrameLocks noGrp="1"/>
          </p:cNvGraphicFramePr>
          <p:nvPr>
            <p:extLst>
              <p:ext uri="{D42A27DB-BD31-4B8C-83A1-F6EECF244321}">
                <p14:modId xmlns:p14="http://schemas.microsoft.com/office/powerpoint/2010/main" val="1338693071"/>
              </p:ext>
            </p:extLst>
          </p:nvPr>
        </p:nvGraphicFramePr>
        <p:xfrm>
          <a:off x="411480" y="1051560"/>
          <a:ext cx="11338560" cy="4663440"/>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gridCol w="3291840">
                  <a:extLst>
                    <a:ext uri="{9D8B030D-6E8A-4147-A177-3AD203B41FA5}">
                      <a16:colId xmlns:a16="http://schemas.microsoft.com/office/drawing/2014/main" val="20004"/>
                    </a:ext>
                  </a:extLst>
                </a:gridCol>
              </a:tblGrid>
              <a:tr h="1097280">
                <a:tc>
                  <a:txBody>
                    <a:bodyPr/>
                    <a:lstStyle/>
                    <a:p>
                      <a:pPr>
                        <a:defRPr sz="1300" b="1">
                          <a:solidFill>
                            <a:srgbClr val="FFFFFF"/>
                          </a:solidFill>
                        </a:defRPr>
                      </a:pPr>
                      <a:r>
                        <a:t>S.No.</a:t>
                      </a:r>
                    </a:p>
                  </a:txBody>
                  <a:tcPr>
                    <a:solidFill>
                      <a:srgbClr val="1F3756"/>
                    </a:solidFill>
                  </a:tcPr>
                </a:tc>
                <a:tc>
                  <a:txBody>
                    <a:bodyPr/>
                    <a:lstStyle/>
                    <a:p>
                      <a:pPr>
                        <a:defRPr sz="1300" b="1">
                          <a:solidFill>
                            <a:srgbClr val="FFFFFF"/>
                          </a:solidFill>
                        </a:defRPr>
                      </a:pPr>
                      <a:r>
                        <a:t>Author &amp; Year</a:t>
                      </a:r>
                    </a:p>
                  </a:txBody>
                  <a:tcPr>
                    <a:solidFill>
                      <a:srgbClr val="1F3756"/>
                    </a:solidFill>
                  </a:tcPr>
                </a:tc>
                <a:tc>
                  <a:txBody>
                    <a:bodyPr/>
                    <a:lstStyle/>
                    <a:p>
                      <a:pPr>
                        <a:defRPr sz="1300" b="1">
                          <a:solidFill>
                            <a:srgbClr val="FFFFFF"/>
                          </a:solidFill>
                        </a:defRPr>
                      </a:pPr>
                      <a:r>
                        <a:t>Method / Technique</a:t>
                      </a:r>
                    </a:p>
                  </a:txBody>
                  <a:tcPr>
                    <a:solidFill>
                      <a:srgbClr val="1F3756"/>
                    </a:solidFill>
                  </a:tcPr>
                </a:tc>
                <a:tc>
                  <a:txBody>
                    <a:bodyPr/>
                    <a:lstStyle/>
                    <a:p>
                      <a:pPr>
                        <a:defRPr sz="1300" b="1">
                          <a:solidFill>
                            <a:srgbClr val="FFFFFF"/>
                          </a:solidFill>
                        </a:defRPr>
                      </a:pPr>
                      <a:r>
                        <a:rPr dirty="0"/>
                        <a:t>Key Findings</a:t>
                      </a:r>
                    </a:p>
                  </a:txBody>
                  <a:tcPr>
                    <a:solidFill>
                      <a:srgbClr val="1F3756"/>
                    </a:solidFill>
                  </a:tcPr>
                </a:tc>
                <a:tc>
                  <a:txBody>
                    <a:bodyPr/>
                    <a:lstStyle/>
                    <a:p>
                      <a:pPr>
                        <a:defRPr sz="1300" b="1">
                          <a:solidFill>
                            <a:srgbClr val="FFFFFF"/>
                          </a:solidFill>
                        </a:defRPr>
                      </a:pPr>
                      <a:r>
                        <a:t>Limitations</a:t>
                      </a:r>
                    </a:p>
                  </a:txBody>
                  <a:tcPr>
                    <a:solidFill>
                      <a:srgbClr val="1F3756"/>
                    </a:solidFill>
                  </a:tcPr>
                </a:tc>
                <a:extLst>
                  <a:ext uri="{0D108BD9-81ED-4DB2-BD59-A6C34878D82A}">
                    <a16:rowId xmlns:a16="http://schemas.microsoft.com/office/drawing/2014/main" val="10000"/>
                  </a:ext>
                </a:extLst>
              </a:tr>
              <a:tr h="1097280">
                <a:tc>
                  <a:txBody>
                    <a:bodyPr/>
                    <a:lstStyle/>
                    <a:p>
                      <a:pPr>
                        <a:defRPr sz="1200">
                          <a:solidFill>
                            <a:srgbClr val="5F6973"/>
                          </a:solidFill>
                        </a:defRPr>
                      </a:pPr>
                      <a:r>
                        <a:t>1</a:t>
                      </a:r>
                    </a:p>
                  </a:txBody>
                  <a:tcPr>
                    <a:solidFill>
                      <a:srgbClr val="F2F6FA"/>
                    </a:solidFill>
                  </a:tcPr>
                </a:tc>
                <a:tc>
                  <a:txBody>
                    <a:bodyPr/>
                    <a:lstStyle/>
                    <a:p>
                      <a:pPr>
                        <a:defRPr sz="1200">
                          <a:solidFill>
                            <a:srgbClr val="5F6973"/>
                          </a:solidFill>
                        </a:defRPr>
                      </a:pPr>
                      <a:r>
                        <a:rPr lang="en-IN" sz="1200" b="0" i="0" kern="1200" dirty="0">
                          <a:solidFill>
                            <a:srgbClr val="5F6973"/>
                          </a:solidFill>
                          <a:effectLst/>
                          <a:latin typeface="+mn-lt"/>
                          <a:ea typeface="+mn-ea"/>
                          <a:cs typeface="+mn-cs"/>
                        </a:rPr>
                        <a:t>Junghanns &amp; Schaeffer (1997)</a:t>
                      </a:r>
                      <a:endParaRPr dirty="0"/>
                    </a:p>
                  </a:txBody>
                  <a:tcPr>
                    <a:solidFill>
                      <a:srgbClr val="F2F6FA"/>
                    </a:solidFill>
                  </a:tcPr>
                </a:tc>
                <a:tc>
                  <a:txBody>
                    <a:bodyPr/>
                    <a:lstStyle/>
                    <a:p>
                      <a:pPr>
                        <a:defRPr sz="1200">
                          <a:solidFill>
                            <a:srgbClr val="5F6973"/>
                          </a:solidFill>
                        </a:defRPr>
                      </a:pPr>
                      <a:r>
                        <a:rPr lang="en-IN" sz="1200" b="0" i="0" kern="1200" dirty="0">
                          <a:solidFill>
                            <a:srgbClr val="5F6973"/>
                          </a:solidFill>
                          <a:effectLst/>
                          <a:latin typeface="+mn-lt"/>
                          <a:ea typeface="+mn-ea"/>
                          <a:cs typeface="+mn-cs"/>
                        </a:rPr>
                        <a:t>IDA* with lower-bound heuristics (sum of box-to-goal distances)</a:t>
                      </a:r>
                      <a:endParaRPr dirty="0"/>
                    </a:p>
                  </a:txBody>
                  <a:tcPr>
                    <a:solidFill>
                      <a:srgbClr val="F2F6FA"/>
                    </a:solidFill>
                  </a:tcPr>
                </a:tc>
                <a:tc>
                  <a:txBody>
                    <a:bodyPr/>
                    <a:lstStyle/>
                    <a:p>
                      <a:pPr>
                        <a:defRPr sz="1200">
                          <a:solidFill>
                            <a:srgbClr val="5F6973"/>
                          </a:solidFill>
                        </a:defRPr>
                      </a:pPr>
                      <a:r>
                        <a:rPr lang="en-IN" sz="1200" b="0" i="0" kern="1200" dirty="0">
                          <a:solidFill>
                            <a:srgbClr val="5F6973"/>
                          </a:solidFill>
                          <a:effectLst/>
                          <a:latin typeface="+mn-lt"/>
                          <a:ea typeface="+mn-ea"/>
                          <a:cs typeface="+mn-cs"/>
                        </a:rPr>
                        <a:t>Their work with IDA* aimed to demonstrate the inadequacy of single-agent search techniques for the Sokoban puzzle, using a simple lower bound based on the sum of distances from each box to its nearest goal</a:t>
                      </a:r>
                      <a:endParaRPr dirty="0"/>
                    </a:p>
                  </a:txBody>
                  <a:tcPr>
                    <a:solidFill>
                      <a:srgbClr val="F2F6FA"/>
                    </a:solidFill>
                  </a:tcPr>
                </a:tc>
                <a:tc>
                  <a:txBody>
                    <a:bodyPr/>
                    <a:lstStyle/>
                    <a:p>
                      <a:pPr>
                        <a:defRPr sz="1200">
                          <a:solidFill>
                            <a:srgbClr val="5F6973"/>
                          </a:solidFill>
                        </a:defRPr>
                      </a:pPr>
                      <a:r>
                        <a:rPr lang="en-IN" sz="1200" b="0" i="0" kern="1200" dirty="0">
                          <a:solidFill>
                            <a:srgbClr val="5F6973"/>
                          </a:solidFill>
                          <a:effectLst/>
                          <a:latin typeface="+mn-lt"/>
                          <a:ea typeface="+mn-ea"/>
                          <a:cs typeface="+mn-cs"/>
                        </a:rPr>
                        <a:t>Even enhanced IDA* struggles to scale; establishes that plain heuristic search alone is insufficient for harder Sokoban levels.</a:t>
                      </a:r>
                      <a:endParaRPr dirty="0"/>
                    </a:p>
                  </a:txBody>
                  <a:tcPr>
                    <a:solidFill>
                      <a:srgbClr val="F2F6FA"/>
                    </a:solidFill>
                  </a:tcPr>
                </a:tc>
                <a:extLst>
                  <a:ext uri="{0D108BD9-81ED-4DB2-BD59-A6C34878D82A}">
                    <a16:rowId xmlns:a16="http://schemas.microsoft.com/office/drawing/2014/main" val="10001"/>
                  </a:ext>
                </a:extLst>
              </a:tr>
              <a:tr h="1097280">
                <a:tc>
                  <a:txBody>
                    <a:bodyPr/>
                    <a:lstStyle/>
                    <a:p>
                      <a:pPr>
                        <a:defRPr sz="1200">
                          <a:solidFill>
                            <a:srgbClr val="5F6973"/>
                          </a:solidFill>
                        </a:defRPr>
                      </a:pPr>
                      <a:r>
                        <a:t>2</a:t>
                      </a:r>
                    </a:p>
                  </a:txBody>
                  <a:tcPr>
                    <a:solidFill>
                      <a:srgbClr val="FFFFFF"/>
                    </a:solidFill>
                  </a:tcPr>
                </a:tc>
                <a:tc>
                  <a:txBody>
                    <a:bodyPr/>
                    <a:lstStyle/>
                    <a:p>
                      <a:pPr>
                        <a:defRPr sz="1200">
                          <a:solidFill>
                            <a:srgbClr val="5F6973"/>
                          </a:solidFill>
                        </a:defRPr>
                      </a:pPr>
                      <a:r>
                        <a:rPr lang="en-IN" sz="1200" b="0" i="0" kern="1200" dirty="0">
                          <a:solidFill>
                            <a:srgbClr val="5F6973"/>
                          </a:solidFill>
                          <a:effectLst/>
                          <a:latin typeface="+mn-lt"/>
                          <a:ea typeface="+mn-ea"/>
                          <a:cs typeface="+mn-cs"/>
                        </a:rPr>
                        <a:t>Rei &amp; Teixeira — "Willy" solver</a:t>
                      </a:r>
                      <a:endParaRPr dirty="0"/>
                    </a:p>
                  </a:txBody>
                  <a:tcPr>
                    <a:solidFill>
                      <a:srgbClr val="FFFFFF"/>
                    </a:solidFill>
                  </a:tcPr>
                </a:tc>
                <a:tc>
                  <a:txBody>
                    <a:bodyPr/>
                    <a:lstStyle/>
                    <a:p>
                      <a:pPr>
                        <a:defRPr sz="1200">
                          <a:solidFill>
                            <a:srgbClr val="5F6973"/>
                          </a:solidFill>
                        </a:defRPr>
                      </a:pPr>
                      <a:r>
                        <a:rPr lang="en-IN" sz="1200" b="0" i="0" kern="1200" dirty="0">
                          <a:solidFill>
                            <a:srgbClr val="5F6973"/>
                          </a:solidFill>
                          <a:effectLst/>
                          <a:latin typeface="+mn-lt"/>
                          <a:ea typeface="+mn-ea"/>
                          <a:cs typeface="+mn-cs"/>
                        </a:rPr>
                        <a:t>IDA* + </a:t>
                      </a:r>
                      <a:r>
                        <a:rPr lang="en-IN" sz="1200" b="0" i="0" kern="1200" dirty="0" err="1">
                          <a:solidFill>
                            <a:srgbClr val="5F6973"/>
                          </a:solidFill>
                          <a:effectLst/>
                          <a:latin typeface="+mn-lt"/>
                          <a:ea typeface="+mn-ea"/>
                          <a:cs typeface="+mn-cs"/>
                        </a:rPr>
                        <a:t>Minimatching</a:t>
                      </a:r>
                      <a:r>
                        <a:rPr lang="en-IN" sz="1200" b="0" i="0" kern="1200" dirty="0">
                          <a:solidFill>
                            <a:srgbClr val="5F6973"/>
                          </a:solidFill>
                          <a:effectLst/>
                          <a:latin typeface="+mn-lt"/>
                          <a:ea typeface="+mn-ea"/>
                          <a:cs typeface="+mn-cs"/>
                        </a:rPr>
                        <a:t> heuristic, hash tables, macro moves, relevance cuts</a:t>
                      </a:r>
                      <a:endParaRPr dirty="0"/>
                    </a:p>
                  </a:txBody>
                  <a:tcPr>
                    <a:solidFill>
                      <a:srgbClr val="FFFFFF"/>
                    </a:solidFill>
                  </a:tcPr>
                </a:tc>
                <a:tc>
                  <a:txBody>
                    <a:bodyPr/>
                    <a:lstStyle/>
                    <a:p>
                      <a:pPr>
                        <a:defRPr sz="1200">
                          <a:solidFill>
                            <a:srgbClr val="5F6973"/>
                          </a:solidFill>
                        </a:defRPr>
                      </a:pPr>
                      <a:r>
                        <a:rPr lang="en-IN" sz="1200" b="0" i="0" kern="1200" dirty="0">
                          <a:solidFill>
                            <a:srgbClr val="5F6973"/>
                          </a:solidFill>
                          <a:effectLst/>
                          <a:latin typeface="+mn-lt"/>
                          <a:ea typeface="+mn-ea"/>
                          <a:cs typeface="+mn-cs"/>
                        </a:rPr>
                        <a:t>Willy combines IDA* search with a </a:t>
                      </a:r>
                      <a:r>
                        <a:rPr lang="en-IN" sz="1200" b="0" i="0" kern="1200" dirty="0" err="1">
                          <a:solidFill>
                            <a:srgbClr val="5F6973"/>
                          </a:solidFill>
                          <a:effectLst/>
                          <a:latin typeface="+mn-lt"/>
                          <a:ea typeface="+mn-ea"/>
                          <a:cs typeface="+mn-cs"/>
                        </a:rPr>
                        <a:t>Minmatching</a:t>
                      </a:r>
                      <a:r>
                        <a:rPr lang="en-IN" sz="1200" b="0" i="0" kern="1200" dirty="0">
                          <a:solidFill>
                            <a:srgbClr val="5F6973"/>
                          </a:solidFill>
                          <a:effectLst/>
                          <a:latin typeface="+mn-lt"/>
                          <a:ea typeface="+mn-ea"/>
                          <a:cs typeface="+mn-cs"/>
                        </a:rPr>
                        <a:t> heuristic and reduces the search space using techniques such as removing unsafe positions, hash tables to prevent loops, and macro moves that merge multiple states into one, along with relevance cuts to focus on pertinent moves. </a:t>
                      </a:r>
                      <a:endParaRPr dirty="0"/>
                    </a:p>
                  </a:txBody>
                  <a:tcPr>
                    <a:solidFill>
                      <a:srgbClr val="FFFFFF"/>
                    </a:solidFill>
                  </a:tcPr>
                </a:tc>
                <a:tc>
                  <a:txBody>
                    <a:bodyPr/>
                    <a:lstStyle/>
                    <a:p>
                      <a:pPr>
                        <a:defRPr sz="1200">
                          <a:solidFill>
                            <a:srgbClr val="5F6973"/>
                          </a:solidFill>
                        </a:defRPr>
                      </a:pPr>
                      <a:r>
                        <a:rPr lang="en-IN" sz="1200" b="0" i="0" kern="1200" dirty="0">
                          <a:solidFill>
                            <a:srgbClr val="5F6973"/>
                          </a:solidFill>
                          <a:effectLst/>
                          <a:latin typeface="+mn-lt"/>
                          <a:ea typeface="+mn-ea"/>
                          <a:cs typeface="+mn-cs"/>
                        </a:rPr>
                        <a:t>The relevance-cuts technique, while speeding up search, can lead to non-optimal solutions.</a:t>
                      </a:r>
                      <a:endParaRPr dirty="0"/>
                    </a:p>
                  </a:txBody>
                  <a:tcPr>
                    <a:solidFill>
                      <a:srgbClr val="FFFFFF"/>
                    </a:solidFill>
                  </a:tcPr>
                </a:tc>
                <a:extLst>
                  <a:ext uri="{0D108BD9-81ED-4DB2-BD59-A6C34878D82A}">
                    <a16:rowId xmlns:a16="http://schemas.microsoft.com/office/drawing/2014/main" val="10002"/>
                  </a:ext>
                </a:extLst>
              </a:tr>
              <a:tr h="1097280">
                <a:tc>
                  <a:txBody>
                    <a:bodyPr/>
                    <a:lstStyle/>
                    <a:p>
                      <a:pPr>
                        <a:defRPr sz="1200">
                          <a:solidFill>
                            <a:srgbClr val="5F6973"/>
                          </a:solidFill>
                        </a:defRPr>
                      </a:pPr>
                      <a:r>
                        <a:t>3</a:t>
                      </a:r>
                    </a:p>
                  </a:txBody>
                  <a:tcPr>
                    <a:solidFill>
                      <a:srgbClr val="F2F6FA"/>
                    </a:solidFill>
                  </a:tcPr>
                </a:tc>
                <a:tc>
                  <a:txBody>
                    <a:bodyPr/>
                    <a:lstStyle/>
                    <a:p>
                      <a:pPr>
                        <a:defRPr sz="1200">
                          <a:solidFill>
                            <a:srgbClr val="5F6973"/>
                          </a:solidFill>
                        </a:defRPr>
                      </a:pPr>
                      <a:r>
                        <a:rPr lang="en-IN" sz="1200" b="0" i="0" kern="1200" dirty="0">
                          <a:solidFill>
                            <a:srgbClr val="5F6973"/>
                          </a:solidFill>
                          <a:effectLst/>
                          <a:latin typeface="+mn-lt"/>
                          <a:ea typeface="+mn-ea"/>
                          <a:cs typeface="+mn-cs"/>
                        </a:rPr>
                        <a:t>Peters (2023, Bachelor's Thesis)</a:t>
                      </a:r>
                      <a:endParaRPr dirty="0"/>
                    </a:p>
                  </a:txBody>
                  <a:tcPr>
                    <a:solidFill>
                      <a:srgbClr val="F2F6FA"/>
                    </a:solidFill>
                  </a:tcPr>
                </a:tc>
                <a:tc>
                  <a:txBody>
                    <a:bodyPr/>
                    <a:lstStyle/>
                    <a:p>
                      <a:pPr>
                        <a:defRPr sz="1200">
                          <a:solidFill>
                            <a:srgbClr val="5F6973"/>
                          </a:solidFill>
                        </a:defRPr>
                      </a:pPr>
                      <a:r>
                        <a:rPr lang="en-IN" sz="1200" b="0" i="0" kern="1200" dirty="0">
                          <a:solidFill>
                            <a:srgbClr val="5F6973"/>
                          </a:solidFill>
                          <a:effectLst/>
                          <a:latin typeface="+mn-lt"/>
                          <a:ea typeface="+mn-ea"/>
                          <a:cs typeface="+mn-cs"/>
                        </a:rPr>
                        <a:t>Graph search algorithms with search-tree pruning; comparison with reinforcement learning approaches</a:t>
                      </a:r>
                      <a:endParaRPr dirty="0"/>
                    </a:p>
                  </a:txBody>
                  <a:tcPr>
                    <a:solidFill>
                      <a:srgbClr val="F2F6FA"/>
                    </a:solidFill>
                  </a:tcPr>
                </a:tc>
                <a:tc>
                  <a:txBody>
                    <a:bodyPr/>
                    <a:lstStyle/>
                    <a:p>
                      <a:pPr>
                        <a:defRPr sz="1200">
                          <a:solidFill>
                            <a:srgbClr val="5F6973"/>
                          </a:solidFill>
                        </a:defRPr>
                      </a:pPr>
                      <a:r>
                        <a:rPr lang="en-IN" sz="1200" b="0" i="0" kern="1200" dirty="0">
                          <a:solidFill>
                            <a:srgbClr val="5F6973"/>
                          </a:solidFill>
                          <a:effectLst/>
                          <a:latin typeface="+mn-lt"/>
                          <a:ea typeface="+mn-ea"/>
                          <a:cs typeface="+mn-cs"/>
                        </a:rPr>
                        <a:t>The thesis presents multiple graph search algorithms and pruning techniques, along with a configurable GUI-based solver, to solve Sokoban levels faster and more efficiently.</a:t>
                      </a:r>
                      <a:endParaRPr dirty="0"/>
                    </a:p>
                  </a:txBody>
                  <a:tcPr>
                    <a:solidFill>
                      <a:srgbClr val="F2F6FA"/>
                    </a:solidFill>
                  </a:tcPr>
                </a:tc>
                <a:tc>
                  <a:txBody>
                    <a:bodyPr/>
                    <a:lstStyle/>
                    <a:p>
                      <a:pPr>
                        <a:defRPr sz="1200">
                          <a:solidFill>
                            <a:srgbClr val="5F6973"/>
                          </a:solidFill>
                        </a:defRPr>
                      </a:pPr>
                      <a:r>
                        <a:rPr lang="en-IN" sz="1200" b="0" i="0" kern="1200" dirty="0">
                          <a:solidFill>
                            <a:srgbClr val="5F6973"/>
                          </a:solidFill>
                          <a:effectLst/>
                          <a:latin typeface="+mn-lt"/>
                          <a:ea typeface="+mn-ea"/>
                          <a:cs typeface="+mn-cs"/>
                        </a:rPr>
                        <a:t>Deep RL approaches require significant training data/time and may not generalize well across very different level structures.</a:t>
                      </a:r>
                      <a:endParaRPr dirty="0"/>
                    </a:p>
                  </a:txBody>
                  <a:tcPr>
                    <a:solidFill>
                      <a:srgbClr val="F2F6FA"/>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  Project Review – 1  |  [Academic Year]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Existing System</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7</a:t>
            </a:r>
          </a:p>
        </p:txBody>
      </p:sp>
      <p:sp>
        <p:nvSpPr>
          <p:cNvPr id="5" name="TextBox 4"/>
          <p:cNvSpPr txBox="1"/>
          <p:nvPr/>
        </p:nvSpPr>
        <p:spPr>
          <a:xfrm>
            <a:off x="533400" y="1008720"/>
            <a:ext cx="5926394" cy="5109091"/>
          </a:xfrm>
          <a:prstGeom prst="rect">
            <a:avLst/>
          </a:prstGeom>
          <a:noFill/>
        </p:spPr>
        <p:txBody>
          <a:bodyPr wrap="square">
            <a:spAutoFit/>
          </a:bodyPr>
          <a:lstStyle/>
          <a:p>
            <a:br>
              <a:rPr lang="en-IN" dirty="0"/>
            </a:br>
            <a:r>
              <a:rPr lang="en-IN" b="1" dirty="0"/>
              <a:t>Manual trial-and-error play</a:t>
            </a:r>
            <a:r>
              <a:rPr lang="en-IN" dirty="0"/>
              <a:t>, or plain </a:t>
            </a:r>
            <a:r>
              <a:rPr lang="en-IN" b="1" dirty="0"/>
              <a:t>uninformed search</a:t>
            </a:r>
            <a:r>
              <a:rPr lang="en-IN" dirty="0"/>
              <a:t> with no sense of progress.</a:t>
            </a:r>
          </a:p>
          <a:p>
            <a:endParaRPr lang="en-IN" dirty="0"/>
          </a:p>
          <a:p>
            <a:r>
              <a:rPr lang="en-IN" b="1" dirty="0"/>
              <a:t>Technologies</a:t>
            </a:r>
            <a:endParaRPr lang="en-IN" dirty="0"/>
          </a:p>
          <a:p>
            <a:pPr lvl="0"/>
            <a:r>
              <a:rPr lang="en-IN" b="1" dirty="0"/>
              <a:t>BFS/DFS</a:t>
            </a:r>
            <a:r>
              <a:rPr lang="en-IN" dirty="0"/>
              <a:t> on raw moves — no goal-awareness</a:t>
            </a:r>
          </a:p>
          <a:p>
            <a:pPr lvl="0"/>
            <a:r>
              <a:rPr lang="en-IN" b="1" dirty="0"/>
              <a:t>No deadlock detection</a:t>
            </a:r>
            <a:r>
              <a:rPr lang="en-IN" dirty="0"/>
              <a:t> — explores dead states anyway</a:t>
            </a:r>
          </a:p>
          <a:p>
            <a:pPr lvl="0"/>
            <a:r>
              <a:rPr lang="en-IN" b="1" dirty="0"/>
              <a:t>No benchmarking</a:t>
            </a:r>
            <a:r>
              <a:rPr lang="en-IN" dirty="0"/>
              <a:t> — no way to compare strategies</a:t>
            </a:r>
          </a:p>
          <a:p>
            <a:pPr lvl="0"/>
            <a:endParaRPr lang="en-IN" dirty="0"/>
          </a:p>
          <a:p>
            <a:r>
              <a:rPr lang="en-IN" b="1" dirty="0"/>
              <a:t>Advantages</a:t>
            </a:r>
            <a:endParaRPr lang="en-IN" dirty="0"/>
          </a:p>
          <a:p>
            <a:pPr lvl="0"/>
            <a:r>
              <a:rPr lang="en-IN" b="1" dirty="0"/>
              <a:t>Simple</a:t>
            </a:r>
            <a:r>
              <a:rPr lang="en-IN" dirty="0"/>
              <a:t> to implement</a:t>
            </a:r>
          </a:p>
          <a:p>
            <a:pPr lvl="0"/>
            <a:r>
              <a:rPr lang="en-IN" b="1" dirty="0"/>
              <a:t>BFS guarantees</a:t>
            </a:r>
            <a:r>
              <a:rPr lang="en-IN" dirty="0"/>
              <a:t> an optimal solution when it finishes</a:t>
            </a:r>
          </a:p>
          <a:p>
            <a:pPr lvl="0"/>
            <a:endParaRPr lang="en-IN" dirty="0"/>
          </a:p>
          <a:p>
            <a:r>
              <a:rPr lang="en-IN" b="1" dirty="0"/>
              <a:t>Limitations</a:t>
            </a:r>
            <a:endParaRPr lang="en-IN" dirty="0"/>
          </a:p>
          <a:p>
            <a:pPr lvl="0"/>
            <a:r>
              <a:rPr lang="en-IN" b="1" dirty="0"/>
              <a:t>State explosion</a:t>
            </a:r>
            <a:r>
              <a:rPr lang="en-IN" dirty="0"/>
              <a:t> — slows down fast as boxes increase</a:t>
            </a:r>
          </a:p>
          <a:p>
            <a:pPr lvl="0"/>
            <a:r>
              <a:rPr lang="en-IN" b="1" dirty="0"/>
              <a:t>Blind search</a:t>
            </a:r>
            <a:r>
              <a:rPr lang="en-IN" dirty="0"/>
              <a:t> — wastes effort with no heuristic</a:t>
            </a:r>
          </a:p>
          <a:p>
            <a:pPr lvl="0"/>
            <a:r>
              <a:rPr lang="en-IN" b="1" dirty="0"/>
              <a:t>No performance data</a:t>
            </a:r>
            <a:r>
              <a:rPr lang="en-IN" dirty="0"/>
              <a:t> to justify improvements</a:t>
            </a:r>
          </a:p>
          <a:p>
            <a:pPr>
              <a:spcAft>
                <a:spcPts val="1400"/>
              </a:spcAft>
              <a:defRPr sz="2000">
                <a:solidFill>
                  <a:srgbClr val="5F6973"/>
                </a:solidFill>
              </a:defRPr>
            </a:pPr>
            <a:endParaRPr lang="en-IN" dirty="0"/>
          </a:p>
        </p:txBody>
      </p:sp>
      <p:sp>
        <p:nvSpPr>
          <p:cNvPr id="7" name="TextBox 6"/>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  Project Review – 1  |  [Academic Year]</a:t>
            </a:r>
          </a:p>
        </p:txBody>
      </p:sp>
      <p:pic>
        <p:nvPicPr>
          <p:cNvPr id="8" name="Picture 7">
            <a:extLst>
              <a:ext uri="{FF2B5EF4-FFF2-40B4-BE49-F238E27FC236}">
                <a16:creationId xmlns:a16="http://schemas.microsoft.com/office/drawing/2014/main" id="{705E96FB-BF98-0B0A-CF04-D942D7028AD7}"/>
              </a:ext>
            </a:extLst>
          </p:cNvPr>
          <p:cNvPicPr>
            <a:picLocks noChangeAspect="1"/>
          </p:cNvPicPr>
          <p:nvPr/>
        </p:nvPicPr>
        <p:blipFill>
          <a:blip r:embed="rId2"/>
          <a:stretch>
            <a:fillRect/>
          </a:stretch>
        </p:blipFill>
        <p:spPr>
          <a:xfrm>
            <a:off x="6666270" y="1205986"/>
            <a:ext cx="4898377" cy="514249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Proposed System</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8</a:t>
            </a:r>
          </a:p>
        </p:txBody>
      </p:sp>
      <p:sp>
        <p:nvSpPr>
          <p:cNvPr id="5" name="TextBox 4"/>
          <p:cNvSpPr txBox="1"/>
          <p:nvPr/>
        </p:nvSpPr>
        <p:spPr>
          <a:xfrm>
            <a:off x="208198" y="932414"/>
            <a:ext cx="6616127" cy="5386090"/>
          </a:xfrm>
          <a:prstGeom prst="rect">
            <a:avLst/>
          </a:prstGeom>
          <a:noFill/>
        </p:spPr>
        <p:txBody>
          <a:bodyPr wrap="square">
            <a:spAutoFit/>
          </a:bodyPr>
          <a:lstStyle/>
          <a:p>
            <a:r>
              <a:rPr lang="en-IN" b="1" dirty="0"/>
              <a:t>Proposed approach</a:t>
            </a:r>
            <a:br>
              <a:rPr lang="en-IN" dirty="0"/>
            </a:br>
            <a:r>
              <a:rPr lang="en-IN" dirty="0"/>
              <a:t>Replace manual guesswork with a </a:t>
            </a:r>
            <a:r>
              <a:rPr lang="en-IN" b="1" dirty="0"/>
              <a:t>guided AI search pipeline</a:t>
            </a:r>
            <a:r>
              <a:rPr lang="en-IN" dirty="0"/>
              <a:t> — informed, </a:t>
            </a:r>
            <a:r>
              <a:rPr lang="en-IN" dirty="0" err="1"/>
              <a:t>prunable</a:t>
            </a:r>
            <a:r>
              <a:rPr lang="en-IN" dirty="0"/>
              <a:t>, measurable.</a:t>
            </a:r>
          </a:p>
          <a:p>
            <a:endParaRPr lang="en-IN" dirty="0"/>
          </a:p>
          <a:p>
            <a:r>
              <a:rPr lang="en-IN" b="1" dirty="0"/>
              <a:t>Key features</a:t>
            </a:r>
            <a:endParaRPr lang="en-IN" dirty="0"/>
          </a:p>
          <a:p>
            <a:pPr lvl="0"/>
            <a:r>
              <a:rPr lang="en-IN" b="1" dirty="0"/>
              <a:t>Push-based search</a:t>
            </a:r>
            <a:r>
              <a:rPr lang="en-IN" dirty="0"/>
              <a:t> — reasons over box pushes, not single steps</a:t>
            </a:r>
          </a:p>
          <a:p>
            <a:pPr lvl="0"/>
            <a:r>
              <a:rPr lang="en-IN" b="1" dirty="0"/>
              <a:t>Heuristic-guided (A*)</a:t>
            </a:r>
            <a:r>
              <a:rPr lang="en-IN" dirty="0"/>
              <a:t> — always searches toward the goal</a:t>
            </a:r>
          </a:p>
          <a:p>
            <a:pPr lvl="0"/>
            <a:r>
              <a:rPr lang="en-IN" b="1" dirty="0"/>
              <a:t>Deadlock pruning</a:t>
            </a:r>
            <a:r>
              <a:rPr lang="en-IN" dirty="0"/>
              <a:t> — skips states that can never be solved</a:t>
            </a:r>
          </a:p>
          <a:p>
            <a:pPr lvl="0"/>
            <a:r>
              <a:rPr lang="en-IN" b="1" dirty="0"/>
              <a:t>Live comparison</a:t>
            </a:r>
            <a:r>
              <a:rPr lang="en-IN" dirty="0"/>
              <a:t> — BFS vs A* vs A*+Deadlock, side by side</a:t>
            </a:r>
          </a:p>
          <a:p>
            <a:pPr lvl="0"/>
            <a:endParaRPr lang="en-IN" dirty="0"/>
          </a:p>
          <a:p>
            <a:r>
              <a:rPr lang="en-IN" b="1" dirty="0"/>
              <a:t>How it improves the existing system</a:t>
            </a:r>
            <a:endParaRPr lang="en-IN" dirty="0"/>
          </a:p>
          <a:p>
            <a:pPr lvl="0"/>
            <a:r>
              <a:rPr lang="en-IN" b="1" dirty="0"/>
              <a:t>Blind search → goal-directed search</a:t>
            </a:r>
            <a:endParaRPr lang="en-IN" dirty="0"/>
          </a:p>
          <a:p>
            <a:pPr lvl="0"/>
            <a:r>
              <a:rPr lang="en-IN" b="1" dirty="0"/>
              <a:t>Wasted effort → pruned dead states</a:t>
            </a:r>
            <a:endParaRPr lang="en-IN" dirty="0"/>
          </a:p>
          <a:p>
            <a:pPr lvl="0"/>
            <a:r>
              <a:rPr lang="en-IN" b="1" dirty="0"/>
              <a:t>No feedback → measurable performance data</a:t>
            </a:r>
          </a:p>
          <a:p>
            <a:pPr lvl="0"/>
            <a:endParaRPr lang="en-IN" dirty="0"/>
          </a:p>
          <a:p>
            <a:r>
              <a:rPr lang="en-IN" b="1" dirty="0"/>
              <a:t>Expected outcome</a:t>
            </a:r>
            <a:br>
              <a:rPr lang="en-IN" dirty="0"/>
            </a:br>
            <a:r>
              <a:rPr lang="en-IN" dirty="0"/>
              <a:t>Same </a:t>
            </a:r>
            <a:r>
              <a:rPr lang="en-IN" b="1" dirty="0"/>
              <a:t>optimal solution</a:t>
            </a:r>
            <a:r>
              <a:rPr lang="en-IN" dirty="0"/>
              <a:t> as brute-force search — found after exploring only about </a:t>
            </a:r>
            <a:r>
              <a:rPr lang="en-IN" b="1" dirty="0"/>
              <a:t>1–2% of the states</a:t>
            </a:r>
            <a:r>
              <a:rPr lang="en-IN" dirty="0"/>
              <a:t>.</a:t>
            </a:r>
          </a:p>
          <a:p>
            <a:pPr>
              <a:spcAft>
                <a:spcPts val="1400"/>
              </a:spcAft>
              <a:defRPr sz="2000">
                <a:solidFill>
                  <a:srgbClr val="5F6973"/>
                </a:solidFill>
              </a:defRPr>
            </a:pPr>
            <a:endParaRPr dirty="0"/>
          </a:p>
        </p:txBody>
      </p:sp>
      <p:sp>
        <p:nvSpPr>
          <p:cNvPr id="7" name="TextBox 6"/>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  Project Review – 1  |  [Academic Year]</a:t>
            </a:r>
          </a:p>
        </p:txBody>
      </p:sp>
      <p:pic>
        <p:nvPicPr>
          <p:cNvPr id="8" name="Picture 7">
            <a:extLst>
              <a:ext uri="{FF2B5EF4-FFF2-40B4-BE49-F238E27FC236}">
                <a16:creationId xmlns:a16="http://schemas.microsoft.com/office/drawing/2014/main" id="{54608342-2894-BCBD-F884-CD9365753CE2}"/>
              </a:ext>
            </a:extLst>
          </p:cNvPr>
          <p:cNvPicPr>
            <a:picLocks noChangeAspect="1"/>
          </p:cNvPicPr>
          <p:nvPr/>
        </p:nvPicPr>
        <p:blipFill>
          <a:blip r:embed="rId2"/>
          <a:stretch>
            <a:fillRect/>
          </a:stretch>
        </p:blipFill>
        <p:spPr>
          <a:xfrm>
            <a:off x="6676103" y="745285"/>
            <a:ext cx="5388077" cy="590948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System Architecture / Block Diagram</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9</a:t>
            </a:r>
          </a:p>
        </p:txBody>
      </p:sp>
      <p:sp>
        <p:nvSpPr>
          <p:cNvPr id="10" name="TextBox 9"/>
          <p:cNvSpPr txBox="1"/>
          <p:nvPr/>
        </p:nvSpPr>
        <p:spPr>
          <a:xfrm>
            <a:off x="352673" y="3172196"/>
            <a:ext cx="10698480" cy="3123932"/>
          </a:xfrm>
          <a:prstGeom prst="rect">
            <a:avLst/>
          </a:prstGeom>
          <a:noFill/>
        </p:spPr>
        <p:txBody>
          <a:bodyPr wrap="square">
            <a:spAutoFit/>
          </a:bodyPr>
          <a:lstStyle/>
          <a:p>
            <a:pPr marL="285750" indent="-285750">
              <a:buFont typeface="Arial" panose="020B0604020202020204" pitchFamily="34" charset="0"/>
              <a:buChar char="•"/>
            </a:pPr>
            <a:r>
              <a:rPr lang="en-IN" sz="2000" b="1" dirty="0"/>
              <a:t>Input</a:t>
            </a:r>
            <a:r>
              <a:rPr lang="en-IN" sz="2000" dirty="0"/>
              <a:t> — raw level file (.txt) defining walls, boxes, targets, and player position.</a:t>
            </a:r>
          </a:p>
          <a:p>
            <a:endParaRPr lang="en-IN" sz="2000" dirty="0"/>
          </a:p>
          <a:p>
            <a:pPr marL="285750" indent="-285750">
              <a:buFont typeface="Arial" panose="020B0604020202020204" pitchFamily="34" charset="0"/>
              <a:buChar char="•"/>
            </a:pPr>
            <a:r>
              <a:rPr lang="en-IN" sz="2000" b="1" dirty="0"/>
              <a:t>Preprocessing</a:t>
            </a:r>
            <a:r>
              <a:rPr lang="en-IN" sz="2000" dirty="0"/>
              <a:t> — parser reads the file and builds the initial player/box state.</a:t>
            </a:r>
          </a:p>
          <a:p>
            <a:endParaRPr lang="en-IN" sz="2000" dirty="0"/>
          </a:p>
          <a:p>
            <a:pPr marL="285750" indent="-285750">
              <a:buFont typeface="Arial" panose="020B0604020202020204" pitchFamily="34" charset="0"/>
              <a:buChar char="•"/>
            </a:pPr>
            <a:r>
              <a:rPr lang="en-IN" sz="2000" b="1" dirty="0"/>
              <a:t>Proposed model</a:t>
            </a:r>
            <a:r>
              <a:rPr lang="en-IN" sz="2000" dirty="0"/>
              <a:t> — search engine runs BFS, A*, or A*+Deadlock to find a solution.</a:t>
            </a:r>
          </a:p>
          <a:p>
            <a:endParaRPr lang="en-IN" sz="2000" dirty="0"/>
          </a:p>
          <a:p>
            <a:pPr marL="285750" indent="-285750">
              <a:buFont typeface="Arial" panose="020B0604020202020204" pitchFamily="34" charset="0"/>
              <a:buChar char="•"/>
            </a:pPr>
            <a:r>
              <a:rPr lang="en-IN" sz="2000" b="1" dirty="0"/>
              <a:t>Evaluation</a:t>
            </a:r>
            <a:r>
              <a:rPr lang="en-IN" sz="2000" dirty="0"/>
              <a:t> — benchmark compares nodes expanded, time, and moves against BFS.</a:t>
            </a:r>
          </a:p>
          <a:p>
            <a:endParaRPr lang="en-IN" sz="2000" dirty="0"/>
          </a:p>
          <a:p>
            <a:pPr marL="285750" indent="-285750">
              <a:buFont typeface="Arial" panose="020B0604020202020204" pitchFamily="34" charset="0"/>
              <a:buChar char="•"/>
            </a:pPr>
            <a:r>
              <a:rPr lang="en-IN" sz="2000" b="1" dirty="0"/>
              <a:t>Output</a:t>
            </a:r>
            <a:r>
              <a:rPr lang="en-IN" sz="2000" dirty="0"/>
              <a:t> — solved puzzle, played back visually in the pygame GUI.</a:t>
            </a:r>
          </a:p>
          <a:p>
            <a:pPr>
              <a:spcAft>
                <a:spcPts val="1400"/>
              </a:spcAft>
              <a:defRPr sz="1700">
                <a:solidFill>
                  <a:srgbClr val="5F6973"/>
                </a:solidFill>
              </a:defRPr>
            </a:pPr>
            <a:endParaRPr dirty="0"/>
          </a:p>
        </p:txBody>
      </p:sp>
      <p:sp>
        <p:nvSpPr>
          <p:cNvPr id="11" name="TextBox 10"/>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  Project Review – 1  |  [Academic Year]</a:t>
            </a:r>
          </a:p>
        </p:txBody>
      </p:sp>
      <p:pic>
        <p:nvPicPr>
          <p:cNvPr id="13" name="Picture 12">
            <a:extLst>
              <a:ext uri="{FF2B5EF4-FFF2-40B4-BE49-F238E27FC236}">
                <a16:creationId xmlns:a16="http://schemas.microsoft.com/office/drawing/2014/main" id="{F0B4224E-7B27-94EB-4390-BF9AC5EA423F}"/>
              </a:ext>
            </a:extLst>
          </p:cNvPr>
          <p:cNvPicPr>
            <a:picLocks noChangeAspect="1"/>
          </p:cNvPicPr>
          <p:nvPr/>
        </p:nvPicPr>
        <p:blipFill>
          <a:blip r:embed="rId2"/>
          <a:stretch>
            <a:fillRect/>
          </a:stretch>
        </p:blipFill>
        <p:spPr>
          <a:xfrm>
            <a:off x="0" y="1175292"/>
            <a:ext cx="12192000" cy="18190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Methodology</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10</a:t>
            </a:r>
          </a:p>
        </p:txBody>
      </p:sp>
      <p:sp>
        <p:nvSpPr>
          <p:cNvPr id="11" name="TextBox 10"/>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  Project Review – 1  |  [Academic Year]</a:t>
            </a:r>
          </a:p>
        </p:txBody>
      </p:sp>
      <p:pic>
        <p:nvPicPr>
          <p:cNvPr id="13" name="Picture 12">
            <a:extLst>
              <a:ext uri="{FF2B5EF4-FFF2-40B4-BE49-F238E27FC236}">
                <a16:creationId xmlns:a16="http://schemas.microsoft.com/office/drawing/2014/main" id="{D5A8B730-7290-1987-CAE7-2FA67B23979C}"/>
              </a:ext>
            </a:extLst>
          </p:cNvPr>
          <p:cNvPicPr>
            <a:picLocks noChangeAspect="1"/>
          </p:cNvPicPr>
          <p:nvPr/>
        </p:nvPicPr>
        <p:blipFill>
          <a:blip r:embed="rId2"/>
          <a:stretch>
            <a:fillRect/>
          </a:stretch>
        </p:blipFill>
        <p:spPr>
          <a:xfrm>
            <a:off x="0" y="1000454"/>
            <a:ext cx="12192000" cy="531804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Technologies Used</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11</a:t>
            </a:r>
          </a:p>
        </p:txBody>
      </p:sp>
      <p:sp>
        <p:nvSpPr>
          <p:cNvPr id="5" name="TextBox 4"/>
          <p:cNvSpPr txBox="1"/>
          <p:nvPr/>
        </p:nvSpPr>
        <p:spPr>
          <a:xfrm>
            <a:off x="289069" y="760034"/>
            <a:ext cx="11617796" cy="5955476"/>
          </a:xfrm>
          <a:prstGeom prst="rect">
            <a:avLst/>
          </a:prstGeom>
          <a:noFill/>
        </p:spPr>
        <p:txBody>
          <a:bodyPr wrap="square">
            <a:spAutoFit/>
          </a:bodyPr>
          <a:lstStyle/>
          <a:p>
            <a:r>
              <a:rPr lang="en-IN" b="1" dirty="0"/>
              <a:t>Programming Language</a:t>
            </a:r>
            <a:br>
              <a:rPr lang="en-IN" dirty="0"/>
            </a:br>
            <a:r>
              <a:rPr lang="en-IN" dirty="0"/>
              <a:t>Python 3.9+ — used for the entire project. Chosen for its readable syntax, fast prototyping speed, and a standard library well suited to implementing search algorithms.</a:t>
            </a:r>
          </a:p>
          <a:p>
            <a:endParaRPr lang="en-IN" dirty="0"/>
          </a:p>
          <a:p>
            <a:r>
              <a:rPr lang="en-IN" b="1" dirty="0"/>
              <a:t>Framework / Library</a:t>
            </a:r>
            <a:endParaRPr lang="en-IN" dirty="0"/>
          </a:p>
          <a:p>
            <a:pPr lvl="0"/>
            <a:r>
              <a:rPr lang="en-IN" dirty="0"/>
              <a:t>pygame 2.6 — handles GUI rendering, input handling, and real-time animation/playback</a:t>
            </a:r>
          </a:p>
          <a:p>
            <a:pPr lvl="0"/>
            <a:r>
              <a:rPr lang="en-IN" dirty="0"/>
              <a:t>Python Standard Library — </a:t>
            </a:r>
            <a:r>
              <a:rPr lang="en-IN" dirty="0" err="1"/>
              <a:t>heapq</a:t>
            </a:r>
            <a:r>
              <a:rPr lang="en-IN" dirty="0"/>
              <a:t> (priority queue for A*), collections (deque and </a:t>
            </a:r>
            <a:r>
              <a:rPr lang="en-IN" dirty="0" err="1"/>
              <a:t>namedtuple</a:t>
            </a:r>
            <a:r>
              <a:rPr lang="en-IN" dirty="0"/>
              <a:t> for BFS and state representation), time, </a:t>
            </a:r>
            <a:r>
              <a:rPr lang="en-IN" dirty="0" err="1"/>
              <a:t>os</a:t>
            </a:r>
            <a:r>
              <a:rPr lang="en-IN" dirty="0"/>
              <a:t>, math</a:t>
            </a:r>
          </a:p>
          <a:p>
            <a:pPr lvl="0"/>
            <a:endParaRPr lang="en-IN" dirty="0"/>
          </a:p>
          <a:p>
            <a:r>
              <a:rPr lang="en-IN" b="1" dirty="0"/>
              <a:t>Tools / IDE</a:t>
            </a:r>
            <a:endParaRPr lang="en-IN" dirty="0"/>
          </a:p>
          <a:p>
            <a:pPr lvl="0"/>
            <a:r>
              <a:rPr lang="en-IN" dirty="0"/>
              <a:t>VS Code / PyCharm — development, debugging, and code navigation</a:t>
            </a:r>
          </a:p>
          <a:p>
            <a:pPr lvl="0"/>
            <a:r>
              <a:rPr lang="en-IN" dirty="0"/>
              <a:t>Git — version control across the codebase</a:t>
            </a:r>
          </a:p>
          <a:p>
            <a:pPr lvl="0"/>
            <a:r>
              <a:rPr lang="en-IN" dirty="0"/>
              <a:t>pip + </a:t>
            </a:r>
            <a:r>
              <a:rPr lang="en-IN" dirty="0" err="1"/>
              <a:t>venv</a:t>
            </a:r>
            <a:r>
              <a:rPr lang="en-IN" dirty="0"/>
              <a:t> — dependency management and isolated environments</a:t>
            </a:r>
          </a:p>
          <a:p>
            <a:pPr lvl="0"/>
            <a:r>
              <a:rPr lang="en-IN" dirty="0"/>
              <a:t>Custom CLI benchmark script — validates and times performance across all levels</a:t>
            </a:r>
          </a:p>
          <a:p>
            <a:pPr lvl="0"/>
            <a:endParaRPr lang="en-IN" dirty="0"/>
          </a:p>
          <a:p>
            <a:r>
              <a:rPr lang="en-IN" b="1" dirty="0"/>
              <a:t>Hardware Requirements</a:t>
            </a:r>
            <a:endParaRPr lang="en-IN" dirty="0"/>
          </a:p>
          <a:p>
            <a:pPr lvl="0"/>
            <a:r>
              <a:rPr lang="en-IN" dirty="0"/>
              <a:t>Runs on any standard PC or laptop — Windows, Linux, or macOS</a:t>
            </a:r>
          </a:p>
          <a:p>
            <a:pPr lvl="0"/>
            <a:r>
              <a:rPr lang="en-IN" dirty="0"/>
              <a:t>CPU-only — no GPU required (classical search, not machine learning)</a:t>
            </a:r>
          </a:p>
          <a:p>
            <a:pPr lvl="0"/>
            <a:r>
              <a:rPr lang="en-IN" dirty="0"/>
              <a:t>Under 100 MB RAM typical — state space is bounded by grid size</a:t>
            </a:r>
          </a:p>
          <a:p>
            <a:pPr lvl="0"/>
            <a:r>
              <a:rPr lang="en-IN" dirty="0"/>
              <a:t>Display required only for GUI mode; benchmark mode runs headless</a:t>
            </a:r>
          </a:p>
          <a:p>
            <a:pPr>
              <a:spcAft>
                <a:spcPts val="1400"/>
              </a:spcAft>
              <a:defRPr sz="2100">
                <a:solidFill>
                  <a:srgbClr val="5F6973"/>
                </a:solidFill>
              </a:defRPr>
            </a:pPr>
            <a:endParaRPr dirty="0"/>
          </a:p>
        </p:txBody>
      </p:sp>
      <p:sp>
        <p:nvSpPr>
          <p:cNvPr id="6" name="TextBox 5"/>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  Project Review – 1  |  [Academic Year]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Module Description</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12</a:t>
            </a:r>
          </a:p>
        </p:txBody>
      </p:sp>
      <p:sp>
        <p:nvSpPr>
          <p:cNvPr id="5" name="Rounded Rectangle 4"/>
          <p:cNvSpPr/>
          <p:nvPr/>
        </p:nvSpPr>
        <p:spPr>
          <a:xfrm>
            <a:off x="502920" y="1097280"/>
            <a:ext cx="5257800" cy="1005840"/>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3465A4"/>
                </a:solidFill>
              </a:defRPr>
            </a:pPr>
            <a:r>
              <a:rPr dirty="0"/>
              <a:t>Module 1 – </a:t>
            </a:r>
            <a:r>
              <a:rPr lang="en-IN" dirty="0"/>
              <a:t>Engine</a:t>
            </a:r>
            <a:br>
              <a:rPr lang="en-IN" sz="2000" b="1" dirty="0">
                <a:solidFill>
                  <a:srgbClr val="3465A4"/>
                </a:solidFill>
              </a:rPr>
            </a:br>
            <a:r>
              <a:rPr lang="en-IN" sz="2000" dirty="0">
                <a:solidFill>
                  <a:srgbClr val="3465A4"/>
                </a:solidFill>
              </a:rPr>
              <a:t>Owns the game rules: level parsing</a:t>
            </a:r>
            <a:endParaRPr dirty="0"/>
          </a:p>
        </p:txBody>
      </p:sp>
      <p:sp>
        <p:nvSpPr>
          <p:cNvPr id="6" name="Rounded Rectangle 5"/>
          <p:cNvSpPr/>
          <p:nvPr/>
        </p:nvSpPr>
        <p:spPr>
          <a:xfrm>
            <a:off x="6309358" y="1097280"/>
            <a:ext cx="5440681" cy="1005840"/>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3465A4"/>
                </a:solidFill>
              </a:defRPr>
            </a:pPr>
            <a:r>
              <a:rPr dirty="0"/>
              <a:t>Module 2 –</a:t>
            </a:r>
            <a:r>
              <a:rPr lang="en-IN" dirty="0"/>
              <a:t> Solvers</a:t>
            </a:r>
          </a:p>
          <a:p>
            <a:pPr algn="ctr">
              <a:defRPr sz="2000" b="1">
                <a:solidFill>
                  <a:srgbClr val="3465A4"/>
                </a:solidFill>
              </a:defRPr>
            </a:pPr>
            <a:r>
              <a:rPr lang="en-IN" sz="2000" dirty="0">
                <a:solidFill>
                  <a:srgbClr val="3465A4"/>
                </a:solidFill>
              </a:rPr>
              <a:t>The AI core: BFS, A*, and A*+Deadlock search algorithm</a:t>
            </a:r>
            <a:endParaRPr lang="en-IN" dirty="0"/>
          </a:p>
        </p:txBody>
      </p:sp>
      <p:sp>
        <p:nvSpPr>
          <p:cNvPr id="7" name="Rounded Rectangle 6"/>
          <p:cNvSpPr/>
          <p:nvPr/>
        </p:nvSpPr>
        <p:spPr>
          <a:xfrm>
            <a:off x="502920" y="2606039"/>
            <a:ext cx="5257800" cy="1005840"/>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3465A4"/>
                </a:solidFill>
              </a:defRPr>
            </a:pPr>
            <a:r>
              <a:rPr dirty="0"/>
              <a:t>Module 3 – </a:t>
            </a:r>
            <a:r>
              <a:rPr lang="en-IN" dirty="0"/>
              <a:t>Interface</a:t>
            </a:r>
          </a:p>
          <a:p>
            <a:pPr algn="ctr">
              <a:defRPr sz="2000" b="1">
                <a:solidFill>
                  <a:srgbClr val="3465A4"/>
                </a:solidFill>
              </a:defRPr>
            </a:pPr>
            <a:r>
              <a:rPr lang="en-IN" sz="2000" dirty="0">
                <a:solidFill>
                  <a:srgbClr val="3465A4"/>
                </a:solidFill>
              </a:rPr>
              <a:t>The pygame GUI: renders the grid</a:t>
            </a:r>
            <a:endParaRPr dirty="0"/>
          </a:p>
        </p:txBody>
      </p:sp>
      <p:sp>
        <p:nvSpPr>
          <p:cNvPr id="8" name="Rounded Rectangle 7"/>
          <p:cNvSpPr/>
          <p:nvPr/>
        </p:nvSpPr>
        <p:spPr>
          <a:xfrm>
            <a:off x="6309359" y="2606039"/>
            <a:ext cx="5440680" cy="1005840"/>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3465A4"/>
                </a:solidFill>
              </a:defRPr>
            </a:pPr>
            <a:r>
              <a:rPr dirty="0"/>
              <a:t>Module 4 – </a:t>
            </a:r>
            <a:r>
              <a:rPr lang="en-IN" dirty="0"/>
              <a:t>Puzzle</a:t>
            </a:r>
          </a:p>
          <a:p>
            <a:pPr algn="ctr">
              <a:defRPr sz="2000" b="1">
                <a:solidFill>
                  <a:srgbClr val="3465A4"/>
                </a:solidFill>
              </a:defRPr>
            </a:pPr>
            <a:r>
              <a:rPr lang="en-IN" sz="2000" dirty="0">
                <a:solidFill>
                  <a:srgbClr val="3465A4"/>
                </a:solidFill>
              </a:rPr>
              <a:t>The level data: 8 puzzle files</a:t>
            </a:r>
            <a:endParaRPr dirty="0"/>
          </a:p>
        </p:txBody>
      </p:sp>
      <p:sp>
        <p:nvSpPr>
          <p:cNvPr id="9" name="Rounded Rectangle 8"/>
          <p:cNvSpPr/>
          <p:nvPr/>
        </p:nvSpPr>
        <p:spPr>
          <a:xfrm>
            <a:off x="502920" y="4114800"/>
            <a:ext cx="5168675" cy="1005840"/>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3465A4"/>
                </a:solidFill>
              </a:defRPr>
            </a:pPr>
            <a:r>
              <a:rPr dirty="0"/>
              <a:t>Module 5 – </a:t>
            </a:r>
            <a:r>
              <a:rPr lang="en-IN" dirty="0"/>
              <a:t>Analytics</a:t>
            </a:r>
          </a:p>
          <a:p>
            <a:pPr algn="ctr">
              <a:defRPr sz="2000" b="1">
                <a:solidFill>
                  <a:srgbClr val="3465A4"/>
                </a:solidFill>
              </a:defRPr>
            </a:pPr>
            <a:r>
              <a:rPr lang="en-IN" sz="2000" dirty="0">
                <a:solidFill>
                  <a:srgbClr val="3465A4"/>
                </a:solidFill>
              </a:rPr>
              <a:t>Benchmarking: runs every algorithm on every level </a:t>
            </a:r>
            <a:endParaRPr dirty="0"/>
          </a:p>
        </p:txBody>
      </p:sp>
      <p:sp>
        <p:nvSpPr>
          <p:cNvPr id="10" name="TextBox 9"/>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  Project Review – 1  |  [Academic Year]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Preliminary / Expected Results</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13</a:t>
            </a:r>
          </a:p>
        </p:txBody>
      </p:sp>
      <p:sp>
        <p:nvSpPr>
          <p:cNvPr id="7" name="TextBox 6"/>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  Project Review – 1  |  [Academic Year]</a:t>
            </a:r>
          </a:p>
        </p:txBody>
      </p:sp>
      <p:sp>
        <p:nvSpPr>
          <p:cNvPr id="5" name="Rounded Rectangle 4">
            <a:extLst>
              <a:ext uri="{FF2B5EF4-FFF2-40B4-BE49-F238E27FC236}">
                <a16:creationId xmlns:a16="http://schemas.microsoft.com/office/drawing/2014/main" id="{CEE85A4B-9081-6B7A-0854-85C86F8AD187}"/>
              </a:ext>
            </a:extLst>
          </p:cNvPr>
          <p:cNvSpPr/>
          <p:nvPr/>
        </p:nvSpPr>
        <p:spPr>
          <a:xfrm>
            <a:off x="533400" y="1325880"/>
            <a:ext cx="5303520" cy="4848778"/>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2000" b="1">
                <a:solidFill>
                  <a:srgbClr val="3465A4"/>
                </a:solidFill>
              </a:defRPr>
            </a:pPr>
            <a:endParaRPr dirty="0"/>
          </a:p>
        </p:txBody>
      </p:sp>
      <p:sp>
        <p:nvSpPr>
          <p:cNvPr id="6" name="Rounded Rectangle 5">
            <a:extLst>
              <a:ext uri="{FF2B5EF4-FFF2-40B4-BE49-F238E27FC236}">
                <a16:creationId xmlns:a16="http://schemas.microsoft.com/office/drawing/2014/main" id="{2FB6493C-D19C-D660-5B9E-79C676327893}"/>
              </a:ext>
            </a:extLst>
          </p:cNvPr>
          <p:cNvSpPr/>
          <p:nvPr/>
        </p:nvSpPr>
        <p:spPr>
          <a:xfrm>
            <a:off x="6355080" y="1325880"/>
            <a:ext cx="5303520" cy="4848778"/>
          </a:xfrm>
          <a:prstGeom prst="roundRect">
            <a:avLst/>
          </a:prstGeom>
          <a:solidFill>
            <a:srgbClr val="F2F6FA"/>
          </a:solidFill>
          <a:ln>
            <a:solidFill>
              <a:srgbClr val="3465A4"/>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dirty="0"/>
          </a:p>
        </p:txBody>
      </p:sp>
      <p:pic>
        <p:nvPicPr>
          <p:cNvPr id="9" name="Picture 8">
            <a:extLst>
              <a:ext uri="{FF2B5EF4-FFF2-40B4-BE49-F238E27FC236}">
                <a16:creationId xmlns:a16="http://schemas.microsoft.com/office/drawing/2014/main" id="{67949523-F793-E366-DE08-FFE21BBA1728}"/>
              </a:ext>
            </a:extLst>
          </p:cNvPr>
          <p:cNvPicPr>
            <a:picLocks noChangeAspect="1"/>
          </p:cNvPicPr>
          <p:nvPr/>
        </p:nvPicPr>
        <p:blipFill>
          <a:blip r:embed="rId2"/>
          <a:stretch>
            <a:fillRect/>
          </a:stretch>
        </p:blipFill>
        <p:spPr>
          <a:xfrm>
            <a:off x="763549" y="1620441"/>
            <a:ext cx="4843221" cy="3934378"/>
          </a:xfrm>
          <a:prstGeom prst="rect">
            <a:avLst/>
          </a:prstGeom>
        </p:spPr>
      </p:pic>
      <p:pic>
        <p:nvPicPr>
          <p:cNvPr id="10" name="Picture 9">
            <a:extLst>
              <a:ext uri="{FF2B5EF4-FFF2-40B4-BE49-F238E27FC236}">
                <a16:creationId xmlns:a16="http://schemas.microsoft.com/office/drawing/2014/main" id="{3E9E8922-B32F-8612-331A-46740EE63D9E}"/>
              </a:ext>
            </a:extLst>
          </p:cNvPr>
          <p:cNvPicPr>
            <a:picLocks noChangeAspect="1"/>
          </p:cNvPicPr>
          <p:nvPr/>
        </p:nvPicPr>
        <p:blipFill>
          <a:blip r:embed="rId3"/>
          <a:stretch>
            <a:fillRect/>
          </a:stretch>
        </p:blipFill>
        <p:spPr>
          <a:xfrm>
            <a:off x="6577781" y="1620441"/>
            <a:ext cx="4941544" cy="422975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Project Schedule</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14</a:t>
            </a:r>
          </a:p>
        </p:txBody>
      </p:sp>
      <p:graphicFrame>
        <p:nvGraphicFramePr>
          <p:cNvPr id="5" name="Table 4"/>
          <p:cNvGraphicFramePr>
            <a:graphicFrameLocks noGrp="1"/>
          </p:cNvGraphicFramePr>
          <p:nvPr>
            <p:extLst>
              <p:ext uri="{D42A27DB-BD31-4B8C-83A1-F6EECF244321}">
                <p14:modId xmlns:p14="http://schemas.microsoft.com/office/powerpoint/2010/main" val="3413372359"/>
              </p:ext>
            </p:extLst>
          </p:nvPr>
        </p:nvGraphicFramePr>
        <p:xfrm>
          <a:off x="594360" y="1143000"/>
          <a:ext cx="10972800" cy="4569299"/>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746760">
                <a:tc>
                  <a:txBody>
                    <a:bodyPr/>
                    <a:lstStyle/>
                    <a:p>
                      <a:pPr>
                        <a:defRPr sz="1300" b="1">
                          <a:solidFill>
                            <a:srgbClr val="FFFFFF"/>
                          </a:solidFill>
                        </a:defRPr>
                      </a:pPr>
                      <a:r>
                        <a:t>Activity</a:t>
                      </a:r>
                    </a:p>
                  </a:txBody>
                  <a:tcPr>
                    <a:solidFill>
                      <a:srgbClr val="1F3756"/>
                    </a:solidFill>
                  </a:tcPr>
                </a:tc>
                <a:tc>
                  <a:txBody>
                    <a:bodyPr/>
                    <a:lstStyle/>
                    <a:p>
                      <a:pPr>
                        <a:defRPr sz="1300" b="1">
                          <a:solidFill>
                            <a:srgbClr val="FFFFFF"/>
                          </a:solidFill>
                        </a:defRPr>
                      </a:pPr>
                      <a:r>
                        <a:t>Month 1</a:t>
                      </a:r>
                    </a:p>
                  </a:txBody>
                  <a:tcPr>
                    <a:solidFill>
                      <a:srgbClr val="1F3756"/>
                    </a:solidFill>
                  </a:tcPr>
                </a:tc>
                <a:tc>
                  <a:txBody>
                    <a:bodyPr/>
                    <a:lstStyle/>
                    <a:p>
                      <a:pPr>
                        <a:defRPr sz="1300" b="1">
                          <a:solidFill>
                            <a:srgbClr val="FFFFFF"/>
                          </a:solidFill>
                        </a:defRPr>
                      </a:pPr>
                      <a:r>
                        <a:t>Month 2</a:t>
                      </a:r>
                    </a:p>
                  </a:txBody>
                  <a:tcPr>
                    <a:solidFill>
                      <a:srgbClr val="1F3756"/>
                    </a:solidFill>
                  </a:tcPr>
                </a:tc>
                <a:tc>
                  <a:txBody>
                    <a:bodyPr/>
                    <a:lstStyle/>
                    <a:p>
                      <a:pPr>
                        <a:defRPr sz="1300" b="1">
                          <a:solidFill>
                            <a:srgbClr val="FFFFFF"/>
                          </a:solidFill>
                        </a:defRPr>
                      </a:pPr>
                      <a:r>
                        <a:t>Month 3</a:t>
                      </a:r>
                    </a:p>
                  </a:txBody>
                  <a:tcPr>
                    <a:solidFill>
                      <a:srgbClr val="1F3756"/>
                    </a:solidFill>
                  </a:tcPr>
                </a:tc>
                <a:tc>
                  <a:txBody>
                    <a:bodyPr/>
                    <a:lstStyle/>
                    <a:p>
                      <a:pPr>
                        <a:defRPr sz="1300" b="1">
                          <a:solidFill>
                            <a:srgbClr val="FFFFFF"/>
                          </a:solidFill>
                        </a:defRPr>
                      </a:pPr>
                      <a:r>
                        <a:t>Month 4</a:t>
                      </a:r>
                    </a:p>
                  </a:txBody>
                  <a:tcPr>
                    <a:solidFill>
                      <a:srgbClr val="1F3756"/>
                    </a:solidFill>
                  </a:tcPr>
                </a:tc>
                <a:extLst>
                  <a:ext uri="{0D108BD9-81ED-4DB2-BD59-A6C34878D82A}">
                    <a16:rowId xmlns:a16="http://schemas.microsoft.com/office/drawing/2014/main" val="10000"/>
                  </a:ext>
                </a:extLst>
              </a:tr>
              <a:tr h="746760">
                <a:tc>
                  <a:txBody>
                    <a:bodyPr/>
                    <a:lstStyle/>
                    <a:p>
                      <a:pPr>
                        <a:defRPr sz="1300">
                          <a:solidFill>
                            <a:srgbClr val="5F6973"/>
                          </a:solidFill>
                        </a:defRPr>
                      </a:pPr>
                      <a:r>
                        <a:t>Literature Survey</a:t>
                      </a:r>
                    </a:p>
                  </a:txBody>
                  <a:tcPr>
                    <a:solidFill>
                      <a:srgbClr val="F2F6FA"/>
                    </a:solidFill>
                  </a:tcPr>
                </a:tc>
                <a:tc>
                  <a:txBody>
                    <a:bodyPr/>
                    <a:lstStyle/>
                    <a:p>
                      <a:pPr>
                        <a:defRPr sz="1300">
                          <a:solidFill>
                            <a:srgbClr val="5F6973"/>
                          </a:solidFill>
                        </a:defRPr>
                      </a:pPr>
                      <a:r>
                        <a:rPr lang="en-IN" dirty="0"/>
                        <a:t>              </a:t>
                      </a:r>
                      <a:r>
                        <a:rPr lang="en-IN" b="1" dirty="0"/>
                        <a:t>   ✓ </a:t>
                      </a:r>
                      <a:endParaRPr b="1" dirty="0"/>
                    </a:p>
                  </a:txBody>
                  <a:tcPr>
                    <a:solidFill>
                      <a:srgbClr val="F2F6FA"/>
                    </a:solidFill>
                  </a:tcPr>
                </a:tc>
                <a:tc>
                  <a:txBody>
                    <a:bodyPr/>
                    <a:lstStyle/>
                    <a:p>
                      <a:pPr>
                        <a:defRPr sz="1300">
                          <a:solidFill>
                            <a:srgbClr val="5F6973"/>
                          </a:solidFill>
                        </a:defRPr>
                      </a:pPr>
                      <a:endParaRPr dirty="0"/>
                    </a:p>
                  </a:txBody>
                  <a:tcPr>
                    <a:solidFill>
                      <a:srgbClr val="F2F6FA"/>
                    </a:solidFill>
                  </a:tcPr>
                </a:tc>
                <a:tc>
                  <a:txBody>
                    <a:bodyPr/>
                    <a:lstStyle/>
                    <a:p>
                      <a:pPr>
                        <a:defRPr sz="1300">
                          <a:solidFill>
                            <a:srgbClr val="5F6973"/>
                          </a:solidFill>
                        </a:defRPr>
                      </a:pPr>
                      <a:endParaRPr dirty="0"/>
                    </a:p>
                  </a:txBody>
                  <a:tcPr>
                    <a:solidFill>
                      <a:srgbClr val="F2F6FA"/>
                    </a:solidFill>
                  </a:tcPr>
                </a:tc>
                <a:tc>
                  <a:txBody>
                    <a:bodyPr/>
                    <a:lstStyle/>
                    <a:p>
                      <a:pPr>
                        <a:defRPr sz="1300">
                          <a:solidFill>
                            <a:srgbClr val="5F6973"/>
                          </a:solidFill>
                        </a:defRPr>
                      </a:pPr>
                      <a:endParaRPr dirty="0"/>
                    </a:p>
                  </a:txBody>
                  <a:tcPr>
                    <a:solidFill>
                      <a:srgbClr val="F2F6FA"/>
                    </a:solidFill>
                  </a:tcPr>
                </a:tc>
                <a:extLst>
                  <a:ext uri="{0D108BD9-81ED-4DB2-BD59-A6C34878D82A}">
                    <a16:rowId xmlns:a16="http://schemas.microsoft.com/office/drawing/2014/main" val="10001"/>
                  </a:ext>
                </a:extLst>
              </a:tr>
              <a:tr h="746760">
                <a:tc>
                  <a:txBody>
                    <a:bodyPr/>
                    <a:lstStyle/>
                    <a:p>
                      <a:pPr>
                        <a:defRPr sz="1300">
                          <a:solidFill>
                            <a:srgbClr val="5F6973"/>
                          </a:solidFill>
                        </a:defRPr>
                      </a:pPr>
                      <a:r>
                        <a:t>Problem Identification</a:t>
                      </a:r>
                    </a:p>
                  </a:txBody>
                  <a:tcPr>
                    <a:solidFill>
                      <a:srgbClr val="FFFFFF"/>
                    </a:solidFill>
                  </a:tcPr>
                </a:tc>
                <a:tc>
                  <a:txBody>
                    <a:bodyPr/>
                    <a:lstStyle/>
                    <a:p>
                      <a:pPr>
                        <a:defRPr sz="1300">
                          <a:solidFill>
                            <a:srgbClr val="5F6973"/>
                          </a:solidFill>
                        </a:defRPr>
                      </a:pPr>
                      <a:r>
                        <a:rPr lang="en-IN" b="1" dirty="0"/>
                        <a:t>                </a:t>
                      </a:r>
                      <a:r>
                        <a:rPr b="1" dirty="0"/>
                        <a:t>✓</a:t>
                      </a:r>
                      <a:endParaRPr lang="en-IN" b="1" dirty="0"/>
                    </a:p>
                  </a:txBody>
                  <a:tcPr>
                    <a:solidFill>
                      <a:srgbClr val="FFFFFF"/>
                    </a:solidFill>
                  </a:tcPr>
                </a:tc>
                <a:tc>
                  <a:txBody>
                    <a:bodyPr/>
                    <a:lstStyle/>
                    <a:p>
                      <a:pPr>
                        <a:defRPr sz="1300">
                          <a:solidFill>
                            <a:srgbClr val="5F6973"/>
                          </a:solidFill>
                        </a:defRPr>
                      </a:pPr>
                      <a:endParaRPr dirty="0"/>
                    </a:p>
                  </a:txBody>
                  <a:tcPr>
                    <a:solidFill>
                      <a:srgbClr val="FFFFFF"/>
                    </a:solidFill>
                  </a:tcPr>
                </a:tc>
                <a:tc>
                  <a:txBody>
                    <a:bodyPr/>
                    <a:lstStyle/>
                    <a:p>
                      <a:pPr>
                        <a:defRPr sz="1300">
                          <a:solidFill>
                            <a:srgbClr val="5F6973"/>
                          </a:solidFill>
                        </a:defRPr>
                      </a:pPr>
                      <a:endParaRPr dirty="0"/>
                    </a:p>
                  </a:txBody>
                  <a:tcPr>
                    <a:solidFill>
                      <a:srgbClr val="FFFFFF"/>
                    </a:solidFill>
                  </a:tcPr>
                </a:tc>
                <a:tc>
                  <a:txBody>
                    <a:bodyPr/>
                    <a:lstStyle/>
                    <a:p>
                      <a:pPr>
                        <a:defRPr sz="1300">
                          <a:solidFill>
                            <a:srgbClr val="5F6973"/>
                          </a:solidFill>
                        </a:defRPr>
                      </a:pPr>
                      <a:endParaRPr dirty="0"/>
                    </a:p>
                  </a:txBody>
                  <a:tcPr>
                    <a:solidFill>
                      <a:srgbClr val="FFFFFF"/>
                    </a:solidFill>
                  </a:tcPr>
                </a:tc>
                <a:extLst>
                  <a:ext uri="{0D108BD9-81ED-4DB2-BD59-A6C34878D82A}">
                    <a16:rowId xmlns:a16="http://schemas.microsoft.com/office/drawing/2014/main" val="10002"/>
                  </a:ext>
                </a:extLst>
              </a:tr>
              <a:tr h="746760">
                <a:tc>
                  <a:txBody>
                    <a:bodyPr/>
                    <a:lstStyle/>
                    <a:p>
                      <a:pPr>
                        <a:defRPr sz="1300">
                          <a:solidFill>
                            <a:srgbClr val="5F6973"/>
                          </a:solidFill>
                        </a:defRPr>
                      </a:pPr>
                      <a:r>
                        <a:t>System Design</a:t>
                      </a:r>
                    </a:p>
                  </a:txBody>
                  <a:tcPr>
                    <a:solidFill>
                      <a:srgbClr val="F2F6FA"/>
                    </a:solidFill>
                  </a:tcPr>
                </a:tc>
                <a:tc>
                  <a:txBody>
                    <a:bodyPr/>
                    <a:lstStyle/>
                    <a:p>
                      <a:pPr>
                        <a:defRPr sz="1300">
                          <a:solidFill>
                            <a:srgbClr val="5F6973"/>
                          </a:solidFill>
                        </a:defRPr>
                      </a:pPr>
                      <a:r>
                        <a:rPr lang="en-IN" dirty="0"/>
                        <a:t>    </a:t>
                      </a:r>
                      <a:r>
                        <a:rPr lang="en-IN" b="1" dirty="0"/>
                        <a:t>            </a:t>
                      </a:r>
                      <a:r>
                        <a:rPr b="1" dirty="0"/>
                        <a:t>✓ </a:t>
                      </a:r>
                    </a:p>
                  </a:txBody>
                  <a:tcPr>
                    <a:solidFill>
                      <a:srgbClr val="F2F6FA"/>
                    </a:solidFill>
                  </a:tcPr>
                </a:tc>
                <a:tc>
                  <a:txBody>
                    <a:bodyPr/>
                    <a:lstStyle/>
                    <a:p>
                      <a:pPr>
                        <a:defRPr sz="1300">
                          <a:solidFill>
                            <a:srgbClr val="5F6973"/>
                          </a:solidFill>
                        </a:defRPr>
                      </a:pPr>
                      <a:r>
                        <a:rPr lang="en-IN" b="1" dirty="0"/>
                        <a:t>               </a:t>
                      </a:r>
                      <a:r>
                        <a:rPr b="1" dirty="0"/>
                        <a:t>✓ </a:t>
                      </a:r>
                    </a:p>
                  </a:txBody>
                  <a:tcPr>
                    <a:solidFill>
                      <a:srgbClr val="F2F6FA"/>
                    </a:solidFill>
                  </a:tcPr>
                </a:tc>
                <a:tc>
                  <a:txBody>
                    <a:bodyPr/>
                    <a:lstStyle/>
                    <a:p>
                      <a:pPr>
                        <a:defRPr sz="1300">
                          <a:solidFill>
                            <a:srgbClr val="5F6973"/>
                          </a:solidFill>
                        </a:defRPr>
                      </a:pPr>
                      <a:endParaRPr dirty="0"/>
                    </a:p>
                  </a:txBody>
                  <a:tcPr>
                    <a:solidFill>
                      <a:srgbClr val="F2F6FA"/>
                    </a:solidFill>
                  </a:tcPr>
                </a:tc>
                <a:tc>
                  <a:txBody>
                    <a:bodyPr/>
                    <a:lstStyle/>
                    <a:p>
                      <a:pPr>
                        <a:defRPr sz="1300">
                          <a:solidFill>
                            <a:srgbClr val="5F6973"/>
                          </a:solidFill>
                        </a:defRPr>
                      </a:pPr>
                      <a:endParaRPr dirty="0"/>
                    </a:p>
                  </a:txBody>
                  <a:tcPr>
                    <a:solidFill>
                      <a:srgbClr val="F2F6FA"/>
                    </a:solidFill>
                  </a:tcPr>
                </a:tc>
                <a:extLst>
                  <a:ext uri="{0D108BD9-81ED-4DB2-BD59-A6C34878D82A}">
                    <a16:rowId xmlns:a16="http://schemas.microsoft.com/office/drawing/2014/main" val="10003"/>
                  </a:ext>
                </a:extLst>
              </a:tr>
              <a:tr h="835499">
                <a:tc>
                  <a:txBody>
                    <a:bodyPr/>
                    <a:lstStyle/>
                    <a:p>
                      <a:pPr>
                        <a:defRPr sz="1300">
                          <a:solidFill>
                            <a:srgbClr val="5F6973"/>
                          </a:solidFill>
                        </a:defRPr>
                      </a:pPr>
                      <a:r>
                        <a:t>Implementation</a:t>
                      </a:r>
                    </a:p>
                  </a:txBody>
                  <a:tcPr>
                    <a:solidFill>
                      <a:srgbClr val="FFFFFF"/>
                    </a:solidFill>
                  </a:tcPr>
                </a:tc>
                <a:tc>
                  <a:txBody>
                    <a:bodyPr/>
                    <a:lstStyle/>
                    <a:p>
                      <a:pPr>
                        <a:defRPr sz="1300">
                          <a:solidFill>
                            <a:srgbClr val="5F6973"/>
                          </a:solidFill>
                        </a:defRPr>
                      </a:pPr>
                      <a:endParaRPr dirty="0"/>
                    </a:p>
                  </a:txBody>
                  <a:tcPr>
                    <a:solidFill>
                      <a:srgbClr val="FFFFFF"/>
                    </a:solidFill>
                  </a:tcPr>
                </a:tc>
                <a:tc>
                  <a:txBody>
                    <a:bodyPr/>
                    <a:lstStyle/>
                    <a:p>
                      <a:pPr>
                        <a:defRPr sz="1300">
                          <a:solidFill>
                            <a:srgbClr val="5F6973"/>
                          </a:solidFill>
                        </a:defRPr>
                      </a:pPr>
                      <a:r>
                        <a:rPr lang="en-IN" dirty="0"/>
                        <a:t>               </a:t>
                      </a:r>
                      <a:r>
                        <a:rPr b="1" dirty="0"/>
                        <a:t>✓ </a:t>
                      </a:r>
                    </a:p>
                  </a:txBody>
                  <a:tcPr>
                    <a:solidFill>
                      <a:srgbClr val="FFFFFF"/>
                    </a:solidFill>
                  </a:tcPr>
                </a:tc>
                <a:tc>
                  <a:txBody>
                    <a:bodyPr/>
                    <a:lstStyle/>
                    <a:p>
                      <a:pPr>
                        <a:defRPr sz="1300">
                          <a:solidFill>
                            <a:srgbClr val="5F6973"/>
                          </a:solidFill>
                        </a:defRPr>
                      </a:pPr>
                      <a:r>
                        <a:rPr lang="en-IN" b="1" dirty="0"/>
                        <a:t>               </a:t>
                      </a:r>
                      <a:r>
                        <a:rPr b="1" dirty="0"/>
                        <a:t>✓ </a:t>
                      </a:r>
                    </a:p>
                  </a:txBody>
                  <a:tcPr>
                    <a:solidFill>
                      <a:srgbClr val="FFFFFF"/>
                    </a:solidFill>
                  </a:tcPr>
                </a:tc>
                <a:tc>
                  <a:txBody>
                    <a:bodyPr/>
                    <a:lstStyle/>
                    <a:p>
                      <a:pPr>
                        <a:defRPr sz="1300">
                          <a:solidFill>
                            <a:srgbClr val="5F6973"/>
                          </a:solidFill>
                        </a:defRPr>
                      </a:pPr>
                      <a:endParaRPr dirty="0"/>
                    </a:p>
                  </a:txBody>
                  <a:tcPr>
                    <a:solidFill>
                      <a:srgbClr val="FFFFFF"/>
                    </a:solidFill>
                  </a:tcPr>
                </a:tc>
                <a:extLst>
                  <a:ext uri="{0D108BD9-81ED-4DB2-BD59-A6C34878D82A}">
                    <a16:rowId xmlns:a16="http://schemas.microsoft.com/office/drawing/2014/main" val="10004"/>
                  </a:ext>
                </a:extLst>
              </a:tr>
              <a:tr h="746760">
                <a:tc>
                  <a:txBody>
                    <a:bodyPr/>
                    <a:lstStyle/>
                    <a:p>
                      <a:pPr>
                        <a:defRPr sz="1300">
                          <a:solidFill>
                            <a:srgbClr val="5F6973"/>
                          </a:solidFill>
                        </a:defRPr>
                      </a:pPr>
                      <a:r>
                        <a:t>Testing &amp; Evaluation</a:t>
                      </a:r>
                    </a:p>
                  </a:txBody>
                  <a:tcPr>
                    <a:solidFill>
                      <a:srgbClr val="F2F6FA"/>
                    </a:solidFill>
                  </a:tcPr>
                </a:tc>
                <a:tc>
                  <a:txBody>
                    <a:bodyPr/>
                    <a:lstStyle/>
                    <a:p>
                      <a:pPr>
                        <a:defRPr sz="1300">
                          <a:solidFill>
                            <a:srgbClr val="5F6973"/>
                          </a:solidFill>
                        </a:defRPr>
                      </a:pPr>
                      <a:endParaRPr dirty="0"/>
                    </a:p>
                  </a:txBody>
                  <a:tcPr>
                    <a:solidFill>
                      <a:srgbClr val="F2F6FA"/>
                    </a:solidFill>
                  </a:tcPr>
                </a:tc>
                <a:tc>
                  <a:txBody>
                    <a:bodyPr/>
                    <a:lstStyle/>
                    <a:p>
                      <a:pPr>
                        <a:defRPr sz="1300">
                          <a:solidFill>
                            <a:srgbClr val="5F6973"/>
                          </a:solidFill>
                        </a:defRPr>
                      </a:pPr>
                      <a:endParaRPr dirty="0"/>
                    </a:p>
                  </a:txBody>
                  <a:tcPr>
                    <a:solidFill>
                      <a:srgbClr val="F2F6FA"/>
                    </a:solidFill>
                  </a:tcPr>
                </a:tc>
                <a:tc>
                  <a:txBody>
                    <a:bodyPr/>
                    <a:lstStyle/>
                    <a:p>
                      <a:pPr>
                        <a:defRPr sz="1300">
                          <a:solidFill>
                            <a:srgbClr val="5F6973"/>
                          </a:solidFill>
                        </a:defRPr>
                      </a:pPr>
                      <a:r>
                        <a:rPr lang="en-IN" dirty="0"/>
                        <a:t>              </a:t>
                      </a:r>
                      <a:r>
                        <a:rPr b="1" dirty="0"/>
                        <a:t>✓ </a:t>
                      </a:r>
                    </a:p>
                  </a:txBody>
                  <a:tcPr>
                    <a:solidFill>
                      <a:srgbClr val="F2F6FA"/>
                    </a:solidFill>
                  </a:tcPr>
                </a:tc>
                <a:tc>
                  <a:txBody>
                    <a:bodyPr/>
                    <a:lstStyle/>
                    <a:p>
                      <a:pPr>
                        <a:defRPr sz="1300">
                          <a:solidFill>
                            <a:srgbClr val="5F6973"/>
                          </a:solidFill>
                        </a:defRPr>
                      </a:pPr>
                      <a:r>
                        <a:rPr lang="en-IN" b="1" dirty="0"/>
                        <a:t>                </a:t>
                      </a:r>
                      <a:r>
                        <a:rPr b="1" dirty="0"/>
                        <a:t>✓ </a:t>
                      </a:r>
                    </a:p>
                  </a:txBody>
                  <a:tcPr>
                    <a:solidFill>
                      <a:srgbClr val="F2F6FA"/>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  Project Review – 1  |  [Academic Year]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Current Progress</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15</a:t>
            </a:r>
          </a:p>
        </p:txBody>
      </p:sp>
      <p:sp>
        <p:nvSpPr>
          <p:cNvPr id="5" name="TextBox 4"/>
          <p:cNvSpPr txBox="1"/>
          <p:nvPr/>
        </p:nvSpPr>
        <p:spPr>
          <a:xfrm>
            <a:off x="822960" y="1143000"/>
            <a:ext cx="10515600" cy="3539430"/>
          </a:xfrm>
          <a:prstGeom prst="rect">
            <a:avLst/>
          </a:prstGeom>
          <a:noFill/>
        </p:spPr>
        <p:txBody>
          <a:bodyPr wrap="square">
            <a:spAutoFit/>
          </a:bodyPr>
          <a:lstStyle/>
          <a:p>
            <a:pPr>
              <a:spcAft>
                <a:spcPts val="1400"/>
              </a:spcAft>
              <a:defRPr sz="2200">
                <a:solidFill>
                  <a:srgbClr val="5F6973"/>
                </a:solidFill>
              </a:defRPr>
            </a:pPr>
            <a:r>
              <a:rPr lang="en-IN" b="1" dirty="0"/>
              <a:t>✓</a:t>
            </a:r>
            <a:r>
              <a:rPr dirty="0"/>
              <a:t> </a:t>
            </a:r>
            <a:r>
              <a:rPr lang="en-US" dirty="0"/>
              <a:t>Literature survey completed</a:t>
            </a:r>
          </a:p>
          <a:p>
            <a:pPr>
              <a:spcAft>
                <a:spcPts val="1400"/>
              </a:spcAft>
              <a:defRPr sz="2200">
                <a:solidFill>
                  <a:srgbClr val="5F6973"/>
                </a:solidFill>
              </a:defRPr>
            </a:pPr>
            <a:r>
              <a:rPr lang="en-US" b="1" dirty="0"/>
              <a:t>✓</a:t>
            </a:r>
            <a:r>
              <a:rPr lang="en-US" dirty="0"/>
              <a:t> Problem identification completed</a:t>
            </a:r>
          </a:p>
          <a:p>
            <a:pPr>
              <a:spcAft>
                <a:spcPts val="1400"/>
              </a:spcAft>
              <a:defRPr sz="2200">
                <a:solidFill>
                  <a:srgbClr val="5F6973"/>
                </a:solidFill>
              </a:defRPr>
            </a:pPr>
            <a:r>
              <a:rPr lang="en-US" b="1" dirty="0"/>
              <a:t>✓ </a:t>
            </a:r>
            <a:r>
              <a:rPr lang="en-US" dirty="0"/>
              <a:t>Requirement analysis / methodology finalized</a:t>
            </a:r>
          </a:p>
          <a:p>
            <a:pPr>
              <a:spcAft>
                <a:spcPts val="1400"/>
              </a:spcAft>
              <a:defRPr sz="2200">
                <a:solidFill>
                  <a:srgbClr val="5F6973"/>
                </a:solidFill>
              </a:defRPr>
            </a:pPr>
            <a:r>
              <a:rPr lang="en-US" b="1" dirty="0"/>
              <a:t>✓</a:t>
            </a:r>
            <a:r>
              <a:rPr lang="en-US" dirty="0"/>
              <a:t> Proposed architecture and core modules defined</a:t>
            </a:r>
            <a:endParaRPr lang="en-IN" dirty="0"/>
          </a:p>
          <a:p>
            <a:pPr>
              <a:spcAft>
                <a:spcPts val="1400"/>
              </a:spcAft>
              <a:defRPr sz="2200">
                <a:solidFill>
                  <a:srgbClr val="5F6973"/>
                </a:solidFill>
              </a:defRPr>
            </a:pPr>
            <a:r>
              <a:rPr dirty="0"/>
              <a:t>☐ Implementation completed</a:t>
            </a:r>
          </a:p>
          <a:p>
            <a:pPr>
              <a:spcAft>
                <a:spcPts val="1400"/>
              </a:spcAft>
              <a:defRPr sz="2200">
                <a:solidFill>
                  <a:srgbClr val="5F6973"/>
                </a:solidFill>
              </a:defRPr>
            </a:pPr>
            <a:r>
              <a:rPr dirty="0"/>
              <a:t>☐ Testing completed</a:t>
            </a:r>
          </a:p>
          <a:p>
            <a:pPr>
              <a:spcAft>
                <a:spcPts val="1400"/>
              </a:spcAft>
              <a:defRPr sz="2200">
                <a:solidFill>
                  <a:srgbClr val="5F6973"/>
                </a:solidFill>
              </a:defRPr>
            </a:pPr>
            <a:r>
              <a:rPr dirty="0"/>
              <a:t>☐ Final evaluation completed</a:t>
            </a:r>
          </a:p>
        </p:txBody>
      </p:sp>
      <p:sp>
        <p:nvSpPr>
          <p:cNvPr id="6" name="TextBox 5"/>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  Project Review – 1  |  [Academic Year]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Future Work</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16</a:t>
            </a:r>
          </a:p>
        </p:txBody>
      </p:sp>
      <p:sp>
        <p:nvSpPr>
          <p:cNvPr id="5" name="TextBox 4"/>
          <p:cNvSpPr txBox="1"/>
          <p:nvPr/>
        </p:nvSpPr>
        <p:spPr>
          <a:xfrm>
            <a:off x="502920" y="997565"/>
            <a:ext cx="11856228" cy="4862870"/>
          </a:xfrm>
          <a:prstGeom prst="rect">
            <a:avLst/>
          </a:prstGeom>
          <a:noFill/>
        </p:spPr>
        <p:txBody>
          <a:bodyPr wrap="square">
            <a:spAutoFit/>
          </a:bodyPr>
          <a:lstStyle/>
          <a:p>
            <a:r>
              <a:rPr lang="en-IN" sz="1600" b="1" dirty="0"/>
              <a:t>Complete Implementation</a:t>
            </a:r>
            <a:endParaRPr lang="en-IN" sz="1600" dirty="0"/>
          </a:p>
          <a:p>
            <a:pPr marL="285750" lvl="0" indent="-285750">
              <a:buFont typeface="Arial" panose="020B0604020202020204" pitchFamily="34" charset="0"/>
              <a:buChar char="•"/>
            </a:pPr>
            <a:r>
              <a:rPr lang="en-IN" sz="1600" dirty="0"/>
              <a:t>Finalize search logic in the engine and solvers modules</a:t>
            </a:r>
          </a:p>
          <a:p>
            <a:pPr marL="285750" lvl="0" indent="-285750">
              <a:buFont typeface="Arial" panose="020B0604020202020204" pitchFamily="34" charset="0"/>
              <a:buChar char="•"/>
            </a:pPr>
            <a:r>
              <a:rPr lang="en-IN" sz="1600" dirty="0"/>
              <a:t>Complete the Pygame interface — manual play, Solve, Hint, and Compare modes</a:t>
            </a:r>
          </a:p>
          <a:p>
            <a:pPr marL="285750" lvl="0" indent="-285750">
              <a:buFont typeface="Arial" panose="020B0604020202020204" pitchFamily="34" charset="0"/>
              <a:buChar char="•"/>
            </a:pPr>
            <a:r>
              <a:rPr lang="en-IN" sz="1600" dirty="0"/>
              <a:t>Validate all 8 levels for correctness and solvability</a:t>
            </a:r>
          </a:p>
          <a:p>
            <a:pPr lvl="0"/>
            <a:endParaRPr lang="en-IN" sz="1600" dirty="0"/>
          </a:p>
          <a:p>
            <a:r>
              <a:rPr lang="en-IN" sz="1600" b="1" dirty="0"/>
              <a:t>Compare with Existing Methods</a:t>
            </a:r>
            <a:endParaRPr lang="en-IN" sz="1600" dirty="0"/>
          </a:p>
          <a:p>
            <a:pPr marL="285750" lvl="0" indent="-285750">
              <a:buFont typeface="Arial" panose="020B0604020202020204" pitchFamily="34" charset="0"/>
              <a:buChar char="•"/>
            </a:pPr>
            <a:r>
              <a:rPr lang="en-IN" sz="1600" dirty="0"/>
              <a:t>Benchmark A*+Deadlock against BFS (baseline) and plain A*</a:t>
            </a:r>
          </a:p>
          <a:p>
            <a:pPr marL="285750" lvl="0" indent="-285750">
              <a:buFont typeface="Arial" panose="020B0604020202020204" pitchFamily="34" charset="0"/>
              <a:buChar char="•"/>
            </a:pPr>
            <a:r>
              <a:rPr lang="en-IN" sz="1600" dirty="0"/>
              <a:t>Quantify the gain from the heuristic and from deadlock pruning separately</a:t>
            </a:r>
          </a:p>
          <a:p>
            <a:pPr marL="285750" lvl="0" indent="-285750">
              <a:buFont typeface="Arial" panose="020B0604020202020204" pitchFamily="34" charset="0"/>
              <a:buChar char="•"/>
            </a:pPr>
            <a:r>
              <a:rPr lang="en-IN" sz="1600" dirty="0"/>
              <a:t>Reference standard Sokoban approaches (e.g. pattern databases, macro-moves) where relevant</a:t>
            </a:r>
          </a:p>
          <a:p>
            <a:pPr lvl="0"/>
            <a:endParaRPr lang="en-IN" sz="1600" dirty="0"/>
          </a:p>
          <a:p>
            <a:r>
              <a:rPr lang="en-IN" sz="1600" b="1" dirty="0"/>
              <a:t>Perform Performance Evaluation</a:t>
            </a:r>
            <a:endParaRPr lang="en-IN" sz="1600" dirty="0"/>
          </a:p>
          <a:p>
            <a:pPr marL="285750" lvl="0" indent="-285750">
              <a:buFont typeface="Arial" panose="020B0604020202020204" pitchFamily="34" charset="0"/>
              <a:buChar char="•"/>
            </a:pPr>
            <a:r>
              <a:rPr lang="en-IN" sz="1600" dirty="0"/>
              <a:t>Evaluate on three metrics: nodes expanded, time taken, solution optimality</a:t>
            </a:r>
          </a:p>
          <a:p>
            <a:pPr marL="285750" lvl="0" indent="-285750">
              <a:buFont typeface="Arial" panose="020B0604020202020204" pitchFamily="34" charset="0"/>
              <a:buChar char="•"/>
            </a:pPr>
            <a:r>
              <a:rPr lang="en-IN" sz="1600" dirty="0"/>
              <a:t>Compute speed-up factor and % reduction in nodes vs. BFS</a:t>
            </a:r>
          </a:p>
          <a:p>
            <a:pPr marL="285750" lvl="0" indent="-285750">
              <a:buFont typeface="Arial" panose="020B0604020202020204" pitchFamily="34" charset="0"/>
              <a:buChar char="•"/>
            </a:pPr>
            <a:r>
              <a:rPr lang="en-IN" sz="1600" dirty="0"/>
              <a:t>Present results as comparison tables and charts</a:t>
            </a:r>
          </a:p>
          <a:p>
            <a:pPr lvl="0"/>
            <a:endParaRPr lang="en-IN" sz="1600" dirty="0"/>
          </a:p>
          <a:p>
            <a:r>
              <a:rPr lang="en-IN" sz="1600" b="1" dirty="0"/>
              <a:t>Prepare Final System / Documentation</a:t>
            </a:r>
            <a:endParaRPr lang="en-IN" sz="1600" dirty="0"/>
          </a:p>
          <a:p>
            <a:pPr marL="285750" lvl="0" indent="-285750">
              <a:buFont typeface="Arial" panose="020B0604020202020204" pitchFamily="34" charset="0"/>
              <a:buChar char="•"/>
            </a:pPr>
            <a:r>
              <a:rPr lang="en-IN" sz="1600" dirty="0"/>
              <a:t>Consolidate codebase into final modular form</a:t>
            </a:r>
          </a:p>
          <a:p>
            <a:pPr marL="285750" lvl="0" indent="-285750">
              <a:buFont typeface="Arial" panose="020B0604020202020204" pitchFamily="34" charset="0"/>
              <a:buChar char="•"/>
            </a:pPr>
            <a:r>
              <a:rPr lang="en-IN" sz="1600" dirty="0"/>
              <a:t>Write setup/usage documentation (README),Prepare final report: problem formulation, methodology, results, conclusion</a:t>
            </a:r>
          </a:p>
          <a:p>
            <a:pPr>
              <a:spcAft>
                <a:spcPts val="1400"/>
              </a:spcAft>
              <a:defRPr sz="2200">
                <a:solidFill>
                  <a:srgbClr val="5F6973"/>
                </a:solidFill>
              </a:defRPr>
            </a:pPr>
            <a:endParaRPr dirty="0"/>
          </a:p>
        </p:txBody>
      </p:sp>
      <p:sp>
        <p:nvSpPr>
          <p:cNvPr id="6" name="TextBox 5"/>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rPr dirty="0"/>
              <a:t>[Department]  |  Project Review – 1  |  [Academic Year]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Conclusion</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17</a:t>
            </a:r>
          </a:p>
        </p:txBody>
      </p:sp>
      <p:sp>
        <p:nvSpPr>
          <p:cNvPr id="5" name="TextBox 4"/>
          <p:cNvSpPr txBox="1"/>
          <p:nvPr/>
        </p:nvSpPr>
        <p:spPr>
          <a:xfrm>
            <a:off x="365269" y="777240"/>
            <a:ext cx="10515600" cy="6001643"/>
          </a:xfrm>
          <a:prstGeom prst="rect">
            <a:avLst/>
          </a:prstGeom>
          <a:noFill/>
        </p:spPr>
        <p:txBody>
          <a:bodyPr wrap="square">
            <a:spAutoFit/>
          </a:bodyPr>
          <a:lstStyle/>
          <a:p>
            <a:r>
              <a:rPr lang="en-IN" b="1" dirty="0"/>
              <a:t>Brief Summary of the Project</a:t>
            </a:r>
          </a:p>
          <a:p>
            <a:r>
              <a:rPr lang="en-IN" dirty="0"/>
              <a:t>This project implements an AI-based Sokoban puzzle solver that models each puzzle as a search problem over player and box positions, and solves it using classical search algorithms. The system includes an interactive graphical interface built with Pygame, allowing a user to play manually, request AI hints:</a:t>
            </a:r>
          </a:p>
          <a:p>
            <a:endParaRPr lang="en-IN" dirty="0"/>
          </a:p>
          <a:p>
            <a:pPr marL="285750" lvl="0" indent="-285750">
              <a:buFont typeface="Arial" panose="020B0604020202020204" pitchFamily="34" charset="0"/>
              <a:buChar char="•"/>
            </a:pPr>
            <a:r>
              <a:rPr lang="en-IN" dirty="0"/>
              <a:t>AI-based Sokoban solver modeling the puzzle as a search problem over player/box positions</a:t>
            </a:r>
          </a:p>
          <a:p>
            <a:pPr marL="285750" lvl="0" indent="-285750">
              <a:buFont typeface="Arial" panose="020B0604020202020204" pitchFamily="34" charset="0"/>
              <a:buChar char="•"/>
            </a:pPr>
            <a:r>
              <a:rPr lang="en-IN" dirty="0"/>
              <a:t>Solved using classical search algorithms (BFS, A*, A*+Deadlock)</a:t>
            </a:r>
          </a:p>
          <a:p>
            <a:pPr marL="285750" lvl="0" indent="-285750">
              <a:buFont typeface="Arial" panose="020B0604020202020204" pitchFamily="34" charset="0"/>
              <a:buChar char="•"/>
            </a:pPr>
            <a:r>
              <a:rPr lang="en-IN" dirty="0"/>
              <a:t>Interactive Pygame GUI: manual play, AI hints, auto-solve, and algorithm comparison</a:t>
            </a:r>
          </a:p>
          <a:p>
            <a:pPr lvl="0"/>
            <a:endParaRPr lang="en-IN" dirty="0"/>
          </a:p>
          <a:p>
            <a:r>
              <a:rPr lang="en-IN" b="1" dirty="0"/>
              <a:t>Key Contribution / Novelty</a:t>
            </a:r>
            <a:endParaRPr lang="en-IN" dirty="0"/>
          </a:p>
          <a:p>
            <a:pPr marL="285750" lvl="0" indent="-285750">
              <a:buFont typeface="Arial" panose="020B0604020202020204" pitchFamily="34" charset="0"/>
              <a:buChar char="•"/>
            </a:pPr>
            <a:r>
              <a:rPr lang="en-IN" dirty="0"/>
              <a:t>Side-by-side comparison of BFS, A*, and A*+Deadlock on identical puzzle instances</a:t>
            </a:r>
          </a:p>
          <a:p>
            <a:pPr marL="285750" lvl="0" indent="-285750">
              <a:buFont typeface="Arial" panose="020B0604020202020204" pitchFamily="34" charset="0"/>
              <a:buChar char="•"/>
            </a:pPr>
            <a:r>
              <a:rPr lang="en-IN" dirty="0"/>
              <a:t>Deadlock detection layer (corner + wall-line rules) prunes unsolvable states before they're explored</a:t>
            </a:r>
          </a:p>
          <a:p>
            <a:pPr marL="285750" lvl="0" indent="-285750">
              <a:buFont typeface="Arial" panose="020B0604020202020204" pitchFamily="34" charset="0"/>
              <a:buChar char="•"/>
            </a:pPr>
            <a:r>
              <a:rPr lang="en-IN" dirty="0"/>
              <a:t>Shows how domain knowledge improves search efficiency without sacrificing optimality</a:t>
            </a:r>
          </a:p>
          <a:p>
            <a:pPr marL="285750" lvl="0" indent="-285750">
              <a:buFont typeface="Arial" panose="020B0604020202020204" pitchFamily="34" charset="0"/>
              <a:buChar char="•"/>
            </a:pPr>
            <a:r>
              <a:rPr lang="en-IN" dirty="0"/>
              <a:t>Clean 5-module architecture — algorithms fully decoupled from and reusable without the GUI</a:t>
            </a:r>
          </a:p>
          <a:p>
            <a:pPr lvl="0"/>
            <a:endParaRPr lang="en-IN" dirty="0"/>
          </a:p>
          <a:p>
            <a:r>
              <a:rPr lang="en-IN" b="1" dirty="0"/>
              <a:t>Expected Outcome and Significance</a:t>
            </a:r>
            <a:endParaRPr lang="en-IN" dirty="0"/>
          </a:p>
          <a:p>
            <a:pPr marL="285750" lvl="0" indent="-285750">
              <a:buFont typeface="Arial" panose="020B0604020202020204" pitchFamily="34" charset="0"/>
              <a:buChar char="•"/>
            </a:pPr>
            <a:r>
              <a:rPr lang="en-IN" dirty="0"/>
              <a:t>A working system where efficiency gains of smarter search are directly visible and measurable</a:t>
            </a:r>
          </a:p>
          <a:p>
            <a:pPr marL="285750" lvl="0" indent="-285750">
              <a:buFont typeface="Arial" panose="020B0604020202020204" pitchFamily="34" charset="0"/>
              <a:buChar char="•"/>
            </a:pPr>
            <a:r>
              <a:rPr lang="en-IN" dirty="0"/>
              <a:t>Results shown both numerically (benchmark tables) and interactively (in-game comparison panel)</a:t>
            </a:r>
          </a:p>
          <a:p>
            <a:pPr marL="285750" lvl="0" indent="-285750">
              <a:buFont typeface="Arial" panose="020B0604020202020204" pitchFamily="34" charset="0"/>
              <a:buChar char="•"/>
            </a:pPr>
            <a:r>
              <a:rPr lang="en-IN" dirty="0"/>
              <a:t>Demonstrates core AI concepts — state-space search, heuristic design, knowledge-based pruning</a:t>
            </a:r>
          </a:p>
          <a:p>
            <a:pPr marL="285750" lvl="0" indent="-285750">
              <a:buFont typeface="Arial" panose="020B0604020202020204" pitchFamily="34" charset="0"/>
              <a:buChar char="•"/>
            </a:pPr>
            <a:r>
              <a:rPr lang="en-IN" dirty="0"/>
              <a:t>Illustrates how classical AI search scales from toy examples to real combinatorial puzzles</a:t>
            </a:r>
          </a:p>
          <a:p>
            <a:pPr>
              <a:spcAft>
                <a:spcPts val="1400"/>
              </a:spcAft>
              <a:defRPr sz="2400">
                <a:solidFill>
                  <a:srgbClr val="5F6973"/>
                </a:solidFill>
              </a:defRPr>
            </a:pPr>
            <a:endParaRPr dirty="0"/>
          </a:p>
        </p:txBody>
      </p:sp>
      <p:sp>
        <p:nvSpPr>
          <p:cNvPr id="6" name="TextBox 5"/>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  Project Review – 1  |  [Academic Year]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18872"/>
            <a:ext cx="10698480" cy="384048"/>
          </a:xfrm>
          <a:prstGeom prst="rect">
            <a:avLst/>
          </a:prstGeom>
          <a:noFill/>
        </p:spPr>
        <p:txBody>
          <a:bodyPr wrap="none">
            <a:spAutoFit/>
          </a:bodyPr>
          <a:lstStyle/>
          <a:p>
            <a:pPr>
              <a:defRPr sz="2500" b="1">
                <a:solidFill>
                  <a:srgbClr val="FFFFFF"/>
                </a:solidFill>
              </a:defRPr>
            </a:pPr>
            <a:r>
              <a:t>References</a:t>
            </a:r>
          </a:p>
        </p:txBody>
      </p:sp>
      <p:sp>
        <p:nvSpPr>
          <p:cNvPr id="4" name="TextBox 3"/>
          <p:cNvSpPr txBox="1"/>
          <p:nvPr/>
        </p:nvSpPr>
        <p:spPr>
          <a:xfrm>
            <a:off x="11292840" y="137160"/>
            <a:ext cx="457200" cy="320040"/>
          </a:xfrm>
          <a:prstGeom prst="rect">
            <a:avLst/>
          </a:prstGeom>
          <a:noFill/>
        </p:spPr>
        <p:txBody>
          <a:bodyPr wrap="none">
            <a:spAutoFit/>
          </a:bodyPr>
          <a:lstStyle/>
          <a:p>
            <a:pPr algn="r">
              <a:defRPr sz="1500">
                <a:solidFill>
                  <a:srgbClr val="FFFFFF"/>
                </a:solidFill>
              </a:defRPr>
            </a:pPr>
            <a:r>
              <a:t>18</a:t>
            </a:r>
          </a:p>
        </p:txBody>
      </p:sp>
      <p:sp>
        <p:nvSpPr>
          <p:cNvPr id="5" name="TextBox 4"/>
          <p:cNvSpPr txBox="1"/>
          <p:nvPr/>
        </p:nvSpPr>
        <p:spPr>
          <a:xfrm>
            <a:off x="731520" y="1143000"/>
            <a:ext cx="10515600" cy="3154710"/>
          </a:xfrm>
          <a:prstGeom prst="rect">
            <a:avLst/>
          </a:prstGeom>
          <a:noFill/>
        </p:spPr>
        <p:txBody>
          <a:bodyPr wrap="square">
            <a:spAutoFit/>
          </a:bodyPr>
          <a:lstStyle/>
          <a:p>
            <a:r>
              <a:rPr lang="en-IN" dirty="0"/>
              <a:t>[1] A. Junghanns and J. Schaeffer, "Sokoban: A Challenging Single-Agent Search Problem," in </a:t>
            </a:r>
            <a:r>
              <a:rPr lang="en-IN" i="1" dirty="0"/>
              <a:t>Proc. IJCAI Workshop on Using Games as an Experimental Testbed for AI Research</a:t>
            </a:r>
            <a:r>
              <a:rPr lang="en-IN" dirty="0"/>
              <a:t>, 1997.</a:t>
            </a:r>
          </a:p>
          <a:p>
            <a:endParaRPr lang="en-IN" dirty="0"/>
          </a:p>
          <a:p>
            <a:r>
              <a:rPr lang="en-IN" dirty="0"/>
              <a:t>[2] L. Rei and R. Teixeira, "Willy: A Sokoban Solving Agent," Technical Report / Academic Project, Faculdade de Engenharia da Universidade do Porto (FEUP), 2010.</a:t>
            </a:r>
          </a:p>
          <a:p>
            <a:endParaRPr lang="en-IN" dirty="0"/>
          </a:p>
          <a:p>
            <a:r>
              <a:rPr lang="en-IN" dirty="0"/>
              <a:t>[3] [First name initial. Surname] Peters, "[Thesis title]," Bachelor's Thesis, [University], 2023.</a:t>
            </a:r>
          </a:p>
          <a:p>
            <a:endParaRPr lang="en-IN" dirty="0"/>
          </a:p>
          <a:p>
            <a:r>
              <a:rPr lang="en-IN" dirty="0"/>
              <a:t>[4] J. Culberson, "Sokoban is PSPACE-Complete," Technical Report TR 97-02, Dept. of Computing Science, University of Alberta, 1997.</a:t>
            </a:r>
          </a:p>
          <a:p>
            <a:pPr>
              <a:spcAft>
                <a:spcPts val="1400"/>
              </a:spcAft>
              <a:defRPr sz="1900">
                <a:solidFill>
                  <a:srgbClr val="5F6973"/>
                </a:solidFill>
              </a:defRPr>
            </a:pPr>
            <a:endParaRPr dirty="0"/>
          </a:p>
        </p:txBody>
      </p:sp>
      <p:sp>
        <p:nvSpPr>
          <p:cNvPr id="6" name="TextBox 5"/>
          <p:cNvSpPr txBox="1"/>
          <p:nvPr/>
        </p:nvSpPr>
        <p:spPr>
          <a:xfrm>
            <a:off x="502920" y="6473952"/>
            <a:ext cx="11155680" cy="201168"/>
          </a:xfrm>
          <a:prstGeom prst="rect">
            <a:avLst/>
          </a:prstGeom>
          <a:noFill/>
        </p:spPr>
        <p:txBody>
          <a:bodyPr wrap="none">
            <a:spAutoFit/>
          </a:bodyPr>
          <a:lstStyle/>
          <a:p>
            <a:pPr>
              <a:defRPr sz="900">
                <a:solidFill>
                  <a:srgbClr val="5F6973"/>
                </a:solidFill>
              </a:defRPr>
            </a:pPr>
            <a:r>
              <a:t>[Department]  |  Project Review – 1  |  [Academic Year]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TotalTime>
  <Words>2469</Words>
  <Application>Microsoft Office PowerPoint</Application>
  <PresentationFormat>Widescreen</PresentationFormat>
  <Paragraphs>245</Paragraphs>
  <Slides>18</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18</vt:i4>
      </vt:variant>
    </vt:vector>
  </HeadingPairs>
  <TitlesOfParts>
    <vt:vector size="24" baseType="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HP</dc:creator>
  <cp:keywords/>
  <dc:description>generated using python-pptx</dc:description>
  <cp:lastModifiedBy>mani ithi</cp:lastModifiedBy>
  <cp:revision>12</cp:revision>
  <dcterms:created xsi:type="dcterms:W3CDTF">2013-01-27T09:14:16Z</dcterms:created>
  <dcterms:modified xsi:type="dcterms:W3CDTF">2026-09-24T16:03:33Z</dcterms:modified>
  <cp:category/>
</cp:coreProperties>
</file>